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6"/>
  </p:notesMasterIdLst>
  <p:sldIdLst>
    <p:sldId id="1218" r:id="rId2"/>
    <p:sldId id="1232" r:id="rId3"/>
    <p:sldId id="1234" r:id="rId4"/>
    <p:sldId id="1219" r:id="rId5"/>
    <p:sldId id="1241" r:id="rId6"/>
    <p:sldId id="1221" r:id="rId7"/>
    <p:sldId id="1223" r:id="rId8"/>
    <p:sldId id="1264" r:id="rId9"/>
    <p:sldId id="1260" r:id="rId10"/>
    <p:sldId id="1250" r:id="rId11"/>
    <p:sldId id="1249" r:id="rId12"/>
    <p:sldId id="1296" r:id="rId13"/>
    <p:sldId id="1256" r:id="rId14"/>
    <p:sldId id="1265" r:id="rId15"/>
    <p:sldId id="1266" r:id="rId16"/>
    <p:sldId id="1267" r:id="rId17"/>
    <p:sldId id="1268" r:id="rId18"/>
    <p:sldId id="1269" r:id="rId19"/>
    <p:sldId id="1290" r:id="rId20"/>
    <p:sldId id="1270" r:id="rId21"/>
    <p:sldId id="1271" r:id="rId22"/>
    <p:sldId id="1272" r:id="rId23"/>
    <p:sldId id="1273" r:id="rId24"/>
    <p:sldId id="1274" r:id="rId25"/>
    <p:sldId id="1275" r:id="rId26"/>
    <p:sldId id="1276" r:id="rId27"/>
    <p:sldId id="1277" r:id="rId28"/>
    <p:sldId id="1278" r:id="rId29"/>
    <p:sldId id="1279" r:id="rId30"/>
    <p:sldId id="1280" r:id="rId31"/>
    <p:sldId id="1281" r:id="rId32"/>
    <p:sldId id="1282" r:id="rId33"/>
    <p:sldId id="1283" r:id="rId34"/>
    <p:sldId id="1284" r:id="rId35"/>
    <p:sldId id="1285" r:id="rId36"/>
    <p:sldId id="1287" r:id="rId37"/>
    <p:sldId id="1288" r:id="rId38"/>
    <p:sldId id="1289" r:id="rId39"/>
    <p:sldId id="1295" r:id="rId40"/>
    <p:sldId id="1286" r:id="rId41"/>
    <p:sldId id="1291" r:id="rId42"/>
    <p:sldId id="1246" r:id="rId43"/>
    <p:sldId id="1248" r:id="rId44"/>
    <p:sldId id="1238" r:id="rId4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DB6"/>
    <a:srgbClr val="595959"/>
    <a:srgbClr val="003262"/>
    <a:srgbClr val="FCB415"/>
    <a:srgbClr val="004C97"/>
    <a:srgbClr val="ED30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679" autoAdjust="0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123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09580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0104D5-3193-A75C-F78B-51164C903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11DA64-B3EE-83F3-3503-A3354F6AF0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FF29B5-1A73-A81F-E72F-69BFF4DC3F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024945-AA66-103C-C0D4-8427FCF0B5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9244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29D11-579B-50A0-AA2E-181CF3E25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BAE6E1-882E-3137-2E21-C1E8B1CE1F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AC3E00-0B82-B4EF-35AE-69B11DFA5E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E14619-A4CF-0142-D4C5-590F4FFE9E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5761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81D92-7365-E1F3-D9B7-7EA66DA14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7A8D9F-1984-77BA-4D20-0554ACD6E5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305B30-1AC1-3F8D-5346-DEFB0CDF0E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FC99D6-3479-7010-D692-80101248BA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7769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C1EF4B-1372-E852-627D-38B1D6217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EB81BA-89D9-95C7-E9BC-5273A3DDF3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5BB3C7-D83E-7926-6D0C-E29529EAC6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110A6C-CD4A-6627-33B5-2C0B377A6E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0655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ABE79-58F3-8A14-9979-D239E0461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A46A04-FE56-6E56-FE15-9EA092CDAA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1EC72A-6480-FF7D-5B32-3D6602B37F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C05802-6EA1-E2DF-A134-9EF1E92BE4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1924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75963-F95D-AB6F-A277-CC686F9BD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B3ED82-3523-3145-DBEB-0514112DD4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2FA0B9-467A-A38F-8E07-67D3C60C2D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6CFED8-B0AD-31F8-3277-1E1E51DCE3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4967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14124-7776-327F-9F6F-046B1E352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5E00CA-FE44-ECB7-F33E-E93651931C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2578BE-3033-7CB2-1DCB-8B661E3C49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65A500-61DA-D34A-9EF2-F1BE66941B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608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9D80F-6405-D091-8F29-DF553294C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F8BE0B-F97E-55C2-8BBB-A4B1D80C73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D4C83B-53A8-A4D2-BE20-1FA3E84FB8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ABC747-CF6D-C76A-3F3D-F05370D330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1057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8B990-AC72-A293-5F1E-C7FE9EF57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CF3CDC-B5B8-9912-3010-E64CACE178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0A79CE-BAEB-F8BB-568D-F8BB76DEC6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F6F1DF-B889-CB7E-FCCD-03636DAB5F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5937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17D46-27CC-AC7B-FCA3-852AFCD1C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DE9961-8C56-1604-49E8-3BF1DA85FB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BD9D83-2ACA-B048-62D2-27BF931BD2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01293B-B367-E673-E1BF-29A5D4A823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9893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23422B-54FA-EBDB-2819-7DAEB8969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ACF1BF-8BB2-8FE9-4C7A-A70EAAB24C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A04796-4435-8A57-BFFF-B2ABB50D29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90EFBC-7373-A4C5-FA26-85B6BCAB41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2181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42D2A-5910-10B9-4ECD-29994DC92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D3F5E3-F2AC-8E29-0720-E5CF17FDBE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703030-C758-BEAB-17DE-1CF5E44D42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692242-055A-748C-67B6-E4515E2186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0473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94CD4-7E26-BEA0-5D2C-3154E1961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988195-7231-1EE4-8A32-24AF1B014B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70FC27-363E-E471-6463-40BB93CEF4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27327E-5351-1A37-5546-E8C19E8D2A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7136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467BA-9124-B83D-34B8-E22F23221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9CAA0C-AC87-4F08-DEB1-0225EF35C1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14882A-FD48-7CF1-953C-D46E43380A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B13663-E2D6-DF39-1527-FA8BAD2926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60361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A8EBE-6F58-C7D1-32F6-55C4B43F5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94DF00-E6A9-34CD-A736-ED85A1F31F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5545B6-0837-9282-F032-BB4DE64413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2ADDC6-FBC2-85EB-41FB-2CCCB58031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40981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ABC68-3EC4-E86C-E04C-90E749564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887F19-C4B7-9FEA-327C-E843A61551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29F7F6-BC3E-1E28-7948-D81E1EE84E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38E735-58D2-8DBA-FE9E-523E6A457C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87993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8F142-111D-5D6E-7503-B188F366C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F944EE-7D5D-8DF7-421F-1A68B960E0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B7A232-E918-166E-4600-C3B9DCE816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76F218-DC6E-19E4-87E9-CFA0348B45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11750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B8615-F006-1398-FDA6-B9E9F0FBE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9EFD1E-D358-64ED-B829-0203FF67A9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5A3909-4ECB-BD46-0241-2E7D216009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8BD4A1-BC97-C01F-E9DD-C4000D0770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2731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F2953-8DF9-D12A-189A-8230DB6B1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E0276D-C777-0E7D-61B6-49CED72D0B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74D491-849C-E516-EC8E-7DB2BD3F24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B9DD9A-A3F9-8FDB-9D5B-655C23C6C6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7238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494CE8-21FA-4BF6-BCCC-7BC01C6BD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ABE00B-5CBA-F6EC-163F-E65C295FF4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D95AC4-4502-D6AF-8454-CD6E7B1E83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CFBE54-263B-2B70-B27E-B5A2D86010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92321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72456-72D9-518B-8D4E-41587E10C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B19A91-89D3-418E-DCE4-D2B9716C59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C61C83-E32A-4D22-3C99-E5FDC0C040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891779-14CE-BFE7-E1C6-9325BFE564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67226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A91BCC-B3F1-907E-5970-D8B9C01DD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06AC1C-055C-78B6-AD60-EDFB1C7BE1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2B7269-8E4D-43EE-6C0D-E45979E0C7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B582FC-277D-949F-FF4D-001DE2976B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08610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83A2B-AD92-4C70-F073-AFD2441EE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55B575-2348-9AE2-4389-09551C30F2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53489C-06F4-7525-E829-2E25D33BC6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0F27F8-97FC-3B33-4CB1-730B7714F3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15381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F5D5C-C55C-AE1B-01F7-3783F9F39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5F384C-11B4-C302-AA70-98A748ECEE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7B1849-61DB-A179-D02B-9383A8AAF6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E6B89E-AD00-6CAD-E3C6-AD69B79E2D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33942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49ED43-3FE7-0FA6-2F23-A79E9FDA4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6411D5-A96E-6211-8331-742988AE9C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10EC32-E8F5-3B4F-93C2-6CB71E9FC6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CBF75F-4D64-2977-DBEB-F96DF0908B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54535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379FA-8ED3-A0D8-5844-90B7F8865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1C652B-D116-3B6C-1654-7799231BA3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4080DA-5256-DB09-8D93-1ACA20A0D8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2A5613-C420-3BDF-7D29-3D5DF36661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98289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77130-0E53-E829-C54A-50813B675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E25825-CA0A-20B3-EA9C-6404BE7C1B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99AE84-BE25-EAFD-ED45-4DF6102F88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A28977-E03C-54A7-82A1-F375DDAA61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86836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14274-64A9-FAB9-603D-432A8DF13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AEC27F-4CBD-D9B7-EBBF-5912E6532B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D56E9E-F7AB-725B-8670-93B09E3D85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47B9E8-F9B0-59E3-11FF-8FB0CFF337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42510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Headline database counts (19 / 435 / 209 / 433) are provisional production values from the current-law legal snapshot. They will be refreshed once the analytical dataset is frozen. Each figure sits in its own named text box (COUNT_countries, COUNT_assigned_instruments, COUNT_earmarked_instruments, COUNT_allocation_channels) so the numbers can be updated without touching the layout.</a:t>
            </a:r>
          </a:p>
          <a:p>
            <a:r>
              <a:rPr lang="en-US" dirty="0"/>
              <a:t>435 revenue instruments carry at least one statutory assignment; only 209 of those are partially or exclusively earmarked. Assignment is not earmarking. The 433 figure counts allocation channels, not instruments. The pooled prevalence result (N/D) is held back for the results section.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672299" y="904240"/>
            <a:ext cx="5486400" cy="2286000"/>
          </a:xfrm>
        </p:spPr>
        <p:txBody>
          <a:bodyPr anchor="b" anchorCtr="0">
            <a:normAutofit/>
          </a:bodyPr>
          <a:lstStyle>
            <a:lvl1pPr algn="l">
              <a:lnSpc>
                <a:spcPct val="90000"/>
              </a:lnSpc>
              <a:defRPr sz="3999" b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Presentation Title Presentation Title 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760720" y="3982719"/>
            <a:ext cx="5486400" cy="1188720"/>
          </a:xfrm>
        </p:spPr>
        <p:txBody>
          <a:bodyPr anchor="t" anchorCtr="0">
            <a:normAutofit/>
          </a:bodyPr>
          <a:lstStyle>
            <a:lvl1pPr marL="0" indent="0" algn="l">
              <a:spcBef>
                <a:spcPts val="0"/>
              </a:spcBef>
              <a:buNone/>
              <a:defRPr sz="2400" b="0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109" indent="0" algn="ctr">
              <a:buNone/>
              <a:defRPr sz="2000"/>
            </a:lvl2pPr>
            <a:lvl3pPr marL="914217" indent="0" algn="ctr">
              <a:buNone/>
              <a:defRPr sz="1800"/>
            </a:lvl3pPr>
            <a:lvl4pPr marL="1371326" indent="0" algn="ctr">
              <a:buNone/>
              <a:defRPr sz="1600"/>
            </a:lvl4pPr>
            <a:lvl5pPr marL="1828434" indent="0" algn="ctr">
              <a:buNone/>
              <a:defRPr sz="1600"/>
            </a:lvl5pPr>
            <a:lvl6pPr marL="2285543" indent="0" algn="ctr">
              <a:buNone/>
              <a:defRPr sz="1600"/>
            </a:lvl6pPr>
            <a:lvl7pPr marL="2742651" indent="0" algn="ctr">
              <a:buNone/>
              <a:defRPr sz="1600"/>
            </a:lvl7pPr>
            <a:lvl8pPr marL="3199760" indent="0" algn="ctr">
              <a:buNone/>
              <a:defRPr sz="1600"/>
            </a:lvl8pPr>
            <a:lvl9pPr marL="3656868" indent="0" algn="ctr">
              <a:buNone/>
              <a:defRPr sz="1600"/>
            </a:lvl9pPr>
          </a:lstStyle>
          <a:p>
            <a:r>
              <a:rPr lang="en-US" dirty="0"/>
              <a:t>Speaker Name</a:t>
            </a:r>
          </a:p>
          <a:p>
            <a:r>
              <a:rPr lang="en-US" dirty="0"/>
              <a:t>Division/Title/Affiliation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6CE99E-569B-9EF8-3E2C-E9703F1089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37501" y="6979921"/>
            <a:ext cx="2768600" cy="271337"/>
          </a:xfrm>
        </p:spPr>
        <p:txBody>
          <a:bodyPr/>
          <a:lstStyle>
            <a:lvl1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84456C54-E228-4839-A22E-1D1F38057B92}" type="datetime1">
              <a:rPr lang="en-US" smtClean="0"/>
              <a:pPr/>
              <a:t>8/26/2026</a:t>
            </a:fld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944FA7-AAA6-D86F-6147-BF737C629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1500" y="6979921"/>
            <a:ext cx="7366000" cy="271337"/>
          </a:xfrm>
        </p:spPr>
        <p:txBody>
          <a:bodyPr/>
          <a:lstStyle>
            <a:lvl1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INTERNATIONAL MONETARY FUND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B96B87-E1F8-B928-94D1-10C1C20F9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06100" y="6979921"/>
            <a:ext cx="914400" cy="271337"/>
          </a:xfrm>
        </p:spPr>
        <p:txBody>
          <a:bodyPr/>
          <a:lstStyle>
            <a:lvl1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E32394A6-AED1-4B79-B4B6-933D748A7F18}" type="slidenum">
              <a:rPr lang="en-US" smtClean="0"/>
              <a:pPr/>
              <a:t>‹N°›</a:t>
            </a:fld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0CDB441-3DA9-BA2C-7D4D-6EFDACA8283B}"/>
              </a:ext>
            </a:extLst>
          </p:cNvPr>
          <p:cNvSpPr/>
          <p:nvPr userDrawn="1"/>
        </p:nvSpPr>
        <p:spPr>
          <a:xfrm>
            <a:off x="11938958" y="-2"/>
            <a:ext cx="253042" cy="6858002"/>
          </a:xfrm>
          <a:prstGeom prst="rect">
            <a:avLst/>
          </a:prstGeom>
          <a:solidFill>
            <a:srgbClr val="0032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599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CC8B527-D0A8-1709-6941-FAC5113654BE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34973" y="4973320"/>
            <a:ext cx="1610360" cy="1610360"/>
          </a:xfrm>
          <a:prstGeom prst="rect">
            <a:avLst/>
          </a:prstGeom>
        </p:spPr>
      </p:pic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65E8C950-AA8A-17E8-5C62-DBA25697F3F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892040" cy="6858001"/>
          </a:xfrm>
          <a:solidFill>
            <a:schemeClr val="tx2"/>
          </a:solidFill>
        </p:spPr>
        <p:txBody>
          <a:bodyPr tIns="914400" anchor="ctr" anchorCtr="0">
            <a:normAutofit/>
          </a:bodyPr>
          <a:lstStyle>
            <a:lvl1pPr algn="ctr">
              <a:defRPr sz="2000">
                <a:solidFill>
                  <a:schemeClr val="tx2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38625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84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37D855-5871-3A16-378B-EE45187EDF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72023" y="1078992"/>
            <a:ext cx="5897880" cy="2011680"/>
          </a:xfrm>
        </p:spPr>
        <p:txBody>
          <a:bodyPr wrap="square"/>
          <a:lstStyle/>
          <a:p>
            <a:pPr algn="l">
              <a:lnSpc>
                <a:spcPts val="4096"/>
              </a:lnSpc>
              <a:buNone/>
            </a:pPr>
            <a:r>
              <a:rPr lang="en-US" sz="3200" b="1" i="0" noProof="0" dirty="0">
                <a:solidFill>
                  <a:srgbClr val="003262"/>
                </a:solidFill>
                <a:latin typeface="Segoe UI"/>
                <a:ea typeface="Segoe UI"/>
                <a:cs typeface="Segoe UI"/>
              </a:rPr>
              <a:t>On the Pros and Cons</a:t>
            </a:r>
          </a:p>
          <a:p>
            <a:pPr algn="l">
              <a:lnSpc>
                <a:spcPts val="4096"/>
              </a:lnSpc>
              <a:buNone/>
            </a:pPr>
            <a:r>
              <a:rPr lang="en-US" sz="3200" b="1" i="0" noProof="0" dirty="0">
                <a:solidFill>
                  <a:srgbClr val="003262"/>
                </a:solidFill>
                <a:latin typeface="Segoe UI"/>
                <a:ea typeface="Segoe UI"/>
                <a:cs typeface="Segoe UI"/>
              </a:rPr>
              <a:t>of Earmarking Taxes</a:t>
            </a:r>
          </a:p>
          <a:p>
            <a:pPr algn="l">
              <a:lnSpc>
                <a:spcPts val="4096"/>
              </a:lnSpc>
              <a:buNone/>
            </a:pPr>
            <a:r>
              <a:rPr lang="en-US" sz="3200" b="1" i="0" noProof="0" dirty="0">
                <a:solidFill>
                  <a:srgbClr val="003262"/>
                </a:solidFill>
                <a:latin typeface="Segoe UI"/>
                <a:ea typeface="Segoe UI"/>
                <a:cs typeface="Segoe UI"/>
              </a:rPr>
              <a:t>in Sub-Saharan Africa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92BBA08-4E21-7831-96A9-F25D3CCB46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72023" y="3310128"/>
            <a:ext cx="5897880" cy="1920240"/>
          </a:xfrm>
        </p:spPr>
        <p:txBody>
          <a:bodyPr wrap="square"/>
          <a:lstStyle/>
          <a:p>
            <a:pPr algn="l">
              <a:lnSpc>
                <a:spcPts val="2304"/>
              </a:lnSpc>
              <a:buNone/>
            </a:pPr>
            <a:r>
              <a:rPr lang="en-US" sz="1800" b="0" i="0" noProof="0" dirty="0">
                <a:solidFill>
                  <a:srgbClr val="4A5560"/>
                </a:solidFill>
                <a:latin typeface="Segoe UI"/>
                <a:ea typeface="Segoe UI"/>
                <a:cs typeface="Segoe UI"/>
              </a:rPr>
              <a:t>A new de jure inventory of statutory revenue assignments across 19 countries</a:t>
            </a:r>
          </a:p>
          <a:p>
            <a:pPr algn="l">
              <a:lnSpc>
                <a:spcPts val="1280"/>
              </a:lnSpc>
            </a:pPr>
            <a:endParaRPr lang="en-US" sz="1800" b="0" i="0" noProof="0" dirty="0">
              <a:solidFill>
                <a:srgbClr val="4A5560"/>
              </a:solidFill>
              <a:latin typeface="Segoe UI"/>
              <a:ea typeface="Segoe UI"/>
              <a:cs typeface="Segoe UI"/>
            </a:endParaRPr>
          </a:p>
          <a:p>
            <a:pPr algn="l">
              <a:lnSpc>
                <a:spcPts val="2304"/>
              </a:lnSpc>
              <a:buNone/>
            </a:pPr>
            <a:r>
              <a:rPr lang="en-US" sz="1800" b="0" i="0" noProof="0" dirty="0">
                <a:solidFill>
                  <a:srgbClr val="003262"/>
                </a:solidFill>
                <a:latin typeface="Segoe UI Semibold"/>
                <a:ea typeface="Segoe UI Semibold"/>
                <a:cs typeface="Segoe UI Semibold"/>
              </a:rPr>
              <a:t>Alexandra Amani</a:t>
            </a:r>
          </a:p>
          <a:p>
            <a:pPr algn="l">
              <a:lnSpc>
                <a:spcPts val="1792"/>
              </a:lnSpc>
              <a:buNone/>
            </a:pPr>
            <a:r>
              <a:rPr lang="en-US" sz="1400" b="0" i="0" noProof="0" dirty="0">
                <a:solidFill>
                  <a:srgbClr val="6E7B8B"/>
                </a:solidFill>
                <a:latin typeface="Segoe UI"/>
                <a:ea typeface="Segoe UI"/>
                <a:cs typeface="Segoe UI"/>
              </a:rPr>
              <a:t>Fund Internship Program  </a:t>
            </a:r>
            <a:r>
              <a:rPr lang="en-US" sz="1400" noProof="0" dirty="0">
                <a:solidFill>
                  <a:srgbClr val="6E7B8B"/>
                </a:solidFill>
                <a:latin typeface="Segoe UI"/>
                <a:ea typeface="Segoe UI"/>
                <a:cs typeface="Segoe UI"/>
              </a:rPr>
              <a:t>|</a:t>
            </a:r>
            <a:r>
              <a:rPr lang="en-US" sz="1400" b="0" i="0" noProof="0" dirty="0">
                <a:solidFill>
                  <a:srgbClr val="6E7B8B"/>
                </a:solidFill>
                <a:latin typeface="Segoe UI"/>
                <a:ea typeface="Segoe UI"/>
                <a:cs typeface="Segoe UI"/>
              </a:rPr>
              <a:t> African Department</a:t>
            </a:r>
          </a:p>
          <a:p>
            <a:pPr algn="l">
              <a:lnSpc>
                <a:spcPts val="1792"/>
              </a:lnSpc>
              <a:buNone/>
            </a:pPr>
            <a:r>
              <a:rPr lang="en-US" sz="1400" b="0" i="0" noProof="0" dirty="0">
                <a:solidFill>
                  <a:srgbClr val="6E7B8B"/>
                </a:solidFill>
                <a:latin typeface="Segoe UI"/>
                <a:ea typeface="Segoe UI"/>
                <a:cs typeface="Segoe UI"/>
              </a:rPr>
              <a:t>Supervisors: Julien Reynaud </a:t>
            </a:r>
            <a:r>
              <a:rPr lang="en-US" sz="1400" noProof="0" dirty="0">
                <a:solidFill>
                  <a:srgbClr val="6E7B8B"/>
                </a:solidFill>
                <a:latin typeface="Segoe UI"/>
                <a:ea typeface="Segoe UI"/>
                <a:cs typeface="Segoe UI"/>
              </a:rPr>
              <a:t>&amp; </a:t>
            </a:r>
            <a:r>
              <a:rPr lang="en-US" sz="1400" b="0" i="0" noProof="0" dirty="0">
                <a:solidFill>
                  <a:srgbClr val="6E7B8B"/>
                </a:solidFill>
                <a:latin typeface="Segoe UI"/>
                <a:ea typeface="Segoe UI"/>
                <a:cs typeface="Segoe UI"/>
              </a:rPr>
              <a:t>Luc Tucker</a:t>
            </a:r>
          </a:p>
        </p:txBody>
      </p:sp>
      <p:sp>
        <p:nvSpPr>
          <p:cNvPr id="4" name="Espace réservé pour une image  3">
            <a:extLst>
              <a:ext uri="{FF2B5EF4-FFF2-40B4-BE49-F238E27FC236}">
                <a16:creationId xmlns:a16="http://schemas.microsoft.com/office/drawing/2014/main" id="{392E8D1C-EDC5-D6F9-604C-71F88489BCE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 noProof="0" dirty="0"/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712C2B8B-0CE8-1D39-67F7-BD0FB4C308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" b="32"/>
          <a:stretch>
            <a:fillRect/>
          </a:stretch>
        </p:blipFill>
        <p:spPr>
          <a:xfrm>
            <a:off x="0" y="1"/>
            <a:ext cx="4892040" cy="6858001"/>
          </a:xfrm>
          <a:prstGeom prst="rect">
            <a:avLst/>
          </a:prstGeom>
          <a:solidFill>
            <a:srgbClr val="004C97"/>
          </a:solidFill>
        </p:spPr>
      </p:pic>
    </p:spTree>
    <p:extLst>
      <p:ext uri="{BB962C8B-B14F-4D97-AF65-F5344CB8AC3E}">
        <p14:creationId xmlns:p14="http://schemas.microsoft.com/office/powerpoint/2010/main" val="10497483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B43E4-DC11-51E1-3E5C-3747686CF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7691287-630D-0F8E-874E-5EFCB1BEF81C}"/>
              </a:ext>
            </a:extLst>
          </p:cNvPr>
          <p:cNvSpPr/>
          <p:nvPr/>
        </p:nvSpPr>
        <p:spPr>
          <a:xfrm>
            <a:off x="0" y="0"/>
            <a:ext cx="12191695" cy="558284"/>
          </a:xfrm>
          <a:prstGeom prst="rect">
            <a:avLst/>
          </a:prstGeom>
          <a:solidFill>
            <a:srgbClr val="003262"/>
          </a:solidFill>
          <a:ln w="12700">
            <a:solidFill>
              <a:srgbClr val="003262"/>
            </a:solidFill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663452D-3E45-1970-89E3-F0FEC47A52DA}"/>
              </a:ext>
            </a:extLst>
          </p:cNvPr>
          <p:cNvSpPr/>
          <p:nvPr/>
        </p:nvSpPr>
        <p:spPr>
          <a:xfrm>
            <a:off x="0" y="554844"/>
            <a:ext cx="12191695" cy="64008"/>
          </a:xfrm>
          <a:prstGeom prst="rect">
            <a:avLst/>
          </a:prstGeom>
          <a:solidFill>
            <a:srgbClr val="007DB6"/>
          </a:solidFill>
          <a:ln w="12700">
            <a:noFill/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88EA57E-9F6B-6ED4-D275-12A2E9014913}"/>
              </a:ext>
            </a:extLst>
          </p:cNvPr>
          <p:cNvSpPr/>
          <p:nvPr/>
        </p:nvSpPr>
        <p:spPr>
          <a:xfrm>
            <a:off x="0" y="554846"/>
            <a:ext cx="1554480" cy="64008"/>
          </a:xfrm>
          <a:prstGeom prst="rect">
            <a:avLst/>
          </a:prstGeom>
          <a:solidFill>
            <a:srgbClr val="FCB415"/>
          </a:solidFill>
          <a:ln w="12700">
            <a:noFill/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E537424-9B3F-D928-ED8D-D9FBCDA06B48}"/>
              </a:ext>
            </a:extLst>
          </p:cNvPr>
          <p:cNvSpPr/>
          <p:nvPr/>
        </p:nvSpPr>
        <p:spPr>
          <a:xfrm>
            <a:off x="1708893" y="15983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kern="0" spc="120" noProof="0" dirty="0">
                <a:solidFill>
                  <a:srgbClr val="009CDE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Motivation</a:t>
            </a:r>
            <a:endParaRPr lang="en-US" sz="1600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E81B6DA-4FF2-C75E-DEEE-D6ECD1DF328A}"/>
              </a:ext>
            </a:extLst>
          </p:cNvPr>
          <p:cNvSpPr/>
          <p:nvPr/>
        </p:nvSpPr>
        <p:spPr>
          <a:xfrm>
            <a:off x="424707" y="40966"/>
            <a:ext cx="10424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noProof="0" dirty="0">
                <a:solidFill>
                  <a:srgbClr val="FFFFFF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Financing needs are largest in poorer countries and in SSA</a:t>
            </a:r>
            <a:endParaRPr lang="en-US" sz="2400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4" name="Shape 0">
            <a:extLst>
              <a:ext uri="{FF2B5EF4-FFF2-40B4-BE49-F238E27FC236}">
                <a16:creationId xmlns:a16="http://schemas.microsoft.com/office/drawing/2014/main" id="{7BF901E2-773C-4B47-13F4-748A94B5C3B3}"/>
              </a:ext>
            </a:extLst>
          </p:cNvPr>
          <p:cNvSpPr/>
          <p:nvPr/>
        </p:nvSpPr>
        <p:spPr>
          <a:xfrm>
            <a:off x="305" y="6574007"/>
            <a:ext cx="12191695" cy="274321"/>
          </a:xfrm>
          <a:prstGeom prst="rect">
            <a:avLst/>
          </a:prstGeom>
          <a:solidFill>
            <a:srgbClr val="003262"/>
          </a:solidFill>
          <a:ln w="12700">
            <a:solidFill>
              <a:srgbClr val="004C97"/>
            </a:solidFill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C9FBA92-D0B1-8423-E727-E4C4C76576F1}"/>
              </a:ext>
            </a:extLst>
          </p:cNvPr>
          <p:cNvSpPr/>
          <p:nvPr/>
        </p:nvSpPr>
        <p:spPr>
          <a:xfrm>
            <a:off x="285534" y="6573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noProof="0" dirty="0">
                <a:solidFill>
                  <a:schemeClr val="bg1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International Monetary Fund   |   African Department</a:t>
            </a:r>
            <a:endParaRPr lang="en-US" sz="1000" noProof="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6" name="Text 5">
            <a:extLst>
              <a:ext uri="{FF2B5EF4-FFF2-40B4-BE49-F238E27FC236}">
                <a16:creationId xmlns:a16="http://schemas.microsoft.com/office/drawing/2014/main" id="{D3B73092-4CF0-B9A1-69C5-31EAF2258EFE}"/>
              </a:ext>
            </a:extLst>
          </p:cNvPr>
          <p:cNvSpPr/>
          <p:nvPr/>
        </p:nvSpPr>
        <p:spPr>
          <a:xfrm>
            <a:off x="11677574" y="6570277"/>
            <a:ext cx="3257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noProof="0">
                <a:solidFill>
                  <a:srgbClr val="FFFFFF"/>
                </a:solidFill>
                <a:latin typeface="Segoe UI"/>
                <a:cs typeface="Segoe UI"/>
              </a:rPr>
              <a:t>2</a:t>
            </a:r>
            <a:endParaRPr lang="en-US" sz="1200" noProof="0" dirty="0">
              <a:solidFill>
                <a:srgbClr val="FFFFFF"/>
              </a:solidFill>
              <a:latin typeface="Segoe UI"/>
              <a:cs typeface="Segoe UI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B5EE8D4-5CCB-70FB-9C00-8D22920CA078}"/>
              </a:ext>
            </a:extLst>
          </p:cNvPr>
          <p:cNvSpPr txBox="1"/>
          <p:nvPr/>
        </p:nvSpPr>
        <p:spPr>
          <a:xfrm>
            <a:off x="-42407" y="665236"/>
            <a:ext cx="1554480" cy="78370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7680"/>
              </a:lnSpc>
            </a:pPr>
            <a:endParaRPr lang="en-US" sz="3200" b="1" i="0" noProof="0" dirty="0">
              <a:solidFill>
                <a:srgbClr val="FCB415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9CCD3AB-5557-808D-6852-AB81E81725E0}"/>
              </a:ext>
            </a:extLst>
          </p:cNvPr>
          <p:cNvSpPr txBox="1"/>
          <p:nvPr/>
        </p:nvSpPr>
        <p:spPr>
          <a:xfrm>
            <a:off x="2090397" y="1417821"/>
            <a:ext cx="845820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560"/>
              </a:lnSpc>
            </a:pPr>
            <a:endParaRPr lang="en-US" sz="2000" b="0" i="0" noProof="0" dirty="0">
              <a:solidFill>
                <a:srgbClr val="4A5560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C4C2018-4B80-B5A2-2DF2-D860D55DD089}"/>
              </a:ext>
            </a:extLst>
          </p:cNvPr>
          <p:cNvSpPr txBox="1"/>
          <p:nvPr/>
        </p:nvSpPr>
        <p:spPr>
          <a:xfrm>
            <a:off x="424708" y="760306"/>
            <a:ext cx="11334476" cy="505025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50000"/>
              </a:lnSpc>
            </a:pPr>
            <a:r>
              <a:rPr lang="en-US" sz="2000" b="1" noProof="0" dirty="0">
                <a:solidFill>
                  <a:srgbClr val="FCB415"/>
                </a:solidFill>
                <a:latin typeface="Segoe UI"/>
                <a:ea typeface="Segoe UI"/>
                <a:cs typeface="Segoe UI"/>
              </a:rPr>
              <a:t>18.7% </a:t>
            </a:r>
            <a:r>
              <a:rPr lang="en-US" sz="2000" noProof="0" dirty="0">
                <a:solidFill>
                  <a:schemeClr val="bg2">
                    <a:lumMod val="25000"/>
                  </a:schemeClr>
                </a:solidFill>
                <a:latin typeface="Segoe UI"/>
                <a:ea typeface="Segoe UI"/>
                <a:cs typeface="Segoe UI"/>
              </a:rPr>
              <a:t>of GDP </a:t>
            </a:r>
            <a:r>
              <a:rPr lang="en-US" sz="2000" b="0" i="0" noProof="0" dirty="0">
                <a:solidFill>
                  <a:srgbClr val="003262"/>
                </a:solidFill>
                <a:latin typeface="Segoe UI Semibold"/>
                <a:ea typeface="Segoe UI Semibold"/>
                <a:cs typeface="Segoe UI Semibold"/>
              </a:rPr>
              <a:t>additional annual spending needs in IDA countries </a:t>
            </a:r>
            <a:r>
              <a:rPr lang="en-US" sz="2000" noProof="0" dirty="0">
                <a:solidFill>
                  <a:schemeClr val="bg2">
                    <a:lumMod val="10000"/>
                  </a:schemeClr>
                </a:solidFill>
                <a:latin typeface="Segoe UI"/>
                <a:ea typeface="Segoe UI"/>
                <a:cs typeface="Segoe UI"/>
              </a:rPr>
              <a:t>to meet core development needs and address climate risk. Education </a:t>
            </a:r>
            <a:r>
              <a:rPr lang="en-US" sz="2000" noProof="0" dirty="0">
                <a:solidFill>
                  <a:srgbClr val="004C97"/>
                </a:solidFill>
                <a:latin typeface="Segoe UI Semibold"/>
                <a:ea typeface="Segoe UI Semibold"/>
                <a:cs typeface="Segoe UI Semibold"/>
              </a:rPr>
              <a:t>6.0%</a:t>
            </a:r>
            <a:r>
              <a:rPr lang="en-US" sz="2000" noProof="0" dirty="0">
                <a:solidFill>
                  <a:schemeClr val="bg2">
                    <a:lumMod val="25000"/>
                  </a:schemeClr>
                </a:solidFill>
                <a:latin typeface="Segoe UI"/>
                <a:ea typeface="Segoe UI"/>
                <a:cs typeface="Segoe UI"/>
              </a:rPr>
              <a:t>,</a:t>
            </a:r>
            <a:r>
              <a:rPr lang="en-US" sz="2000" noProof="0" dirty="0">
                <a:solidFill>
                  <a:schemeClr val="bg2">
                    <a:lumMod val="10000"/>
                  </a:schemeClr>
                </a:solidFill>
                <a:latin typeface="Segoe UI"/>
                <a:ea typeface="Segoe UI"/>
                <a:cs typeface="Segoe UI"/>
              </a:rPr>
              <a:t> Health </a:t>
            </a:r>
            <a:r>
              <a:rPr lang="en-US" sz="2000" noProof="0" dirty="0">
                <a:solidFill>
                  <a:srgbClr val="004C97"/>
                </a:solidFill>
                <a:latin typeface="Segoe UI Semibold"/>
                <a:ea typeface="Segoe UI Semibold"/>
                <a:cs typeface="Segoe UI Semibold"/>
              </a:rPr>
              <a:t>5.3%</a:t>
            </a:r>
            <a:endParaRPr lang="en-US" sz="2000" noProof="0" dirty="0">
              <a:solidFill>
                <a:srgbClr val="6E7B8B"/>
              </a:solidFill>
              <a:latin typeface="Segoe UI"/>
              <a:ea typeface="Segoe UI"/>
              <a:cs typeface="Segoe UI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noProof="0" dirty="0">
                <a:solidFill>
                  <a:schemeClr val="bg2">
                    <a:lumMod val="10000"/>
                  </a:schemeClr>
                </a:solidFill>
                <a:latin typeface="Segoe UI"/>
                <a:ea typeface="Segoe UI"/>
                <a:cs typeface="Segoe UI"/>
              </a:rPr>
              <a:t>Tax-to-GDP rose </a:t>
            </a:r>
            <a:r>
              <a:rPr lang="en-US" sz="2000" noProof="0" dirty="0">
                <a:solidFill>
                  <a:srgbClr val="004C97"/>
                </a:solidFill>
                <a:latin typeface="Segoe UI Semibold"/>
                <a:cs typeface="Segoe UI Semibold"/>
              </a:rPr>
              <a:t>+3.5 pp </a:t>
            </a:r>
            <a:r>
              <a:rPr lang="en-US" sz="2000" noProof="0" dirty="0">
                <a:solidFill>
                  <a:schemeClr val="bg2">
                    <a:lumMod val="10000"/>
                  </a:schemeClr>
                </a:solidFill>
                <a:latin typeface="Segoe UI"/>
                <a:ea typeface="Segoe UI"/>
                <a:cs typeface="Segoe UI"/>
              </a:rPr>
              <a:t>in LIDCs, </a:t>
            </a:r>
            <a:r>
              <a:rPr lang="en-US" sz="2000" b="1" noProof="0" dirty="0">
                <a:solidFill>
                  <a:srgbClr val="004C97"/>
                </a:solidFill>
                <a:latin typeface="Segoe UI"/>
                <a:ea typeface="Segoe UI"/>
                <a:cs typeface="Segoe UI"/>
              </a:rPr>
              <a:t>+5 pp </a:t>
            </a:r>
            <a:r>
              <a:rPr lang="en-US" sz="2000" noProof="0" dirty="0">
                <a:solidFill>
                  <a:schemeClr val="bg2">
                    <a:lumMod val="10000"/>
                  </a:schemeClr>
                </a:solidFill>
                <a:latin typeface="Segoe UI"/>
                <a:ea typeface="Segoe UI"/>
                <a:cs typeface="Segoe UI"/>
              </a:rPr>
              <a:t>in EMEs since the early 1990s</a:t>
            </a:r>
            <a:r>
              <a:rPr lang="en-US" sz="2000" noProof="0" dirty="0">
                <a:solidFill>
                  <a:schemeClr val="bg2">
                    <a:lumMod val="25000"/>
                  </a:schemeClr>
                </a:solidFill>
                <a:latin typeface="Segoe UI"/>
                <a:cs typeface="Segoe UI"/>
              </a:rPr>
              <a:t>.  </a:t>
            </a:r>
            <a:r>
              <a:rPr lang="en-US" sz="2000" noProof="0" dirty="0">
                <a:solidFill>
                  <a:srgbClr val="00326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Nearly all that gain predates the last decade, no material progress since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noProof="0" dirty="0">
                <a:solidFill>
                  <a:schemeClr val="bg2">
                    <a:lumMod val="10000"/>
                  </a:schemeClr>
                </a:solidFill>
                <a:latin typeface="Segoe UI"/>
                <a:ea typeface="Segoe UI"/>
                <a:cs typeface="Segoe UI"/>
              </a:rPr>
              <a:t>Fragile and conflict-affected states and resource-rich countries collect even less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noProof="0" dirty="0">
                <a:solidFill>
                  <a:schemeClr val="bg2">
                    <a:lumMod val="10000"/>
                  </a:schemeClr>
                </a:solidFill>
                <a:latin typeface="Segoe UI"/>
                <a:ea typeface="Segoe UI"/>
                <a:cs typeface="Segoe UI"/>
              </a:rPr>
              <a:t>FCS: weak institutions, corruption, low transparency depress collection (Mansour and Schneider, 2019)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noProof="0" dirty="0">
                <a:solidFill>
                  <a:schemeClr val="bg2">
                    <a:lumMod val="10000"/>
                  </a:schemeClr>
                </a:solidFill>
                <a:latin typeface="Segoe UI"/>
                <a:ea typeface="Segoe UI"/>
                <a:cs typeface="Segoe UI"/>
              </a:rPr>
              <a:t>Recent DRM reports catalogue obstacles and reform options, but are silent on earmarking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noProof="0" dirty="0">
                <a:solidFill>
                  <a:schemeClr val="bg2">
                    <a:lumMod val="10000"/>
                  </a:schemeClr>
                </a:solidFill>
                <a:latin typeface="Segoe UI"/>
                <a:ea typeface="Segoe UI"/>
                <a:cs typeface="Segoe UI"/>
              </a:rPr>
              <a:t>The standard paradigm reflects first-best recommendations and advanced economies experience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noProof="0" dirty="0">
                <a:solidFill>
                  <a:srgbClr val="003262"/>
                </a:solidFill>
                <a:latin typeface="Segoe UI Semibold" panose="020B0702040204020203" pitchFamily="34" charset="0"/>
                <a:ea typeface="Segoe UI"/>
                <a:cs typeface="Segoe UI Semibold" panose="020B0702040204020203" pitchFamily="34" charset="0"/>
              </a:rPr>
              <a:t>Do SSA conditions change the recommendation?</a:t>
            </a:r>
            <a:endParaRPr lang="en-US" sz="2000" b="0" i="0" noProof="0" dirty="0">
              <a:solidFill>
                <a:srgbClr val="003262"/>
              </a:solidFill>
              <a:latin typeface="Segoe UI Semibold" panose="020B0702040204020203" pitchFamily="34" charset="0"/>
              <a:ea typeface="Segoe UI Semibold"/>
              <a:cs typeface="Segoe UI Semibold" panose="020B0702040204020203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7E8EA52-4231-4883-4E62-65465ACB0174}"/>
              </a:ext>
            </a:extLst>
          </p:cNvPr>
          <p:cNvSpPr txBox="1"/>
          <p:nvPr/>
        </p:nvSpPr>
        <p:spPr>
          <a:xfrm>
            <a:off x="420624" y="3822191"/>
            <a:ext cx="845820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304"/>
              </a:lnSpc>
            </a:pPr>
            <a:endParaRPr lang="en-US" sz="1800" b="0" i="0" noProof="0" dirty="0">
              <a:solidFill>
                <a:srgbClr val="6E7B8B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CD2BB7F-1F66-93B5-8356-815F1B15CC01}"/>
              </a:ext>
            </a:extLst>
          </p:cNvPr>
          <p:cNvSpPr txBox="1"/>
          <p:nvPr/>
        </p:nvSpPr>
        <p:spPr>
          <a:xfrm>
            <a:off x="420624" y="5943600"/>
            <a:ext cx="113385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1280"/>
              </a:lnSpc>
            </a:pPr>
            <a:r>
              <a:rPr lang="en-US" sz="1000" b="0" i="0" noProof="0" dirty="0">
                <a:solidFill>
                  <a:srgbClr val="6E7B8B"/>
                </a:solidFill>
                <a:latin typeface="Segoe UI"/>
                <a:ea typeface="Segoe UI"/>
                <a:cs typeface="Segoe UI"/>
              </a:rPr>
              <a:t>Source: IMF &amp; World Bank (2024), </a:t>
            </a:r>
            <a:r>
              <a:rPr lang="en-US" sz="1000" b="0" i="1" noProof="0" dirty="0">
                <a:solidFill>
                  <a:srgbClr val="6E7B8B"/>
                </a:solidFill>
                <a:latin typeface="Segoe UI"/>
                <a:ea typeface="Segoe UI"/>
                <a:cs typeface="Segoe UI"/>
              </a:rPr>
              <a:t>Stepping Up Domestic Resource Mobilization: A New Joint Initiative from the IMF and World Bank</a:t>
            </a:r>
            <a:r>
              <a:rPr lang="en-US" sz="1000" b="0" i="0" noProof="0" dirty="0">
                <a:solidFill>
                  <a:srgbClr val="6E7B8B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655359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0">
            <a:extLst>
              <a:ext uri="{FF2B5EF4-FFF2-40B4-BE49-F238E27FC236}">
                <a16:creationId xmlns:a16="http://schemas.microsoft.com/office/drawing/2014/main" id="{7149B21A-D17D-2429-0304-779C74579CAD}"/>
              </a:ext>
            </a:extLst>
          </p:cNvPr>
          <p:cNvSpPr/>
          <p:nvPr/>
        </p:nvSpPr>
        <p:spPr>
          <a:xfrm>
            <a:off x="0" y="0"/>
            <a:ext cx="12191695" cy="558284"/>
          </a:xfrm>
          <a:prstGeom prst="rect">
            <a:avLst/>
          </a:prstGeom>
          <a:solidFill>
            <a:srgbClr val="003262"/>
          </a:solidFill>
          <a:ln w="12700">
            <a:solidFill>
              <a:srgbClr val="003262"/>
            </a:solidFill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Shape 1">
            <a:extLst>
              <a:ext uri="{FF2B5EF4-FFF2-40B4-BE49-F238E27FC236}">
                <a16:creationId xmlns:a16="http://schemas.microsoft.com/office/drawing/2014/main" id="{D585AF26-FC6F-8E27-FD29-0DF76393FEB4}"/>
              </a:ext>
            </a:extLst>
          </p:cNvPr>
          <p:cNvSpPr/>
          <p:nvPr/>
        </p:nvSpPr>
        <p:spPr>
          <a:xfrm>
            <a:off x="0" y="554844"/>
            <a:ext cx="12191695" cy="64008"/>
          </a:xfrm>
          <a:prstGeom prst="rect">
            <a:avLst/>
          </a:prstGeom>
          <a:solidFill>
            <a:srgbClr val="007DB6"/>
          </a:solidFill>
          <a:ln w="12700">
            <a:noFill/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Shape 2">
            <a:extLst>
              <a:ext uri="{FF2B5EF4-FFF2-40B4-BE49-F238E27FC236}">
                <a16:creationId xmlns:a16="http://schemas.microsoft.com/office/drawing/2014/main" id="{147A8AC6-009F-5AD7-1D6A-A2F70A2AC7B7}"/>
              </a:ext>
            </a:extLst>
          </p:cNvPr>
          <p:cNvSpPr/>
          <p:nvPr/>
        </p:nvSpPr>
        <p:spPr>
          <a:xfrm>
            <a:off x="0" y="554846"/>
            <a:ext cx="1554480" cy="64008"/>
          </a:xfrm>
          <a:prstGeom prst="rect">
            <a:avLst/>
          </a:prstGeom>
          <a:solidFill>
            <a:srgbClr val="FCB415"/>
          </a:solidFill>
          <a:ln w="12700">
            <a:noFill/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Section label"/>
          <p:cNvSpPr txBox="1"/>
          <p:nvPr/>
        </p:nvSpPr>
        <p:spPr>
          <a:xfrm>
            <a:off x="1709014" y="160020"/>
            <a:ext cx="100584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ts val="2048"/>
              </a:lnSpc>
              <a:buNone/>
            </a:pPr>
            <a:r>
              <a:rPr lang="en-US" sz="1600" b="0" i="0" spc="120" noProof="0" dirty="0">
                <a:solidFill>
                  <a:srgbClr val="009CDE"/>
                </a:solidFill>
                <a:latin typeface="Segoe UI"/>
                <a:ea typeface="Segoe UI"/>
                <a:cs typeface="Segoe UI"/>
              </a:rPr>
              <a:t>Motivation</a:t>
            </a:r>
          </a:p>
        </p:txBody>
      </p:sp>
      <p:sp>
        <p:nvSpPr>
          <p:cNvPr id="6" name="Slide title"/>
          <p:cNvSpPr txBox="1"/>
          <p:nvPr/>
        </p:nvSpPr>
        <p:spPr>
          <a:xfrm>
            <a:off x="424282" y="41148"/>
            <a:ext cx="10424160" cy="49377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ts val="3072"/>
              </a:lnSpc>
              <a:buNone/>
            </a:pPr>
            <a:r>
              <a:rPr lang="en-US" sz="2400" b="1" i="0" noProof="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The objective</a:t>
            </a:r>
          </a:p>
        </p:txBody>
      </p:sp>
      <p:sp>
        <p:nvSpPr>
          <p:cNvPr id="7" name="Footer band"/>
          <p:cNvSpPr/>
          <p:nvPr/>
        </p:nvSpPr>
        <p:spPr>
          <a:xfrm>
            <a:off x="0" y="6573622"/>
            <a:ext cx="12191695" cy="274320"/>
          </a:xfrm>
          <a:prstGeom prst="rect">
            <a:avLst/>
          </a:prstGeom>
          <a:solidFill>
            <a:srgbClr val="003262"/>
          </a:solidFill>
          <a:ln w="12700">
            <a:solidFill>
              <a:srgbClr val="004C97"/>
            </a:solidFill>
          </a:ln>
          <a:effectLst/>
        </p:spPr>
        <p:txBody>
          <a:bodyPr wrap="square" tIns="0" bIns="0" rtlCol="0" anchor="ctr"/>
          <a:lstStyle/>
          <a:p>
            <a:endParaRPr lang="en-US" noProof="0" dirty="0"/>
          </a:p>
        </p:txBody>
      </p:sp>
      <p:sp>
        <p:nvSpPr>
          <p:cNvPr id="8" name="Footer"/>
          <p:cNvSpPr txBox="1"/>
          <p:nvPr/>
        </p:nvSpPr>
        <p:spPr>
          <a:xfrm>
            <a:off x="285293" y="6572707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ts val="1280"/>
              </a:lnSpc>
              <a:buNone/>
            </a:pPr>
            <a:r>
              <a:rPr lang="en-US" sz="1000" b="0" i="0" noProof="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International Monetary Fund   |   African Department</a:t>
            </a:r>
          </a:p>
        </p:txBody>
      </p:sp>
      <p:sp>
        <p:nvSpPr>
          <p:cNvPr id="9" name="Folio"/>
          <p:cNvSpPr txBox="1"/>
          <p:nvPr/>
        </p:nvSpPr>
        <p:spPr>
          <a:xfrm>
            <a:off x="11677802" y="6569964"/>
            <a:ext cx="325526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ts val="1280"/>
              </a:lnSpc>
              <a:buNone/>
            </a:pPr>
            <a:r>
              <a:rPr lang="en-US" sz="1200" i="0" noProof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</a:t>
            </a:r>
            <a:endParaRPr lang="en-US" sz="1200" i="0" noProof="0" dirty="0">
              <a:solidFill>
                <a:srgbClr val="FFFFFF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13" name="Definition"/>
          <p:cNvSpPr txBox="1"/>
          <p:nvPr/>
        </p:nvSpPr>
        <p:spPr>
          <a:xfrm>
            <a:off x="1709014" y="2279912"/>
            <a:ext cx="10014356" cy="2664621"/>
          </a:xfrm>
          <a:prstGeom prst="rect">
            <a:avLst/>
          </a:prstGeom>
          <a:noFill/>
        </p:spPr>
        <p:txBody>
          <a:bodyPr wrap="square" lIns="0" tIns="0" rIns="0" bIns="0" anchor="t"/>
          <a:lstStyle>
            <a:lvl1pPr marL="457200" indent="-457200">
              <a:lnSpc>
                <a:spcPct val="250000"/>
              </a:lnSpc>
              <a:buFont typeface="+mj-lt"/>
              <a:buAutoNum type="arabicPeriod"/>
              <a:defRPr sz="2000">
                <a:solidFill>
                  <a:srgbClr val="003262"/>
                </a:solidFill>
                <a:latin typeface="Segoe UI Semibold"/>
                <a:ea typeface="Segoe UI Semibold"/>
                <a:cs typeface="Segoe UI Semibold"/>
              </a:defRPr>
            </a:lvl1pPr>
          </a:lstStyle>
          <a:p>
            <a:pPr>
              <a:buFont typeface="Arial" panose="020B0604020202020204" pitchFamily="34" charset="0"/>
              <a:buChar char="•"/>
            </a:pPr>
            <a:r>
              <a:rPr lang="en-US" noProof="0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How prevalent is earmarking in Sub-Saharan Africa?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noProof="0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How is it structured in law?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noProof="0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Which revenues finance which purposes?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9FFA513-6D99-BA35-FF79-69E13F7CB5F1}"/>
              </a:ext>
            </a:extLst>
          </p:cNvPr>
          <p:cNvSpPr txBox="1"/>
          <p:nvPr/>
        </p:nvSpPr>
        <p:spPr>
          <a:xfrm>
            <a:off x="420624" y="1222376"/>
            <a:ext cx="11346790" cy="73361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2304"/>
              </a:lnSpc>
              <a:buNone/>
            </a:pPr>
            <a:r>
              <a:rPr lang="en-US" sz="2000" noProof="0" dirty="0">
                <a:solidFill>
                  <a:srgbClr val="003262"/>
                </a:solidFill>
                <a:latin typeface="Segoe UI Semibold" panose="020B0702040204020203" pitchFamily="34" charset="0"/>
                <a:ea typeface="Segoe UI"/>
                <a:cs typeface="Segoe UI Semibold" panose="020B0702040204020203" pitchFamily="34" charset="0"/>
              </a:rPr>
              <a:t>Map the prevalence, legal design and source/destination structure of statutory revenue earmarking across 19 Sub-Saharan Africa countries.</a:t>
            </a:r>
          </a:p>
        </p:txBody>
      </p:sp>
    </p:spTree>
    <p:extLst>
      <p:ext uri="{BB962C8B-B14F-4D97-AF65-F5344CB8AC3E}">
        <p14:creationId xmlns:p14="http://schemas.microsoft.com/office/powerpoint/2010/main" val="23850652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0">
            <a:extLst>
              <a:ext uri="{FF2B5EF4-FFF2-40B4-BE49-F238E27FC236}">
                <a16:creationId xmlns:a16="http://schemas.microsoft.com/office/drawing/2014/main" id="{8328A014-C56B-BF90-B42D-58E0527A977C}"/>
              </a:ext>
            </a:extLst>
          </p:cNvPr>
          <p:cNvSpPr/>
          <p:nvPr/>
        </p:nvSpPr>
        <p:spPr>
          <a:xfrm>
            <a:off x="0" y="0"/>
            <a:ext cx="12191695" cy="558284"/>
          </a:xfrm>
          <a:prstGeom prst="rect">
            <a:avLst/>
          </a:prstGeom>
          <a:solidFill>
            <a:srgbClr val="003262"/>
          </a:solidFill>
          <a:ln w="12700">
            <a:solidFill>
              <a:srgbClr val="003262"/>
            </a:solidFill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Shape 1">
            <a:extLst>
              <a:ext uri="{FF2B5EF4-FFF2-40B4-BE49-F238E27FC236}">
                <a16:creationId xmlns:a16="http://schemas.microsoft.com/office/drawing/2014/main" id="{D12C1FC8-B388-912B-5622-9AAC1A80448F}"/>
              </a:ext>
            </a:extLst>
          </p:cNvPr>
          <p:cNvSpPr/>
          <p:nvPr/>
        </p:nvSpPr>
        <p:spPr>
          <a:xfrm>
            <a:off x="0" y="554844"/>
            <a:ext cx="12191695" cy="64008"/>
          </a:xfrm>
          <a:prstGeom prst="rect">
            <a:avLst/>
          </a:prstGeom>
          <a:solidFill>
            <a:srgbClr val="007DB6"/>
          </a:solidFill>
          <a:ln w="12700">
            <a:noFill/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Shape 2">
            <a:extLst>
              <a:ext uri="{FF2B5EF4-FFF2-40B4-BE49-F238E27FC236}">
                <a16:creationId xmlns:a16="http://schemas.microsoft.com/office/drawing/2014/main" id="{3194BA23-4B93-0ECF-E227-B272AD37724C}"/>
              </a:ext>
            </a:extLst>
          </p:cNvPr>
          <p:cNvSpPr/>
          <p:nvPr/>
        </p:nvSpPr>
        <p:spPr>
          <a:xfrm>
            <a:off x="0" y="554846"/>
            <a:ext cx="1554480" cy="64008"/>
          </a:xfrm>
          <a:prstGeom prst="rect">
            <a:avLst/>
          </a:prstGeom>
          <a:solidFill>
            <a:srgbClr val="FCB415"/>
          </a:solidFill>
          <a:ln w="12700">
            <a:noFill/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24707" y="40966"/>
            <a:ext cx="10424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noProof="0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Outline</a:t>
            </a:r>
            <a:endParaRPr lang="en-US" sz="2400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4" name="Shape 0">
            <a:extLst>
              <a:ext uri="{FF2B5EF4-FFF2-40B4-BE49-F238E27FC236}">
                <a16:creationId xmlns:a16="http://schemas.microsoft.com/office/drawing/2014/main" id="{76A6A9B4-648E-9E6C-1D03-5F2F22FD20C4}"/>
              </a:ext>
            </a:extLst>
          </p:cNvPr>
          <p:cNvSpPr/>
          <p:nvPr/>
        </p:nvSpPr>
        <p:spPr>
          <a:xfrm>
            <a:off x="305" y="6574007"/>
            <a:ext cx="12191695" cy="274321"/>
          </a:xfrm>
          <a:prstGeom prst="rect">
            <a:avLst/>
          </a:prstGeom>
          <a:solidFill>
            <a:srgbClr val="003262"/>
          </a:solidFill>
          <a:ln w="12700">
            <a:solidFill>
              <a:srgbClr val="004C97"/>
            </a:solidFill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85534" y="6573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noProof="0" dirty="0">
                <a:solidFill>
                  <a:schemeClr val="bg1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International Monetary Fund   |   African Department</a:t>
            </a:r>
            <a:endParaRPr lang="en-US" sz="1000" noProof="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6" name="Text 5">
            <a:extLst>
              <a:ext uri="{FF2B5EF4-FFF2-40B4-BE49-F238E27FC236}">
                <a16:creationId xmlns:a16="http://schemas.microsoft.com/office/drawing/2014/main" id="{87A9D14E-7E0B-387B-429B-DFD31A963C1F}"/>
              </a:ext>
            </a:extLst>
          </p:cNvPr>
          <p:cNvSpPr/>
          <p:nvPr/>
        </p:nvSpPr>
        <p:spPr>
          <a:xfrm>
            <a:off x="11677574" y="6570277"/>
            <a:ext cx="3257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noProof="0">
                <a:solidFill>
                  <a:srgbClr val="FFFFFF"/>
                </a:solidFill>
                <a:latin typeface="Segoe UI"/>
                <a:cs typeface="Segoe UI"/>
              </a:rPr>
              <a:t>4</a:t>
            </a:r>
            <a:endParaRPr lang="en-US" sz="1200" noProof="0" dirty="0">
              <a:solidFill>
                <a:srgbClr val="FFFFFF"/>
              </a:solidFill>
              <a:latin typeface="Segoe UI"/>
              <a:cs typeface="Segoe UI"/>
            </a:endParaRPr>
          </a:p>
        </p:txBody>
      </p:sp>
      <p:sp>
        <p:nvSpPr>
          <p:cNvPr id="11" name="TextBox 42">
            <a:extLst>
              <a:ext uri="{FF2B5EF4-FFF2-40B4-BE49-F238E27FC236}">
                <a16:creationId xmlns:a16="http://schemas.microsoft.com/office/drawing/2014/main" id="{EA1051B4-5B32-58B4-9EA9-52C683863F7E}"/>
              </a:ext>
            </a:extLst>
          </p:cNvPr>
          <p:cNvSpPr txBox="1"/>
          <p:nvPr/>
        </p:nvSpPr>
        <p:spPr>
          <a:xfrm>
            <a:off x="1839110" y="1749287"/>
            <a:ext cx="9838464" cy="375705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457200" indent="-457200" algn="l">
              <a:lnSpc>
                <a:spcPct val="250000"/>
              </a:lnSpc>
              <a:buFont typeface="+mj-lt"/>
              <a:buAutoNum type="arabicPeriod"/>
            </a:pPr>
            <a:r>
              <a:rPr lang="en-US" sz="2000" noProof="0" dirty="0">
                <a:solidFill>
                  <a:srgbClr val="003262"/>
                </a:solidFill>
                <a:latin typeface="Segoe UI Semibold"/>
                <a:ea typeface="Segoe UI Semibold"/>
                <a:cs typeface="Segoe UI Semibold"/>
              </a:rPr>
              <a:t>Literature Review</a:t>
            </a:r>
          </a:p>
          <a:p>
            <a:pPr marL="457200" indent="-457200" algn="l">
              <a:lnSpc>
                <a:spcPct val="250000"/>
              </a:lnSpc>
              <a:buFont typeface="+mj-lt"/>
              <a:buAutoNum type="arabicPeriod"/>
            </a:pPr>
            <a:r>
              <a:rPr lang="en-US" sz="2000" noProof="0" dirty="0">
                <a:solidFill>
                  <a:srgbClr val="003262"/>
                </a:solidFill>
                <a:latin typeface="Segoe UI Semibold"/>
                <a:ea typeface="Segoe UI Semibold"/>
                <a:cs typeface="Segoe UI Semibold"/>
              </a:rPr>
              <a:t>Taxonomy</a:t>
            </a:r>
          </a:p>
          <a:p>
            <a:pPr marL="457200" indent="-457200" algn="l">
              <a:lnSpc>
                <a:spcPct val="250000"/>
              </a:lnSpc>
              <a:buFont typeface="+mj-lt"/>
              <a:buAutoNum type="arabicPeriod"/>
            </a:pPr>
            <a:r>
              <a:rPr lang="en-US" sz="2000" noProof="0" dirty="0">
                <a:solidFill>
                  <a:srgbClr val="003262"/>
                </a:solidFill>
                <a:latin typeface="Segoe UI Semibold"/>
                <a:ea typeface="Segoe UI Semibold"/>
                <a:cs typeface="Segoe UI Semibold"/>
              </a:rPr>
              <a:t>Methodology to build the database with LLMs</a:t>
            </a:r>
          </a:p>
          <a:p>
            <a:pPr marL="457200" indent="-457200" algn="l">
              <a:lnSpc>
                <a:spcPct val="250000"/>
              </a:lnSpc>
              <a:buFont typeface="+mj-lt"/>
              <a:buAutoNum type="arabicPeriod"/>
            </a:pPr>
            <a:r>
              <a:rPr lang="en-US" sz="2000" noProof="0" dirty="0">
                <a:solidFill>
                  <a:srgbClr val="003262"/>
                </a:solidFill>
                <a:latin typeface="Segoe UI Semibold"/>
                <a:ea typeface="Segoe UI Semibold"/>
                <a:cs typeface="Segoe UI Semibold"/>
              </a:rPr>
              <a:t>Stylized facts</a:t>
            </a:r>
          </a:p>
          <a:p>
            <a:pPr marL="457200" indent="-457200" algn="l">
              <a:lnSpc>
                <a:spcPct val="250000"/>
              </a:lnSpc>
              <a:buFont typeface="+mj-lt"/>
              <a:buAutoNum type="arabicPeriod"/>
            </a:pPr>
            <a:endParaRPr lang="en-US" sz="2000" noProof="0" dirty="0">
              <a:solidFill>
                <a:srgbClr val="003262"/>
              </a:solidFill>
              <a:latin typeface="Segoe UI Semibold"/>
              <a:ea typeface="Segoe UI Semibold"/>
              <a:cs typeface="Segoe UI Semibold"/>
            </a:endParaRPr>
          </a:p>
          <a:p>
            <a:pPr marL="457200" indent="-457200" algn="l">
              <a:lnSpc>
                <a:spcPct val="250000"/>
              </a:lnSpc>
              <a:buFont typeface="+mj-lt"/>
              <a:buAutoNum type="arabicPeriod"/>
            </a:pPr>
            <a:endParaRPr lang="en-US" sz="2000" noProof="0" dirty="0">
              <a:solidFill>
                <a:srgbClr val="003262"/>
              </a:solidFill>
              <a:latin typeface="Segoe UI Semibold"/>
              <a:ea typeface="Segoe UI Semibold"/>
              <a:cs typeface="Segoe UI Semibold"/>
            </a:endParaRPr>
          </a:p>
          <a:p>
            <a:pPr marL="457200" indent="-457200" algn="l">
              <a:lnSpc>
                <a:spcPct val="250000"/>
              </a:lnSpc>
              <a:buFont typeface="+mj-lt"/>
              <a:buAutoNum type="arabicPeriod"/>
            </a:pPr>
            <a:endParaRPr lang="en-US" sz="2000" b="0" i="0" noProof="0" dirty="0">
              <a:solidFill>
                <a:srgbClr val="003262"/>
              </a:solidFill>
              <a:latin typeface="Segoe UI Semibold"/>
              <a:ea typeface="Segoe UI Semibold"/>
              <a:cs typeface="Segoe UI Semi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4B5EC-5B48-BECE-B689-6F9F24B06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0">
            <a:extLst>
              <a:ext uri="{FF2B5EF4-FFF2-40B4-BE49-F238E27FC236}">
                <a16:creationId xmlns:a16="http://schemas.microsoft.com/office/drawing/2014/main" id="{C719F93B-B8B2-8452-3EFE-50DE1E906754}"/>
              </a:ext>
            </a:extLst>
          </p:cNvPr>
          <p:cNvSpPr/>
          <p:nvPr/>
        </p:nvSpPr>
        <p:spPr>
          <a:xfrm>
            <a:off x="0" y="0"/>
            <a:ext cx="12191695" cy="558284"/>
          </a:xfrm>
          <a:prstGeom prst="rect">
            <a:avLst/>
          </a:prstGeom>
          <a:solidFill>
            <a:srgbClr val="003262"/>
          </a:solidFill>
          <a:ln w="12700">
            <a:solidFill>
              <a:srgbClr val="003262"/>
            </a:solidFill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Shape 1">
            <a:extLst>
              <a:ext uri="{FF2B5EF4-FFF2-40B4-BE49-F238E27FC236}">
                <a16:creationId xmlns:a16="http://schemas.microsoft.com/office/drawing/2014/main" id="{E5C89BAC-9C11-C351-8184-E446FE63E96A}"/>
              </a:ext>
            </a:extLst>
          </p:cNvPr>
          <p:cNvSpPr/>
          <p:nvPr/>
        </p:nvSpPr>
        <p:spPr>
          <a:xfrm>
            <a:off x="0" y="554844"/>
            <a:ext cx="12191695" cy="64008"/>
          </a:xfrm>
          <a:prstGeom prst="rect">
            <a:avLst/>
          </a:prstGeom>
          <a:solidFill>
            <a:srgbClr val="007DB6"/>
          </a:solidFill>
          <a:ln w="12700">
            <a:noFill/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Shape 2">
            <a:extLst>
              <a:ext uri="{FF2B5EF4-FFF2-40B4-BE49-F238E27FC236}">
                <a16:creationId xmlns:a16="http://schemas.microsoft.com/office/drawing/2014/main" id="{7B3D1DC0-1573-3B27-D17B-C9E799100120}"/>
              </a:ext>
            </a:extLst>
          </p:cNvPr>
          <p:cNvSpPr/>
          <p:nvPr/>
        </p:nvSpPr>
        <p:spPr>
          <a:xfrm>
            <a:off x="0" y="554846"/>
            <a:ext cx="1554480" cy="64008"/>
          </a:xfrm>
          <a:prstGeom prst="rect">
            <a:avLst/>
          </a:prstGeom>
          <a:solidFill>
            <a:srgbClr val="FCB415"/>
          </a:solidFill>
          <a:ln w="12700">
            <a:noFill/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FD79E3D-EF84-C767-561B-F4EDBD038A7E}"/>
              </a:ext>
            </a:extLst>
          </p:cNvPr>
          <p:cNvSpPr/>
          <p:nvPr/>
        </p:nvSpPr>
        <p:spPr>
          <a:xfrm>
            <a:off x="1708893" y="15983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kern="0" spc="120" noProof="0" dirty="0">
                <a:solidFill>
                  <a:srgbClr val="009CDE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Literature</a:t>
            </a:r>
            <a:endParaRPr lang="en-US" sz="1600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32E35A1-E245-56B9-6831-B42EFF7C3F4E}"/>
              </a:ext>
            </a:extLst>
          </p:cNvPr>
          <p:cNvSpPr/>
          <p:nvPr/>
        </p:nvSpPr>
        <p:spPr>
          <a:xfrm>
            <a:off x="424707" y="40966"/>
            <a:ext cx="10424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noProof="0" dirty="0">
                <a:solidFill>
                  <a:srgbClr val="FFFFFF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The evidence is mixed and particularly thin for SSA</a:t>
            </a:r>
            <a:endParaRPr lang="en-US" sz="2400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4" name="Shape 0">
            <a:extLst>
              <a:ext uri="{FF2B5EF4-FFF2-40B4-BE49-F238E27FC236}">
                <a16:creationId xmlns:a16="http://schemas.microsoft.com/office/drawing/2014/main" id="{BE573FAC-26C3-D90D-E2F8-B5C05280C914}"/>
              </a:ext>
            </a:extLst>
          </p:cNvPr>
          <p:cNvSpPr/>
          <p:nvPr/>
        </p:nvSpPr>
        <p:spPr>
          <a:xfrm>
            <a:off x="305" y="6574007"/>
            <a:ext cx="12191695" cy="274321"/>
          </a:xfrm>
          <a:prstGeom prst="rect">
            <a:avLst/>
          </a:prstGeom>
          <a:solidFill>
            <a:srgbClr val="003262"/>
          </a:solidFill>
          <a:ln w="12700">
            <a:solidFill>
              <a:srgbClr val="004C97"/>
            </a:solidFill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D08FD79-3559-1607-8AAC-D08F7C7ED077}"/>
              </a:ext>
            </a:extLst>
          </p:cNvPr>
          <p:cNvSpPr/>
          <p:nvPr/>
        </p:nvSpPr>
        <p:spPr>
          <a:xfrm>
            <a:off x="285534" y="6573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noProof="0" dirty="0">
                <a:solidFill>
                  <a:schemeClr val="bg1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International Monetary Fund   |   African Department</a:t>
            </a:r>
            <a:endParaRPr lang="en-US" sz="1000" noProof="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6" name="Text 5">
            <a:extLst>
              <a:ext uri="{FF2B5EF4-FFF2-40B4-BE49-F238E27FC236}">
                <a16:creationId xmlns:a16="http://schemas.microsoft.com/office/drawing/2014/main" id="{1A92FFE8-ADA4-76A5-A605-4F25876A3EA1}"/>
              </a:ext>
            </a:extLst>
          </p:cNvPr>
          <p:cNvSpPr/>
          <p:nvPr/>
        </p:nvSpPr>
        <p:spPr>
          <a:xfrm>
            <a:off x="11677574" y="6570277"/>
            <a:ext cx="3257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noProof="0">
                <a:solidFill>
                  <a:srgbClr val="FFFFFF"/>
                </a:solidFill>
                <a:latin typeface="Segoe UI"/>
                <a:cs typeface="Segoe UI"/>
              </a:rPr>
              <a:t>5</a:t>
            </a:r>
            <a:endParaRPr lang="en-US" sz="1200" noProof="0" dirty="0">
              <a:solidFill>
                <a:srgbClr val="FFFFFF"/>
              </a:solidFill>
              <a:latin typeface="Segoe UI"/>
              <a:cs typeface="Segoe UI"/>
            </a:endParaRPr>
          </a:p>
        </p:txBody>
      </p:sp>
      <p:graphicFrame>
        <p:nvGraphicFramePr>
          <p:cNvPr id="12" name="Tableau 11">
            <a:extLst>
              <a:ext uri="{FF2B5EF4-FFF2-40B4-BE49-F238E27FC236}">
                <a16:creationId xmlns:a16="http://schemas.microsoft.com/office/drawing/2014/main" id="{DEFB533E-B8CC-6EED-7A40-5D14A4F5C7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8121460"/>
              </p:ext>
            </p:extLst>
          </p:nvPr>
        </p:nvGraphicFramePr>
        <p:xfrm>
          <a:off x="419100" y="778933"/>
          <a:ext cx="11348192" cy="561613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98233">
                  <a:extLst>
                    <a:ext uri="{9D8B030D-6E8A-4147-A177-3AD203B41FA5}">
                      <a16:colId xmlns:a16="http://schemas.microsoft.com/office/drawing/2014/main" val="634487531"/>
                    </a:ext>
                  </a:extLst>
                </a:gridCol>
                <a:gridCol w="4286607">
                  <a:extLst>
                    <a:ext uri="{9D8B030D-6E8A-4147-A177-3AD203B41FA5}">
                      <a16:colId xmlns:a16="http://schemas.microsoft.com/office/drawing/2014/main" val="669410391"/>
                    </a:ext>
                  </a:extLst>
                </a:gridCol>
                <a:gridCol w="4263352">
                  <a:extLst>
                    <a:ext uri="{9D8B030D-6E8A-4147-A177-3AD203B41FA5}">
                      <a16:colId xmlns:a16="http://schemas.microsoft.com/office/drawing/2014/main" val="962547048"/>
                    </a:ext>
                  </a:extLst>
                </a:gridCol>
              </a:tblGrid>
              <a:tr h="25527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US" sz="1200" b="1" noProof="0" dirty="0">
                          <a:solidFill>
                            <a:srgbClr val="FFFFFF"/>
                          </a:solidFill>
                          <a:latin typeface="Segoe UI"/>
                        </a:rPr>
                        <a:t>Channel</a:t>
                      </a:r>
                    </a:p>
                  </a:txBody>
                  <a:tcPr marT="68580" marB="68580">
                    <a:solidFill>
                      <a:srgbClr val="00326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US" sz="1200" b="1" noProof="0" dirty="0">
                          <a:solidFill>
                            <a:srgbClr val="FFFFFF"/>
                          </a:solidFill>
                          <a:latin typeface="Segoe UI"/>
                        </a:rPr>
                        <a:t>Mechanism / theory</a:t>
                      </a:r>
                    </a:p>
                  </a:txBody>
                  <a:tcPr marT="68580" marB="68580">
                    <a:solidFill>
                      <a:srgbClr val="00326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US" sz="1200" b="1" noProof="0" dirty="0">
                          <a:solidFill>
                            <a:srgbClr val="FFFFFF"/>
                          </a:solidFill>
                          <a:latin typeface="Segoe UI"/>
                        </a:rPr>
                        <a:t>Selected evidence</a:t>
                      </a:r>
                    </a:p>
                  </a:txBody>
                  <a:tcPr marT="68580" marB="68580">
                    <a:solidFill>
                      <a:srgbClr val="0032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4228431"/>
                  </a:ext>
                </a:extLst>
              </a:tr>
              <a:tr h="113048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US" sz="1400" b="1" noProof="0" dirty="0">
                          <a:solidFill>
                            <a:srgbClr val="003262"/>
                          </a:solidFill>
                          <a:latin typeface="Segoe UI"/>
                        </a:rPr>
                        <a:t>Political authorization</a:t>
                      </a:r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noProof="0" dirty="0">
                          <a:solidFill>
                            <a:srgbClr val="1A1A1A"/>
                          </a:solidFill>
                          <a:latin typeface="Segoe UI"/>
                        </a:rPr>
                        <a:t>Can increase support or facilitate passage in specific settings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endParaRPr lang="en-US" sz="1400" b="1" noProof="0" dirty="0">
                        <a:solidFill>
                          <a:srgbClr val="003262"/>
                        </a:solidFill>
                        <a:latin typeface="Segoe UI"/>
                      </a:endParaRPr>
                    </a:p>
                  </a:txBody>
                  <a:tcPr marT="68580" marB="6858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1400" b="0" noProof="0" dirty="0">
                          <a:solidFill>
                            <a:srgbClr val="1A1A1A"/>
                          </a:solidFill>
                          <a:latin typeface="Segoe UI"/>
                        </a:rPr>
                        <a:t>Linking a tax to a service can make fiscal choices more transparent and allow service-by-service adjustment (Buchanan, 1963).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1400" b="0" noProof="0" dirty="0">
                          <a:solidFill>
                            <a:srgbClr val="1A1A1A"/>
                          </a:solidFill>
                          <a:latin typeface="Segoe UI"/>
                        </a:rPr>
                        <a:t>Earmarking can also act as a commitment device when future use of revenues is uncertain (Brett &amp; Keen, 2000).</a:t>
                      </a:r>
                    </a:p>
                  </a:txBody>
                  <a:tcPr marT="68580" marB="6858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US" sz="1400" b="0" noProof="0" dirty="0">
                          <a:solidFill>
                            <a:srgbClr val="1A1A1A"/>
                          </a:solidFill>
                          <a:latin typeface="Segoe UI"/>
                        </a:rPr>
                        <a:t>Mexico: an exclusive-use statement increased stated support for a hypothetical tax by about 7–8 pp (Flores-Macías, 2018). 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US" sz="1400" b="0" noProof="0" dirty="0">
                          <a:solidFill>
                            <a:srgbClr val="1A1A1A"/>
                          </a:solidFill>
                          <a:latin typeface="Segoe UI"/>
                        </a:rPr>
                        <a:t>Ghana: the GET Fund was used as part of the political strategy to secure passage of a VAT increase (Prichard, 2015).</a:t>
                      </a:r>
                    </a:p>
                  </a:txBody>
                  <a:tcPr marT="68580" marB="6858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7837595"/>
                  </a:ext>
                </a:extLst>
              </a:tr>
              <a:tr h="113048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US" sz="1400" b="1" noProof="0" dirty="0">
                          <a:solidFill>
                            <a:srgbClr val="003262"/>
                          </a:solidFill>
                          <a:latin typeface="Segoe UI"/>
                        </a:rPr>
                        <a:t>Compliance &amp; net revenue</a:t>
                      </a:r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noProof="0" dirty="0">
                          <a:solidFill>
                            <a:srgbClr val="1A1A1A"/>
                          </a:solidFill>
                          <a:latin typeface="Segoe UI"/>
                        </a:rPr>
                        <a:t>The sign and magnitude remain unresolved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endParaRPr lang="en-US" sz="1400" b="1" noProof="0" dirty="0">
                        <a:solidFill>
                          <a:srgbClr val="003262"/>
                        </a:solidFill>
                        <a:latin typeface="Segoe UI"/>
                      </a:endParaRPr>
                    </a:p>
                  </a:txBody>
                  <a:tcPr marT="68580" marB="68580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US" sz="1400" b="0" noProof="0" dirty="0">
                          <a:solidFill>
                            <a:srgbClr val="1A1A1A"/>
                          </a:solidFill>
                          <a:latin typeface="Segoe UI"/>
                        </a:rPr>
                        <a:t>A credible link to valued services may improve compliance in low-trust settings (Teja, 1988). 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US" sz="1400" b="0" noProof="0" dirty="0">
                          <a:solidFill>
                            <a:srgbClr val="1A1A1A"/>
                          </a:solidFill>
                          <a:latin typeface="Segoe UI"/>
                        </a:rPr>
                        <a:t>But strong prior beliefs about corruption may make revenue-use messages insufficient to change behavior (Luttmer &amp; Singhal, 2014).</a:t>
                      </a:r>
                    </a:p>
                  </a:txBody>
                  <a:tcPr marT="68580" marB="68580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US" sz="1400" b="0" noProof="0" dirty="0">
                          <a:solidFill>
                            <a:srgbClr val="1A1A1A"/>
                          </a:solidFill>
                          <a:latin typeface="Segoe UI"/>
                        </a:rPr>
                        <a:t>Tax visibility, incidence, remittance arrangements and collective organization condition taxpayers' political and </a:t>
                      </a:r>
                      <a:r>
                        <a:rPr lang="en-US" sz="1400" b="0" noProof="0" dirty="0" err="1">
                          <a:solidFill>
                            <a:srgbClr val="1A1A1A"/>
                          </a:solidFill>
                          <a:latin typeface="Segoe UI"/>
                        </a:rPr>
                        <a:t>behavioural</a:t>
                      </a:r>
                      <a:r>
                        <a:rPr lang="en-US" sz="1400" b="0" noProof="0" dirty="0">
                          <a:solidFill>
                            <a:srgbClr val="1A1A1A"/>
                          </a:solidFill>
                          <a:latin typeface="Segoe UI"/>
                        </a:rPr>
                        <a:t> responses (Prichard, 2009; 2015).</a:t>
                      </a:r>
                    </a:p>
                  </a:txBody>
                  <a:tcPr marT="68580" marB="68580"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823724"/>
                  </a:ext>
                </a:extLst>
              </a:tr>
              <a:tr h="113048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US" sz="1400" b="1" noProof="0" dirty="0">
                          <a:solidFill>
                            <a:srgbClr val="003262"/>
                          </a:solidFill>
                          <a:latin typeface="Segoe UI"/>
                        </a:rPr>
                        <a:t>Additional spending</a:t>
                      </a:r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noProof="0" dirty="0">
                          <a:solidFill>
                            <a:srgbClr val="1A1A1A"/>
                          </a:solidFill>
                          <a:latin typeface="Segoe UI"/>
                        </a:rPr>
                        <a:t>Legal dedication does not necessarily generate additional spending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endParaRPr lang="en-US" sz="1400" b="1" noProof="0" dirty="0">
                        <a:solidFill>
                          <a:srgbClr val="003262"/>
                        </a:solidFill>
                        <a:latin typeface="Segoe UI"/>
                      </a:endParaRPr>
                    </a:p>
                  </a:txBody>
                  <a:tcPr marT="68580" marB="6858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US" sz="1400" b="0" noProof="0" dirty="0">
                          <a:solidFill>
                            <a:srgbClr val="1A1A1A"/>
                          </a:solidFill>
                          <a:latin typeface="Segoe UI"/>
                        </a:rPr>
                        <a:t>An earmark is substantive only if dedicated revenue becomes a marginal source of spending, rather than replacing general-fund support (Bird &amp; Jun, 2005).</a:t>
                      </a:r>
                    </a:p>
                  </a:txBody>
                  <a:tcPr marT="68580" marB="6858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US" sz="1400" b="0" noProof="0" dirty="0">
                          <a:solidFill>
                            <a:srgbClr val="1A1A1A"/>
                          </a:solidFill>
                          <a:latin typeface="Segoe UI"/>
                        </a:rPr>
                        <a:t>African road-fund cases show that statutory resources can be frozen, diverted or weakened by non-payment, limiting effective additionality (McCleary, 1991).</a:t>
                      </a:r>
                    </a:p>
                  </a:txBody>
                  <a:tcPr marT="68580" marB="6858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2241609"/>
                  </a:ext>
                </a:extLst>
              </a:tr>
              <a:tr h="14708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US" sz="1400" b="1" noProof="0" dirty="0">
                          <a:solidFill>
                            <a:srgbClr val="003262"/>
                          </a:solidFill>
                          <a:latin typeface="Segoe UI"/>
                        </a:rPr>
                        <a:t>Expenditure quality / PFM</a:t>
                      </a:r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noProof="0" dirty="0">
                          <a:solidFill>
                            <a:srgbClr val="1A1A1A"/>
                          </a:solidFill>
                          <a:latin typeface="Segoe UI"/>
                        </a:rPr>
                        <a:t>Effects depend strongly on institutions and implementation capacity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endParaRPr lang="en-US" sz="1400" b="1" noProof="0" dirty="0">
                        <a:solidFill>
                          <a:srgbClr val="003262"/>
                        </a:solidFill>
                        <a:latin typeface="Segoe UI"/>
                      </a:endParaRPr>
                    </a:p>
                  </a:txBody>
                  <a:tcPr marT="68580" marB="68580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US" sz="1400" b="0" noProof="0" dirty="0">
                          <a:solidFill>
                            <a:srgbClr val="1A1A1A"/>
                          </a:solidFill>
                          <a:latin typeface="Segoe UI"/>
                        </a:rPr>
                        <a:t>Dedicated resources must still be transferred, released and converted into effective expenditure.</a:t>
                      </a:r>
                    </a:p>
                  </a:txBody>
                  <a:tcPr marT="68580" marB="68580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US" sz="1400" b="0" noProof="0" dirty="0">
                          <a:solidFill>
                            <a:srgbClr val="1A1A1A"/>
                          </a:solidFill>
                          <a:latin typeface="Segoe UI"/>
                        </a:rPr>
                        <a:t>PFM quality, absorptive capacity, release mechanisms and periodic review condition whether earmarked resources can be used effectively (Cashin, Sparkes &amp; Bloom, 2017).</a:t>
                      </a:r>
                    </a:p>
                  </a:txBody>
                  <a:tcPr marT="68580" marB="68580"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56707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21970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0">
            <a:extLst>
              <a:ext uri="{FF2B5EF4-FFF2-40B4-BE49-F238E27FC236}">
                <a16:creationId xmlns:a16="http://schemas.microsoft.com/office/drawing/2014/main" id="{528BFD73-3664-DD74-5B05-E09612DE45E5}"/>
              </a:ext>
            </a:extLst>
          </p:cNvPr>
          <p:cNvSpPr/>
          <p:nvPr/>
        </p:nvSpPr>
        <p:spPr>
          <a:xfrm>
            <a:off x="0" y="0"/>
            <a:ext cx="12191695" cy="558284"/>
          </a:xfrm>
          <a:prstGeom prst="rect">
            <a:avLst/>
          </a:prstGeom>
          <a:solidFill>
            <a:srgbClr val="003262"/>
          </a:solidFill>
          <a:ln w="12700">
            <a:solidFill>
              <a:srgbClr val="003262"/>
            </a:solidFill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Shape 1">
            <a:extLst>
              <a:ext uri="{FF2B5EF4-FFF2-40B4-BE49-F238E27FC236}">
                <a16:creationId xmlns:a16="http://schemas.microsoft.com/office/drawing/2014/main" id="{FE86F74F-FE3B-8DFE-C2FD-786D690BA0F4}"/>
              </a:ext>
            </a:extLst>
          </p:cNvPr>
          <p:cNvSpPr/>
          <p:nvPr/>
        </p:nvSpPr>
        <p:spPr>
          <a:xfrm>
            <a:off x="0" y="554844"/>
            <a:ext cx="12191695" cy="64008"/>
          </a:xfrm>
          <a:prstGeom prst="rect">
            <a:avLst/>
          </a:prstGeom>
          <a:solidFill>
            <a:srgbClr val="007DB6"/>
          </a:solidFill>
          <a:ln w="12700">
            <a:noFill/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Shape 2">
            <a:extLst>
              <a:ext uri="{FF2B5EF4-FFF2-40B4-BE49-F238E27FC236}">
                <a16:creationId xmlns:a16="http://schemas.microsoft.com/office/drawing/2014/main" id="{04F79452-CE52-0405-18AA-EBF2980644C7}"/>
              </a:ext>
            </a:extLst>
          </p:cNvPr>
          <p:cNvSpPr/>
          <p:nvPr/>
        </p:nvSpPr>
        <p:spPr>
          <a:xfrm>
            <a:off x="0" y="554846"/>
            <a:ext cx="1554480" cy="64008"/>
          </a:xfrm>
          <a:prstGeom prst="rect">
            <a:avLst/>
          </a:prstGeom>
          <a:solidFill>
            <a:srgbClr val="FCB415"/>
          </a:solidFill>
          <a:ln w="12700">
            <a:noFill/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708893" y="15983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kern="0" spc="120" noProof="0" dirty="0">
                <a:solidFill>
                  <a:srgbClr val="009CDE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Mechanisms</a:t>
            </a:r>
            <a:endParaRPr lang="en-US" sz="1600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24707" y="40966"/>
            <a:ext cx="10424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noProof="0" dirty="0">
                <a:solidFill>
                  <a:srgbClr val="FFFFFF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Earmarking can affect several stages of the fiscal process</a:t>
            </a:r>
            <a:endParaRPr lang="en-US" sz="2400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4" name="Shape 0">
            <a:extLst>
              <a:ext uri="{FF2B5EF4-FFF2-40B4-BE49-F238E27FC236}">
                <a16:creationId xmlns:a16="http://schemas.microsoft.com/office/drawing/2014/main" id="{76A6A9B4-648E-9E6C-1D03-5F2F22FD20C4}"/>
              </a:ext>
            </a:extLst>
          </p:cNvPr>
          <p:cNvSpPr/>
          <p:nvPr/>
        </p:nvSpPr>
        <p:spPr>
          <a:xfrm>
            <a:off x="305" y="6574007"/>
            <a:ext cx="12191695" cy="274321"/>
          </a:xfrm>
          <a:prstGeom prst="rect">
            <a:avLst/>
          </a:prstGeom>
          <a:solidFill>
            <a:srgbClr val="003262"/>
          </a:solidFill>
          <a:ln w="12700">
            <a:solidFill>
              <a:srgbClr val="004C97"/>
            </a:solidFill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85534" y="6573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noProof="0" dirty="0">
                <a:solidFill>
                  <a:schemeClr val="bg1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International Monetary Fund   |   African Department</a:t>
            </a:r>
            <a:endParaRPr lang="en-US" sz="1000" noProof="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6" name="Text 5">
            <a:extLst>
              <a:ext uri="{FF2B5EF4-FFF2-40B4-BE49-F238E27FC236}">
                <a16:creationId xmlns:a16="http://schemas.microsoft.com/office/drawing/2014/main" id="{87A9D14E-7E0B-387B-429B-DFD31A963C1F}"/>
              </a:ext>
            </a:extLst>
          </p:cNvPr>
          <p:cNvSpPr/>
          <p:nvPr/>
        </p:nvSpPr>
        <p:spPr>
          <a:xfrm>
            <a:off x="11677574" y="6570277"/>
            <a:ext cx="3257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noProof="0">
                <a:solidFill>
                  <a:srgbClr val="FFFFFF"/>
                </a:solidFill>
                <a:latin typeface="Segoe UI"/>
                <a:cs typeface="Segoe UI"/>
              </a:rPr>
              <a:t>6</a:t>
            </a:r>
            <a:endParaRPr lang="en-US" sz="1200" noProof="0" dirty="0">
              <a:solidFill>
                <a:srgbClr val="FFFFFF"/>
              </a:solidFill>
              <a:latin typeface="Segoe UI"/>
              <a:cs typeface="Segoe UI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20624" y="877824"/>
            <a:ext cx="1133856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560"/>
              </a:lnSpc>
            </a:pPr>
            <a:r>
              <a:rPr lang="en-US" sz="2000" b="0" i="0" noProof="0" dirty="0">
                <a:solidFill>
                  <a:srgbClr val="003262"/>
                </a:solidFill>
                <a:latin typeface="Segoe UI Semibold"/>
                <a:ea typeface="Segoe UI Semibold"/>
                <a:cs typeface="Segoe UI Semibold"/>
              </a:rPr>
              <a:t>Earmarking can matter at several distinct stages, from legal design to expenditure outcomes.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0624" y="2783269"/>
            <a:ext cx="2002536" cy="932688"/>
          </a:xfrm>
          <a:prstGeom prst="rect">
            <a:avLst/>
          </a:prstGeom>
          <a:solidFill>
            <a:srgbClr val="FFFFFF"/>
          </a:solidFill>
          <a:ln w="28575">
            <a:solidFill>
              <a:srgbClr val="FCB415"/>
            </a:solidFill>
          </a:ln>
          <a:effectLst/>
        </p:spPr>
        <p:txBody>
          <a:bodyPr wrap="square" tIns="0" bIns="0" rtlCol="0" anchor="ctr"/>
          <a:lstStyle/>
          <a:p>
            <a:pPr algn="ctr">
              <a:lnSpc>
                <a:spcPts val="2304"/>
              </a:lnSpc>
            </a:pPr>
            <a:r>
              <a:rPr lang="en-US" sz="1800" b="1" i="0" noProof="0" dirty="0">
                <a:solidFill>
                  <a:srgbClr val="003262"/>
                </a:solidFill>
                <a:latin typeface="Segoe UI"/>
                <a:ea typeface="Segoe UI"/>
                <a:cs typeface="Segoe UI"/>
              </a:rPr>
              <a:t>De jure</a:t>
            </a:r>
          </a:p>
          <a:p>
            <a:pPr algn="ctr">
              <a:lnSpc>
                <a:spcPts val="2304"/>
              </a:lnSpc>
            </a:pPr>
            <a:r>
              <a:rPr lang="en-US" sz="1800" b="1" i="0" noProof="0" dirty="0">
                <a:solidFill>
                  <a:srgbClr val="003262"/>
                </a:solidFill>
                <a:latin typeface="Segoe UI"/>
                <a:ea typeface="Segoe UI"/>
                <a:cs typeface="Segoe UI"/>
              </a:rPr>
              <a:t>design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0624" y="3898838"/>
            <a:ext cx="2002536" cy="8412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ts val="2304"/>
              </a:lnSpc>
            </a:pPr>
            <a:r>
              <a:rPr lang="en-US" sz="1800" b="0" i="0" noProof="0" dirty="0">
                <a:solidFill>
                  <a:srgbClr val="4A5560"/>
                </a:solidFill>
                <a:latin typeface="Segoe UI"/>
                <a:ea typeface="Segoe UI"/>
                <a:cs typeface="Segoe UI"/>
              </a:rPr>
              <a:t>What does the law commit?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2468879" y="3249613"/>
            <a:ext cx="240031" cy="0"/>
          </a:xfrm>
          <a:prstGeom prst="line">
            <a:avLst/>
          </a:prstGeom>
          <a:ln w="19050">
            <a:solidFill>
              <a:srgbClr val="6E7B8B"/>
            </a:solidFill>
            <a:tailEnd type="triangle" w="med" len="med"/>
          </a:ln>
        </p:spPr>
      </p:cxnSp>
      <p:sp>
        <p:nvSpPr>
          <p:cNvPr id="41" name="Rectangle 40"/>
          <p:cNvSpPr/>
          <p:nvPr/>
        </p:nvSpPr>
        <p:spPr>
          <a:xfrm>
            <a:off x="2754629" y="2783269"/>
            <a:ext cx="200253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6CFD8"/>
            </a:solidFill>
          </a:ln>
          <a:effectLst/>
        </p:spPr>
        <p:txBody>
          <a:bodyPr wrap="square" tIns="0" bIns="0" rtlCol="0" anchor="ctr"/>
          <a:lstStyle/>
          <a:p>
            <a:pPr algn="ctr">
              <a:lnSpc>
                <a:spcPts val="2304"/>
              </a:lnSpc>
            </a:pPr>
            <a:r>
              <a:rPr lang="en-US" sz="1800" b="0" i="0" noProof="0" dirty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Political</a:t>
            </a:r>
          </a:p>
          <a:p>
            <a:pPr algn="ctr">
              <a:lnSpc>
                <a:spcPts val="2304"/>
              </a:lnSpc>
            </a:pPr>
            <a:r>
              <a:rPr lang="en-US" sz="1800" b="0" i="0" noProof="0" dirty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authorization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54629" y="3898838"/>
            <a:ext cx="2002536" cy="8412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ts val="2304"/>
              </a:lnSpc>
            </a:pPr>
            <a:r>
              <a:rPr lang="en-US" sz="1800" b="0" i="0" noProof="0" dirty="0">
                <a:solidFill>
                  <a:srgbClr val="4A5560"/>
                </a:solidFill>
                <a:latin typeface="Segoe UI"/>
                <a:ea typeface="Segoe UI"/>
                <a:cs typeface="Segoe UI"/>
              </a:rPr>
              <a:t>Can the tax be adopted or sustained?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802886" y="3249613"/>
            <a:ext cx="240030" cy="0"/>
          </a:xfrm>
          <a:prstGeom prst="line">
            <a:avLst/>
          </a:prstGeom>
          <a:ln w="19050">
            <a:solidFill>
              <a:srgbClr val="6E7B8B"/>
            </a:solidFill>
            <a:tailEnd type="triangle" w="med" len="med"/>
          </a:ln>
        </p:spPr>
      </p:cxnSp>
      <p:sp>
        <p:nvSpPr>
          <p:cNvPr id="44" name="Rectangle 43"/>
          <p:cNvSpPr/>
          <p:nvPr/>
        </p:nvSpPr>
        <p:spPr>
          <a:xfrm>
            <a:off x="5088636" y="2783269"/>
            <a:ext cx="200253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6CFD8"/>
            </a:solidFill>
          </a:ln>
          <a:effectLst/>
        </p:spPr>
        <p:txBody>
          <a:bodyPr wrap="square" tIns="0" bIns="0" rtlCol="0" anchor="ctr"/>
          <a:lstStyle/>
          <a:p>
            <a:pPr algn="ctr">
              <a:lnSpc>
                <a:spcPts val="2304"/>
              </a:lnSpc>
            </a:pPr>
            <a:r>
              <a:rPr lang="en-US" sz="1800" b="0" i="0" noProof="0" dirty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Revenue</a:t>
            </a:r>
          </a:p>
          <a:p>
            <a:pPr algn="ctr">
              <a:lnSpc>
                <a:spcPts val="2304"/>
              </a:lnSpc>
            </a:pPr>
            <a:r>
              <a:rPr lang="en-US" sz="1800" b="0" i="0" noProof="0" dirty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realization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88636" y="3898838"/>
            <a:ext cx="2002536" cy="8412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ts val="2304"/>
              </a:lnSpc>
            </a:pPr>
            <a:r>
              <a:rPr lang="en-US" sz="1800" b="0" i="0" noProof="0" dirty="0">
                <a:solidFill>
                  <a:srgbClr val="4A5560"/>
                </a:solidFill>
                <a:latin typeface="Segoe UI"/>
                <a:ea typeface="Segoe UI"/>
                <a:cs typeface="Segoe UI"/>
              </a:rPr>
              <a:t>Does it affect collection and the tax base?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136891" y="3249613"/>
            <a:ext cx="240030" cy="0"/>
          </a:xfrm>
          <a:prstGeom prst="line">
            <a:avLst/>
          </a:prstGeom>
          <a:ln w="19050">
            <a:solidFill>
              <a:srgbClr val="6E7B8B"/>
            </a:solidFill>
            <a:tailEnd type="triangle" w="med" len="med"/>
          </a:ln>
        </p:spPr>
      </p:cxnSp>
      <p:sp>
        <p:nvSpPr>
          <p:cNvPr id="47" name="Rectangle 46"/>
          <p:cNvSpPr/>
          <p:nvPr/>
        </p:nvSpPr>
        <p:spPr>
          <a:xfrm>
            <a:off x="7422642" y="2783269"/>
            <a:ext cx="200253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6CFD8"/>
            </a:solidFill>
          </a:ln>
          <a:effectLst/>
        </p:spPr>
        <p:txBody>
          <a:bodyPr wrap="square" tIns="0" bIns="0" rtlCol="0" anchor="ctr"/>
          <a:lstStyle/>
          <a:p>
            <a:pPr algn="ctr">
              <a:lnSpc>
                <a:spcPts val="2304"/>
              </a:lnSpc>
            </a:pPr>
            <a:r>
              <a:rPr lang="en-US" sz="1800" b="0" i="0" noProof="0" dirty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Budget</a:t>
            </a:r>
          </a:p>
          <a:p>
            <a:pPr algn="ctr">
              <a:lnSpc>
                <a:spcPts val="2304"/>
              </a:lnSpc>
            </a:pPr>
            <a:r>
              <a:rPr lang="en-US" sz="1800" b="0" i="0" noProof="0" dirty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translation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22642" y="3898838"/>
            <a:ext cx="2002536" cy="8412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ts val="2304"/>
              </a:lnSpc>
            </a:pPr>
            <a:r>
              <a:rPr lang="en-US" sz="1800" b="0" i="0" noProof="0" dirty="0">
                <a:solidFill>
                  <a:srgbClr val="4A5560"/>
                </a:solidFill>
                <a:latin typeface="Segoe UI"/>
                <a:ea typeface="Segoe UI"/>
                <a:cs typeface="Segoe UI"/>
              </a:rPr>
              <a:t>Are revenues transferred and additional?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9470898" y="3249613"/>
            <a:ext cx="240030" cy="0"/>
          </a:xfrm>
          <a:prstGeom prst="line">
            <a:avLst/>
          </a:prstGeom>
          <a:ln w="19050">
            <a:solidFill>
              <a:srgbClr val="6E7B8B"/>
            </a:solidFill>
            <a:tailEnd type="triangle" w="med" len="med"/>
          </a:ln>
        </p:spPr>
      </p:cxnSp>
      <p:sp>
        <p:nvSpPr>
          <p:cNvPr id="50" name="Rectangle 49"/>
          <p:cNvSpPr/>
          <p:nvPr/>
        </p:nvSpPr>
        <p:spPr>
          <a:xfrm>
            <a:off x="9756648" y="2783269"/>
            <a:ext cx="200253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6CFD8"/>
            </a:solidFill>
          </a:ln>
          <a:effectLst/>
        </p:spPr>
        <p:txBody>
          <a:bodyPr wrap="square" tIns="0" bIns="0" rtlCol="0" anchor="ctr"/>
          <a:lstStyle/>
          <a:p>
            <a:pPr algn="ctr">
              <a:lnSpc>
                <a:spcPts val="2304"/>
              </a:lnSpc>
            </a:pPr>
            <a:r>
              <a:rPr lang="en-US" sz="1800" b="0" i="0" noProof="0" dirty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Expenditure</a:t>
            </a:r>
          </a:p>
          <a:p>
            <a:pPr algn="ctr">
              <a:lnSpc>
                <a:spcPts val="2304"/>
              </a:lnSpc>
            </a:pPr>
            <a:r>
              <a:rPr lang="en-US" sz="1800" b="0" i="0" noProof="0" dirty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outcomes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56648" y="3898838"/>
            <a:ext cx="2002536" cy="8412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ts val="2304"/>
              </a:lnSpc>
            </a:pPr>
            <a:r>
              <a:rPr lang="en-US" sz="1800" b="0" i="0" noProof="0" dirty="0">
                <a:solidFill>
                  <a:srgbClr val="4A5560"/>
                </a:solidFill>
                <a:latin typeface="Segoe UI"/>
                <a:ea typeface="Segoe UI"/>
                <a:cs typeface="Segoe UI"/>
              </a:rPr>
              <a:t>Are resources used effectively?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0624" y="5943600"/>
            <a:ext cx="11338560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1280"/>
              </a:lnSpc>
            </a:pPr>
            <a:r>
              <a:rPr lang="en-US" sz="1000" b="0" i="0" noProof="0" dirty="0">
                <a:solidFill>
                  <a:srgbClr val="6E7B8B"/>
                </a:solidFill>
                <a:latin typeface="Segoe UI"/>
                <a:ea typeface="Segoe UI"/>
                <a:cs typeface="Segoe UI"/>
              </a:rPr>
              <a:t>Source: Prichard (2015); Bird &amp; Jun (2005); Cashin, Sparkes &amp; Bloom (2017); Allen &amp; Radev (2006); Flores-Macías (2018).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0">
            <a:extLst>
              <a:ext uri="{FF2B5EF4-FFF2-40B4-BE49-F238E27FC236}">
                <a16:creationId xmlns:a16="http://schemas.microsoft.com/office/drawing/2014/main" id="{953A37ED-4D08-3005-2B0D-9FB0418B16FB}"/>
              </a:ext>
            </a:extLst>
          </p:cNvPr>
          <p:cNvSpPr/>
          <p:nvPr/>
        </p:nvSpPr>
        <p:spPr>
          <a:xfrm>
            <a:off x="0" y="0"/>
            <a:ext cx="12191695" cy="558284"/>
          </a:xfrm>
          <a:prstGeom prst="rect">
            <a:avLst/>
          </a:prstGeom>
          <a:solidFill>
            <a:srgbClr val="003262"/>
          </a:solidFill>
          <a:ln w="12700">
            <a:solidFill>
              <a:srgbClr val="003262"/>
            </a:solidFill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5" name="Shape 1">
            <a:extLst>
              <a:ext uri="{FF2B5EF4-FFF2-40B4-BE49-F238E27FC236}">
                <a16:creationId xmlns:a16="http://schemas.microsoft.com/office/drawing/2014/main" id="{7B64A723-E665-3EF8-B415-DC451494855B}"/>
              </a:ext>
            </a:extLst>
          </p:cNvPr>
          <p:cNvSpPr/>
          <p:nvPr/>
        </p:nvSpPr>
        <p:spPr>
          <a:xfrm>
            <a:off x="0" y="554844"/>
            <a:ext cx="12191695" cy="64008"/>
          </a:xfrm>
          <a:prstGeom prst="rect">
            <a:avLst/>
          </a:prstGeom>
          <a:solidFill>
            <a:srgbClr val="007DB6"/>
          </a:solidFill>
          <a:ln w="12700">
            <a:noFill/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7" name="Shape 2">
            <a:extLst>
              <a:ext uri="{FF2B5EF4-FFF2-40B4-BE49-F238E27FC236}">
                <a16:creationId xmlns:a16="http://schemas.microsoft.com/office/drawing/2014/main" id="{9D912E0B-65D6-A0BA-AC0F-EC4006510C4A}"/>
              </a:ext>
            </a:extLst>
          </p:cNvPr>
          <p:cNvSpPr/>
          <p:nvPr/>
        </p:nvSpPr>
        <p:spPr>
          <a:xfrm>
            <a:off x="0" y="554846"/>
            <a:ext cx="1554480" cy="64008"/>
          </a:xfrm>
          <a:prstGeom prst="rect">
            <a:avLst/>
          </a:prstGeom>
          <a:solidFill>
            <a:srgbClr val="FCB415"/>
          </a:solidFill>
          <a:ln w="12700">
            <a:noFill/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Section label"/>
          <p:cNvSpPr txBox="1"/>
          <p:nvPr/>
        </p:nvSpPr>
        <p:spPr>
          <a:xfrm>
            <a:off x="1709014" y="160020"/>
            <a:ext cx="100584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ts val="2048"/>
              </a:lnSpc>
              <a:buNone/>
            </a:pPr>
            <a:r>
              <a:rPr lang="en-US" sz="1600" b="0" i="0" spc="120" noProof="0" dirty="0">
                <a:solidFill>
                  <a:srgbClr val="009CDE"/>
                </a:solidFill>
                <a:latin typeface="Segoe UI"/>
                <a:ea typeface="Segoe UI"/>
                <a:cs typeface="Segoe UI"/>
              </a:rPr>
              <a:t>Contribution</a:t>
            </a:r>
          </a:p>
        </p:txBody>
      </p:sp>
      <p:sp>
        <p:nvSpPr>
          <p:cNvPr id="6" name="Slide title"/>
          <p:cNvSpPr txBox="1"/>
          <p:nvPr/>
        </p:nvSpPr>
        <p:spPr>
          <a:xfrm>
            <a:off x="424282" y="41148"/>
            <a:ext cx="10424160" cy="49377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ts val="3072"/>
              </a:lnSpc>
              <a:buNone/>
            </a:pPr>
            <a:r>
              <a:rPr lang="en-US" sz="2400" b="1" i="0" noProof="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Before asking whether earmarking works: where does it exist?</a:t>
            </a:r>
          </a:p>
        </p:txBody>
      </p:sp>
      <p:sp>
        <p:nvSpPr>
          <p:cNvPr id="7" name="Footer band"/>
          <p:cNvSpPr/>
          <p:nvPr/>
        </p:nvSpPr>
        <p:spPr>
          <a:xfrm>
            <a:off x="0" y="6573622"/>
            <a:ext cx="12191695" cy="274320"/>
          </a:xfrm>
          <a:prstGeom prst="rect">
            <a:avLst/>
          </a:prstGeom>
          <a:solidFill>
            <a:srgbClr val="003262"/>
          </a:solidFill>
          <a:ln w="12700">
            <a:solidFill>
              <a:srgbClr val="004C97"/>
            </a:solidFill>
          </a:ln>
          <a:effectLst/>
        </p:spPr>
        <p:txBody>
          <a:bodyPr wrap="square" tIns="0" bIns="0" rtlCol="0" anchor="ctr"/>
          <a:lstStyle/>
          <a:p>
            <a:endParaRPr lang="en-US" noProof="0" dirty="0"/>
          </a:p>
        </p:txBody>
      </p:sp>
      <p:sp>
        <p:nvSpPr>
          <p:cNvPr id="8" name="Footer"/>
          <p:cNvSpPr txBox="1"/>
          <p:nvPr/>
        </p:nvSpPr>
        <p:spPr>
          <a:xfrm>
            <a:off x="285293" y="6572707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ts val="1280"/>
              </a:lnSpc>
              <a:buNone/>
            </a:pPr>
            <a:r>
              <a:rPr lang="en-US" sz="1000" b="0" i="0" noProof="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International Monetary Fund   |   African Department</a:t>
            </a:r>
          </a:p>
        </p:txBody>
      </p:sp>
      <p:sp>
        <p:nvSpPr>
          <p:cNvPr id="9" name="Folio"/>
          <p:cNvSpPr txBox="1"/>
          <p:nvPr/>
        </p:nvSpPr>
        <p:spPr>
          <a:xfrm>
            <a:off x="11677802" y="6569964"/>
            <a:ext cx="325526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ts val="1280"/>
              </a:lnSpc>
              <a:buNone/>
            </a:pPr>
            <a:r>
              <a:rPr lang="en-US" sz="1200" i="0" noProof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7</a:t>
            </a:r>
            <a:endParaRPr lang="en-US" sz="1200" i="0" noProof="0" dirty="0">
              <a:solidFill>
                <a:srgbClr val="FFFFFF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10" name="Read-out"/>
          <p:cNvSpPr txBox="1"/>
          <p:nvPr/>
        </p:nvSpPr>
        <p:spPr>
          <a:xfrm>
            <a:off x="420624" y="877824"/>
            <a:ext cx="11338560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2560"/>
              </a:lnSpc>
            </a:pPr>
            <a:r>
              <a:rPr lang="en-US" sz="2000" b="0" i="0" noProof="0" dirty="0">
                <a:solidFill>
                  <a:srgbClr val="003262"/>
                </a:solidFill>
                <a:latin typeface="Segoe UI Semibold"/>
                <a:ea typeface="Segoe UI Semibold"/>
                <a:cs typeface="Segoe UI Semibold"/>
              </a:rPr>
              <a:t>The missing layer is the legal link between the revenue source and its statutory destination.</a:t>
            </a:r>
            <a:r>
              <a:rPr lang="en-US" sz="2000" noProof="0" dirty="0">
                <a:solidFill>
                  <a:srgbClr val="003262"/>
                </a:solidFill>
                <a:latin typeface="Segoe UI Semibold"/>
                <a:ea typeface="Segoe UI Semibold"/>
                <a:cs typeface="Segoe UI Semibold"/>
              </a:rPr>
              <a:t> </a:t>
            </a:r>
          </a:p>
        </p:txBody>
      </p:sp>
      <p:sp>
        <p:nvSpPr>
          <p:cNvPr id="11" name="Question"/>
          <p:cNvSpPr txBox="1"/>
          <p:nvPr/>
        </p:nvSpPr>
        <p:spPr>
          <a:xfrm>
            <a:off x="420624" y="1924976"/>
            <a:ext cx="3657600" cy="3474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ts val="2560"/>
              </a:lnSpc>
              <a:buNone/>
            </a:pPr>
            <a:r>
              <a:rPr lang="en-US" sz="2000" b="0" i="0" noProof="0" dirty="0">
                <a:solidFill>
                  <a:srgbClr val="004C97"/>
                </a:solidFill>
                <a:latin typeface="Segoe UI Semibold"/>
                <a:ea typeface="Segoe UI Semibold"/>
                <a:cs typeface="Segoe UI Semibold"/>
              </a:rPr>
              <a:t>How prevalent?</a:t>
            </a:r>
          </a:p>
        </p:txBody>
      </p:sp>
      <p:sp>
        <p:nvSpPr>
          <p:cNvPr id="12" name="Question"/>
          <p:cNvSpPr txBox="1"/>
          <p:nvPr/>
        </p:nvSpPr>
        <p:spPr>
          <a:xfrm>
            <a:off x="4261104" y="1924976"/>
            <a:ext cx="3657600" cy="3474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ts val="2560"/>
              </a:lnSpc>
              <a:buNone/>
            </a:pPr>
            <a:r>
              <a:rPr lang="en-US" sz="2000" b="0" i="0" noProof="0" dirty="0">
                <a:solidFill>
                  <a:srgbClr val="004C97"/>
                </a:solidFill>
                <a:latin typeface="Segoe UI Semibold"/>
                <a:ea typeface="Segoe UI Semibold"/>
                <a:cs typeface="Segoe UI Semibold"/>
              </a:rPr>
              <a:t>Which revenues?</a:t>
            </a:r>
          </a:p>
        </p:txBody>
      </p:sp>
      <p:sp>
        <p:nvSpPr>
          <p:cNvPr id="13" name="Question"/>
          <p:cNvSpPr txBox="1"/>
          <p:nvPr/>
        </p:nvSpPr>
        <p:spPr>
          <a:xfrm>
            <a:off x="7812828" y="1924976"/>
            <a:ext cx="3657600" cy="3474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ts val="2560"/>
              </a:lnSpc>
              <a:buNone/>
            </a:pPr>
            <a:r>
              <a:rPr lang="en-US" sz="2000" b="0" i="0" noProof="0" dirty="0">
                <a:solidFill>
                  <a:srgbClr val="004C97"/>
                </a:solidFill>
                <a:latin typeface="Segoe UI Semibold"/>
                <a:ea typeface="Segoe UI Semibold"/>
                <a:cs typeface="Segoe UI Semibold"/>
              </a:rPr>
              <a:t>Assigned to what?</a:t>
            </a:r>
          </a:p>
        </p:txBody>
      </p:sp>
      <p:sp>
        <p:nvSpPr>
          <p:cNvPr id="14" name="Label"/>
          <p:cNvSpPr txBox="1"/>
          <p:nvPr/>
        </p:nvSpPr>
        <p:spPr>
          <a:xfrm>
            <a:off x="420624" y="2601632"/>
            <a:ext cx="4206240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ts val="1536"/>
              </a:lnSpc>
              <a:buNone/>
            </a:pPr>
            <a:r>
              <a:rPr lang="en-US" sz="1200" b="1" i="0" spc="90" noProof="0" dirty="0">
                <a:solidFill>
                  <a:srgbClr val="6E7B8B"/>
                </a:solidFill>
                <a:latin typeface="Segoe UI"/>
                <a:ea typeface="Segoe UI"/>
                <a:cs typeface="Segoe UI"/>
              </a:rPr>
              <a:t>STANDARD REVENUE STATISTICS</a:t>
            </a:r>
          </a:p>
        </p:txBody>
      </p:sp>
      <p:sp>
        <p:nvSpPr>
          <p:cNvPr id="15" name="Revenue statistics"/>
          <p:cNvSpPr/>
          <p:nvPr/>
        </p:nvSpPr>
        <p:spPr>
          <a:xfrm>
            <a:off x="420624" y="2875952"/>
            <a:ext cx="4206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FD8"/>
            </a:solidFill>
          </a:ln>
          <a:effectLst/>
        </p:spPr>
        <p:txBody>
          <a:bodyPr wrap="square" tIns="0" bIns="0" rtlCol="0" anchor="ctr"/>
          <a:lstStyle/>
          <a:p>
            <a:pPr algn="ctr">
              <a:lnSpc>
                <a:spcPts val="2304"/>
              </a:lnSpc>
              <a:buNone/>
            </a:pPr>
            <a:r>
              <a:rPr lang="en-US" sz="1800" b="0" i="0" noProof="0" dirty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VAT   ·   CIT   ·   PIT   ·   EXCISES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7552944" y="2601632"/>
            <a:ext cx="4206240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ts val="1536"/>
              </a:lnSpc>
              <a:buNone/>
            </a:pPr>
            <a:r>
              <a:rPr lang="en-US" sz="1200" b="1" i="0" spc="90" noProof="0" dirty="0">
                <a:solidFill>
                  <a:srgbClr val="6E7B8B"/>
                </a:solidFill>
                <a:latin typeface="Segoe UI"/>
                <a:ea typeface="Segoe UI"/>
                <a:cs typeface="Segoe UI"/>
              </a:rPr>
              <a:t>STATUTORY DESTINATION</a:t>
            </a:r>
          </a:p>
        </p:txBody>
      </p:sp>
      <p:sp>
        <p:nvSpPr>
          <p:cNvPr id="17" name="Destination"/>
          <p:cNvSpPr/>
          <p:nvPr/>
        </p:nvSpPr>
        <p:spPr>
          <a:xfrm>
            <a:off x="7552944" y="2875952"/>
            <a:ext cx="4206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FD8"/>
            </a:solidFill>
          </a:ln>
          <a:effectLst/>
        </p:spPr>
        <p:txBody>
          <a:bodyPr wrap="square" tIns="0" bIns="0" rtlCol="0" anchor="ctr"/>
          <a:lstStyle/>
          <a:p>
            <a:pPr algn="ctr">
              <a:lnSpc>
                <a:spcPts val="2304"/>
              </a:lnSpc>
              <a:buNone/>
            </a:pPr>
            <a:r>
              <a:rPr lang="en-US" sz="1800" b="0" i="0" noProof="0" dirty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recipient / purpose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718304" y="3287432"/>
            <a:ext cx="731520" cy="0"/>
          </a:xfrm>
          <a:prstGeom prst="line">
            <a:avLst/>
          </a:prstGeom>
          <a:ln w="19050">
            <a:solidFill>
              <a:srgbClr val="6E7B8B"/>
            </a:solidFill>
            <a:tailEnd type="triangle" w="med" len="med"/>
          </a:ln>
        </p:spPr>
      </p:cxnSp>
      <p:cxnSp>
        <p:nvCxnSpPr>
          <p:cNvPr id="21" name="Connector 20"/>
          <p:cNvCxnSpPr/>
          <p:nvPr/>
        </p:nvCxnSpPr>
        <p:spPr>
          <a:xfrm>
            <a:off x="6729984" y="3287432"/>
            <a:ext cx="731520" cy="0"/>
          </a:xfrm>
          <a:prstGeom prst="line">
            <a:avLst/>
          </a:prstGeom>
          <a:ln w="19050">
            <a:solidFill>
              <a:srgbClr val="6E7B8B"/>
            </a:solidFill>
            <a:tailEnd type="triangle" w="med" len="med"/>
          </a:ln>
        </p:spPr>
      </p:cxnSp>
      <p:sp>
        <p:nvSpPr>
          <p:cNvPr id="22" name="Missing link"/>
          <p:cNvSpPr/>
          <p:nvPr/>
        </p:nvSpPr>
        <p:spPr>
          <a:xfrm>
            <a:off x="5541264" y="2875952"/>
            <a:ext cx="1097280" cy="822960"/>
          </a:xfrm>
          <a:prstGeom prst="rect">
            <a:avLst/>
          </a:prstGeom>
          <a:solidFill>
            <a:srgbClr val="FFFFFF"/>
          </a:solidFill>
          <a:ln w="28575">
            <a:solidFill>
              <a:srgbClr val="FCB415"/>
            </a:solidFill>
          </a:ln>
          <a:effectLst/>
        </p:spPr>
        <p:txBody>
          <a:bodyPr wrap="square" tIns="0" bIns="0" rtlCol="0" anchor="ctr"/>
          <a:lstStyle/>
          <a:p>
            <a:pPr algn="ctr">
              <a:lnSpc>
                <a:spcPts val="5632"/>
              </a:lnSpc>
              <a:buNone/>
            </a:pPr>
            <a:r>
              <a:rPr lang="en-US" sz="4400" b="1" i="0" noProof="0" dirty="0">
                <a:solidFill>
                  <a:srgbClr val="FCB415"/>
                </a:solidFill>
                <a:latin typeface="Segoe UI"/>
                <a:ea typeface="Segoe UI"/>
                <a:cs typeface="Segoe UI"/>
              </a:rPr>
              <a:t>?</a:t>
            </a:r>
          </a:p>
        </p:txBody>
      </p:sp>
      <p:sp>
        <p:nvSpPr>
          <p:cNvPr id="26" name="Novelty claim"/>
          <p:cNvSpPr txBox="1"/>
          <p:nvPr/>
        </p:nvSpPr>
        <p:spPr>
          <a:xfrm>
            <a:off x="428854" y="4369412"/>
            <a:ext cx="11338560" cy="8961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304"/>
              </a:lnSpc>
              <a:buNone/>
            </a:pPr>
            <a:r>
              <a:rPr lang="en-US" b="0" i="0" noProof="0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ea typeface="Segoe UI Semibold"/>
                <a:cs typeface="Segoe UI" panose="020B0502040204020203" pitchFamily="34" charset="0"/>
              </a:rPr>
              <a:t>In the literature, we find no comparable cross-country legal inventory for SSA that provides an instrument level denominator and statutory source to destination mapping.</a:t>
            </a:r>
          </a:p>
        </p:txBody>
      </p:sp>
      <p:sp>
        <p:nvSpPr>
          <p:cNvPr id="31" name="Read-out">
            <a:extLst>
              <a:ext uri="{FF2B5EF4-FFF2-40B4-BE49-F238E27FC236}">
                <a16:creationId xmlns:a16="http://schemas.microsoft.com/office/drawing/2014/main" id="{760BE875-DC5C-0368-2D9D-5F59E5DEE092}"/>
              </a:ext>
            </a:extLst>
          </p:cNvPr>
          <p:cNvSpPr txBox="1"/>
          <p:nvPr/>
        </p:nvSpPr>
        <p:spPr>
          <a:xfrm>
            <a:off x="1698464" y="5116164"/>
            <a:ext cx="8782879" cy="117185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2560"/>
              </a:lnSpc>
            </a:pPr>
            <a:r>
              <a:rPr lang="en-US" noProof="0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ea typeface="Segoe UI Semibold"/>
                <a:cs typeface="Segoe UI" panose="020B0502040204020203" pitchFamily="34" charset="0"/>
              </a:rPr>
              <a:t>We build database covering </a:t>
            </a:r>
            <a:r>
              <a:rPr lang="en-US" noProof="0" dirty="0">
                <a:solidFill>
                  <a:srgbClr val="007DB6"/>
                </a:solidFill>
                <a:latin typeface="Segoe UI Semibold" panose="020B0702040204020203" pitchFamily="34" charset="0"/>
                <a:ea typeface="Segoe UI Semibold"/>
                <a:cs typeface="Segoe UI Semibold" panose="020B0702040204020203" pitchFamily="34" charset="0"/>
              </a:rPr>
              <a:t>19</a:t>
            </a:r>
            <a:r>
              <a:rPr lang="en-US" noProof="0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ea typeface="Segoe UI Semibold"/>
                <a:cs typeface="Segoe UI" panose="020B0502040204020203" pitchFamily="34" charset="0"/>
              </a:rPr>
              <a:t> countries, </a:t>
            </a:r>
            <a:r>
              <a:rPr lang="en-US" noProof="0" dirty="0">
                <a:solidFill>
                  <a:srgbClr val="007DB6"/>
                </a:solidFill>
                <a:latin typeface="Segoe UI Semibold" panose="020B0702040204020203" pitchFamily="34" charset="0"/>
                <a:ea typeface="Segoe UI Semibold"/>
                <a:cs typeface="Segoe UI Semibold" panose="020B0702040204020203" pitchFamily="34" charset="0"/>
              </a:rPr>
              <a:t>435</a:t>
            </a:r>
            <a:r>
              <a:rPr lang="en-US" noProof="0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ea typeface="Segoe UI Semibold"/>
                <a:cs typeface="Segoe UI" panose="020B0502040204020203" pitchFamily="34" charset="0"/>
              </a:rPr>
              <a:t> assigned revenue instruments</a:t>
            </a:r>
          </a:p>
          <a:p>
            <a:pPr>
              <a:lnSpc>
                <a:spcPts val="2560"/>
              </a:lnSpc>
            </a:pPr>
            <a:endParaRPr lang="en-US" noProof="0" dirty="0">
              <a:solidFill>
                <a:schemeClr val="bg2">
                  <a:lumMod val="10000"/>
                </a:schemeClr>
              </a:solidFill>
              <a:latin typeface="Segoe UI" panose="020B0502040204020203" pitchFamily="34" charset="0"/>
              <a:ea typeface="Segoe UI Semibold"/>
              <a:cs typeface="Segoe UI" panose="020B0502040204020203" pitchFamily="34" charset="0"/>
            </a:endParaRPr>
          </a:p>
          <a:p>
            <a:pPr marL="800100" lvl="1" indent="-342900">
              <a:lnSpc>
                <a:spcPts val="2560"/>
              </a:lnSpc>
              <a:buFont typeface="Arial" panose="020B0604020202020204" pitchFamily="34" charset="0"/>
              <a:buChar char="→"/>
            </a:pPr>
            <a:r>
              <a:rPr lang="en-US" noProof="0" dirty="0">
                <a:solidFill>
                  <a:srgbClr val="007DB6"/>
                </a:solidFill>
                <a:latin typeface="Segoe UI Semibold" panose="020B0702040204020203" pitchFamily="34" charset="0"/>
                <a:ea typeface="Segoe UI Semibold"/>
                <a:cs typeface="Segoe UI Semibold" panose="020B0702040204020203" pitchFamily="34" charset="0"/>
              </a:rPr>
              <a:t>209</a:t>
            </a:r>
            <a:r>
              <a:rPr lang="en-US" noProof="0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ea typeface="Segoe UI Semibold"/>
                <a:cs typeface="Segoe UI" panose="020B0502040204020203" pitchFamily="34" charset="0"/>
              </a:rPr>
              <a:t> earmarked instruments and </a:t>
            </a:r>
            <a:r>
              <a:rPr lang="en-US" noProof="0" dirty="0">
                <a:solidFill>
                  <a:srgbClr val="007DB6"/>
                </a:solidFill>
                <a:latin typeface="Segoe UI Semibold" panose="020B0702040204020203" pitchFamily="34" charset="0"/>
                <a:ea typeface="Segoe UI Semibold"/>
                <a:cs typeface="Segoe UI Semibold" panose="020B0702040204020203" pitchFamily="34" charset="0"/>
              </a:rPr>
              <a:t>433 </a:t>
            </a:r>
            <a:r>
              <a:rPr lang="en-US" noProof="0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ea typeface="Segoe UI Semibold"/>
                <a:cs typeface="Segoe UI" panose="020B0502040204020203" pitchFamily="34" charset="0"/>
              </a:rPr>
              <a:t>allocation channels attached to them</a:t>
            </a:r>
          </a:p>
          <a:p>
            <a:pPr algn="l">
              <a:lnSpc>
                <a:spcPts val="2560"/>
              </a:lnSpc>
              <a:buNone/>
            </a:pPr>
            <a:endParaRPr lang="en-US" b="0" i="0" noProof="0" dirty="0">
              <a:solidFill>
                <a:schemeClr val="bg2">
                  <a:lumMod val="10000"/>
                </a:schemeClr>
              </a:solidFill>
              <a:latin typeface="Segoe UI" panose="020B0502040204020203" pitchFamily="34" charset="0"/>
              <a:ea typeface="Segoe UI Semibold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utcome box">
            <a:extLst>
              <a:ext uri="{FF2B5EF4-FFF2-40B4-BE49-F238E27FC236}">
                <a16:creationId xmlns:a16="http://schemas.microsoft.com/office/drawing/2014/main" id="{3A245F87-D676-6308-E801-335370EB80C4}"/>
              </a:ext>
            </a:extLst>
          </p:cNvPr>
          <p:cNvSpPr txBox="1"/>
          <p:nvPr/>
        </p:nvSpPr>
        <p:spPr>
          <a:xfrm>
            <a:off x="7721600" y="1676399"/>
            <a:ext cx="4051300" cy="2276599"/>
          </a:xfrm>
          <a:prstGeom prst="rect">
            <a:avLst/>
          </a:prstGeom>
          <a:solidFill>
            <a:srgbClr val="EAF2FA"/>
          </a:solidFill>
          <a:ln w="19050">
            <a:solidFill>
              <a:srgbClr val="007DB6"/>
            </a:solidFill>
          </a:ln>
        </p:spPr>
        <p:txBody>
          <a:bodyPr wrap="square" lIns="177800" tIns="152400" rIns="17780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1600" b="1" i="0" noProof="0" dirty="0">
                <a:solidFill>
                  <a:srgbClr val="003262"/>
                </a:solidFill>
                <a:latin typeface="Segoe UI"/>
                <a:cs typeface="Segoe UI"/>
              </a:rPr>
              <a:t>Earmarked channel</a:t>
            </a:r>
          </a:p>
        </p:txBody>
      </p:sp>
      <p:sp>
        <p:nvSpPr>
          <p:cNvPr id="22" name="Shape 0">
            <a:extLst>
              <a:ext uri="{FF2B5EF4-FFF2-40B4-BE49-F238E27FC236}">
                <a16:creationId xmlns:a16="http://schemas.microsoft.com/office/drawing/2014/main" id="{0A0E3B73-DA16-4A9C-A7E0-D58427C72338}"/>
              </a:ext>
            </a:extLst>
          </p:cNvPr>
          <p:cNvSpPr/>
          <p:nvPr/>
        </p:nvSpPr>
        <p:spPr>
          <a:xfrm>
            <a:off x="0" y="0"/>
            <a:ext cx="12191695" cy="558284"/>
          </a:xfrm>
          <a:prstGeom prst="rect">
            <a:avLst/>
          </a:prstGeom>
          <a:solidFill>
            <a:srgbClr val="003262"/>
          </a:solidFill>
          <a:ln w="12700">
            <a:solidFill>
              <a:srgbClr val="003262"/>
            </a:solidFill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4" name="Shape 1">
            <a:extLst>
              <a:ext uri="{FF2B5EF4-FFF2-40B4-BE49-F238E27FC236}">
                <a16:creationId xmlns:a16="http://schemas.microsoft.com/office/drawing/2014/main" id="{44FEC428-6005-DD22-580A-CB7FDEBA94D7}"/>
              </a:ext>
            </a:extLst>
          </p:cNvPr>
          <p:cNvSpPr/>
          <p:nvPr/>
        </p:nvSpPr>
        <p:spPr>
          <a:xfrm>
            <a:off x="0" y="554844"/>
            <a:ext cx="12191695" cy="64008"/>
          </a:xfrm>
          <a:prstGeom prst="rect">
            <a:avLst/>
          </a:prstGeom>
          <a:solidFill>
            <a:srgbClr val="007DB6"/>
          </a:solidFill>
          <a:ln w="12700">
            <a:noFill/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6" name="Shape 2">
            <a:extLst>
              <a:ext uri="{FF2B5EF4-FFF2-40B4-BE49-F238E27FC236}">
                <a16:creationId xmlns:a16="http://schemas.microsoft.com/office/drawing/2014/main" id="{584F719E-F5EC-A092-5CA6-DB831034E990}"/>
              </a:ext>
            </a:extLst>
          </p:cNvPr>
          <p:cNvSpPr/>
          <p:nvPr/>
        </p:nvSpPr>
        <p:spPr>
          <a:xfrm>
            <a:off x="0" y="554846"/>
            <a:ext cx="1554480" cy="64008"/>
          </a:xfrm>
          <a:prstGeom prst="rect">
            <a:avLst/>
          </a:prstGeom>
          <a:solidFill>
            <a:srgbClr val="FCB415"/>
          </a:solidFill>
          <a:ln w="12700">
            <a:noFill/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708893" y="15983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kern="0" spc="120" noProof="0" dirty="0">
                <a:solidFill>
                  <a:srgbClr val="009CDE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Taxonomy</a:t>
            </a:r>
            <a:endParaRPr lang="en-US" sz="1600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24707" y="40966"/>
            <a:ext cx="10424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noProof="0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Operational definition of an earmark </a:t>
            </a:r>
            <a:endParaRPr lang="en-US" sz="2400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4" name="Shape 0">
            <a:extLst>
              <a:ext uri="{FF2B5EF4-FFF2-40B4-BE49-F238E27FC236}">
                <a16:creationId xmlns:a16="http://schemas.microsoft.com/office/drawing/2014/main" id="{76A6A9B4-648E-9E6C-1D03-5F2F22FD20C4}"/>
              </a:ext>
            </a:extLst>
          </p:cNvPr>
          <p:cNvSpPr/>
          <p:nvPr/>
        </p:nvSpPr>
        <p:spPr>
          <a:xfrm>
            <a:off x="305" y="6593257"/>
            <a:ext cx="12191695" cy="274321"/>
          </a:xfrm>
          <a:prstGeom prst="rect">
            <a:avLst/>
          </a:prstGeom>
          <a:solidFill>
            <a:srgbClr val="003262"/>
          </a:solidFill>
          <a:ln w="12700">
            <a:solidFill>
              <a:srgbClr val="004C97"/>
            </a:solidFill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85534" y="6573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noProof="0" dirty="0">
                <a:solidFill>
                  <a:schemeClr val="bg1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International Monetary Fund   |   African Department</a:t>
            </a:r>
            <a:endParaRPr lang="en-US" sz="1000" noProof="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6" name="Text 5">
            <a:extLst>
              <a:ext uri="{FF2B5EF4-FFF2-40B4-BE49-F238E27FC236}">
                <a16:creationId xmlns:a16="http://schemas.microsoft.com/office/drawing/2014/main" id="{87A9D14E-7E0B-387B-429B-DFD31A963C1F}"/>
              </a:ext>
            </a:extLst>
          </p:cNvPr>
          <p:cNvSpPr/>
          <p:nvPr/>
        </p:nvSpPr>
        <p:spPr>
          <a:xfrm>
            <a:off x="11677574" y="6570277"/>
            <a:ext cx="3257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noProof="0">
                <a:solidFill>
                  <a:srgbClr val="FFFFFF"/>
                </a:solidFill>
                <a:latin typeface="Segoe UI"/>
                <a:cs typeface="Segoe UI"/>
              </a:rPr>
              <a:t>8</a:t>
            </a:r>
            <a:endParaRPr lang="en-US" sz="1200" noProof="0" dirty="0">
              <a:solidFill>
                <a:srgbClr val="FFFFFF"/>
              </a:solidFill>
              <a:latin typeface="Segoe UI"/>
              <a:cs typeface="Segoe UI"/>
            </a:endParaRPr>
          </a:p>
        </p:txBody>
      </p:sp>
      <p:sp>
        <p:nvSpPr>
          <p:cNvPr id="800" name="Start box"/>
          <p:cNvSpPr txBox="1"/>
          <p:nvPr/>
        </p:nvSpPr>
        <p:spPr>
          <a:xfrm>
            <a:off x="419100" y="1930400"/>
            <a:ext cx="2540000" cy="812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3262"/>
            </a:solidFill>
          </a:ln>
        </p:spPr>
        <p:txBody>
          <a:bodyPr wrap="square" lIns="127000" tIns="0" rIns="127000" bIns="0" anchor="ctr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600" b="1" i="0" noProof="0" dirty="0">
                <a:solidFill>
                  <a:srgbClr val="003262"/>
                </a:solidFill>
                <a:latin typeface="Segoe UI"/>
                <a:cs typeface="Segoe UI"/>
              </a:rPr>
              <a:t>Statutory clauses assigning proceeds</a:t>
            </a:r>
          </a:p>
        </p:txBody>
      </p:sp>
      <p:sp>
        <p:nvSpPr>
          <p:cNvPr id="801" name="Flow A"/>
          <p:cNvSpPr/>
          <p:nvPr/>
        </p:nvSpPr>
        <p:spPr>
          <a:xfrm>
            <a:off x="2959100" y="2336800"/>
            <a:ext cx="825500" cy="0"/>
          </a:xfrm>
          <a:prstGeom prst="line">
            <a:avLst/>
          </a:prstGeom>
          <a:ln w="19050">
            <a:solidFill>
              <a:srgbClr val="007DB6"/>
            </a:solidFill>
            <a:tailEnd type="triangle" w="med" len="med"/>
          </a:ln>
        </p:spPr>
        <p:txBody>
          <a:bodyPr/>
          <a:lstStyle/>
          <a:p>
            <a:endParaRPr lang="en-US" sz="1600" noProof="0" dirty="0"/>
          </a:p>
        </p:txBody>
      </p:sp>
      <p:sp>
        <p:nvSpPr>
          <p:cNvPr id="802" name="Gate 1 label"/>
          <p:cNvSpPr txBox="1"/>
          <p:nvPr/>
        </p:nvSpPr>
        <p:spPr>
          <a:xfrm>
            <a:off x="2971800" y="1219200"/>
            <a:ext cx="2032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600" b="1" i="0" noProof="0" dirty="0">
                <a:solidFill>
                  <a:srgbClr val="003262"/>
                </a:solidFill>
                <a:latin typeface="Segoe UI"/>
                <a:cs typeface="Segoe UI"/>
              </a:rPr>
              <a:t>Is the payment requited?</a:t>
            </a:r>
          </a:p>
        </p:txBody>
      </p:sp>
      <p:sp>
        <p:nvSpPr>
          <p:cNvPr id="803" name="Gate 1"/>
          <p:cNvSpPr txBox="1"/>
          <p:nvPr/>
        </p:nvSpPr>
        <p:spPr>
          <a:xfrm>
            <a:off x="3835400" y="2184400"/>
            <a:ext cx="304800" cy="304800"/>
          </a:xfrm>
          <a:prstGeom prst="ellipse">
            <a:avLst/>
          </a:prstGeom>
          <a:solidFill>
            <a:srgbClr val="003262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100" b="1" i="0" noProof="0" dirty="0">
                <a:solidFill>
                  <a:srgbClr val="FFFFFF"/>
                </a:solidFill>
                <a:latin typeface="Segoe UI"/>
                <a:cs typeface="Segoe UI"/>
              </a:rPr>
              <a:t>1</a:t>
            </a:r>
          </a:p>
        </p:txBody>
      </p:sp>
      <p:sp>
        <p:nvSpPr>
          <p:cNvPr id="804" name="Gate 1 exit"/>
          <p:cNvSpPr/>
          <p:nvPr/>
        </p:nvSpPr>
        <p:spPr>
          <a:xfrm>
            <a:off x="3987800" y="2514600"/>
            <a:ext cx="0" cy="1625600"/>
          </a:xfrm>
          <a:prstGeom prst="line">
            <a:avLst/>
          </a:prstGeom>
          <a:ln w="12700">
            <a:solidFill>
              <a:srgbClr val="4A5560"/>
            </a:solidFill>
            <a:prstDash val="dash"/>
            <a:tailEnd type="triangle" w="med" len="med"/>
          </a:ln>
        </p:spPr>
        <p:txBody>
          <a:bodyPr/>
          <a:lstStyle/>
          <a:p>
            <a:endParaRPr lang="en-US" sz="1600" noProof="0" dirty="0"/>
          </a:p>
        </p:txBody>
      </p:sp>
      <p:sp>
        <p:nvSpPr>
          <p:cNvPr id="805" name="Gate 1 exit label"/>
          <p:cNvSpPr txBox="1"/>
          <p:nvPr/>
        </p:nvSpPr>
        <p:spPr>
          <a:xfrm>
            <a:off x="3183465" y="3291486"/>
            <a:ext cx="1524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1600" b="0" i="1" noProof="0" dirty="0">
                <a:solidFill>
                  <a:srgbClr val="4A5560"/>
                </a:solidFill>
                <a:latin typeface="Segoe UI"/>
                <a:cs typeface="Segoe UI"/>
              </a:rPr>
              <a:t>requited</a:t>
            </a:r>
          </a:p>
        </p:txBody>
      </p:sp>
      <p:sp>
        <p:nvSpPr>
          <p:cNvPr id="806" name="Flow B"/>
          <p:cNvSpPr/>
          <p:nvPr/>
        </p:nvSpPr>
        <p:spPr>
          <a:xfrm>
            <a:off x="4165600" y="2336800"/>
            <a:ext cx="1981200" cy="0"/>
          </a:xfrm>
          <a:prstGeom prst="line">
            <a:avLst/>
          </a:prstGeom>
          <a:ln w="19050">
            <a:solidFill>
              <a:srgbClr val="007DB6"/>
            </a:solidFill>
            <a:tailEnd type="triangle" w="med" len="med"/>
          </a:ln>
        </p:spPr>
        <p:txBody>
          <a:bodyPr/>
          <a:lstStyle/>
          <a:p>
            <a:endParaRPr lang="en-US" sz="1600" noProof="0" dirty="0"/>
          </a:p>
        </p:txBody>
      </p:sp>
      <p:sp>
        <p:nvSpPr>
          <p:cNvPr id="807" name="Gate 2 label"/>
          <p:cNvSpPr txBox="1"/>
          <p:nvPr/>
        </p:nvSpPr>
        <p:spPr>
          <a:xfrm>
            <a:off x="5168900" y="1219200"/>
            <a:ext cx="2413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600" b="1" i="0" noProof="0" dirty="0">
                <a:solidFill>
                  <a:srgbClr val="003262"/>
                </a:solidFill>
                <a:latin typeface="Segoe UI"/>
                <a:cs typeface="Segoe UI"/>
              </a:rPr>
              <a:t>Does the law restrict what the proceeds may finance?</a:t>
            </a:r>
          </a:p>
        </p:txBody>
      </p:sp>
      <p:sp>
        <p:nvSpPr>
          <p:cNvPr id="808" name="Gate 2"/>
          <p:cNvSpPr txBox="1"/>
          <p:nvPr/>
        </p:nvSpPr>
        <p:spPr>
          <a:xfrm>
            <a:off x="6223000" y="2184400"/>
            <a:ext cx="304800" cy="304800"/>
          </a:xfrm>
          <a:prstGeom prst="ellipse">
            <a:avLst/>
          </a:prstGeom>
          <a:solidFill>
            <a:srgbClr val="003262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100" b="1" i="0" noProof="0" dirty="0">
                <a:solidFill>
                  <a:srgbClr val="FFFFFF"/>
                </a:solidFill>
                <a:latin typeface="Segoe UI"/>
                <a:cs typeface="Segoe UI"/>
              </a:rPr>
              <a:t>2</a:t>
            </a:r>
          </a:p>
        </p:txBody>
      </p:sp>
      <p:sp>
        <p:nvSpPr>
          <p:cNvPr id="809" name="Gate 2 exit"/>
          <p:cNvSpPr/>
          <p:nvPr/>
        </p:nvSpPr>
        <p:spPr>
          <a:xfrm>
            <a:off x="6375400" y="2514600"/>
            <a:ext cx="0" cy="1625600"/>
          </a:xfrm>
          <a:prstGeom prst="line">
            <a:avLst/>
          </a:prstGeom>
          <a:ln w="12700">
            <a:solidFill>
              <a:srgbClr val="4A5560"/>
            </a:solidFill>
            <a:prstDash val="dash"/>
            <a:tailEnd type="triangle" w="med" len="med"/>
          </a:ln>
        </p:spPr>
        <p:txBody>
          <a:bodyPr/>
          <a:lstStyle/>
          <a:p>
            <a:endParaRPr lang="en-US" sz="1600" noProof="0" dirty="0"/>
          </a:p>
        </p:txBody>
      </p:sp>
      <p:sp>
        <p:nvSpPr>
          <p:cNvPr id="810" name="Gate 2 exit label"/>
          <p:cNvSpPr txBox="1"/>
          <p:nvPr/>
        </p:nvSpPr>
        <p:spPr>
          <a:xfrm>
            <a:off x="5214093" y="3291486"/>
            <a:ext cx="1524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1600" b="0" i="1" noProof="0" dirty="0">
                <a:solidFill>
                  <a:srgbClr val="4A5560"/>
                </a:solidFill>
                <a:latin typeface="Segoe UI"/>
                <a:cs typeface="Segoe UI"/>
              </a:rPr>
              <a:t>unrestricted</a:t>
            </a:r>
          </a:p>
        </p:txBody>
      </p:sp>
      <p:sp>
        <p:nvSpPr>
          <p:cNvPr id="811" name="Flow C"/>
          <p:cNvSpPr/>
          <p:nvPr/>
        </p:nvSpPr>
        <p:spPr>
          <a:xfrm>
            <a:off x="6587068" y="2336800"/>
            <a:ext cx="965200" cy="0"/>
          </a:xfrm>
          <a:prstGeom prst="line">
            <a:avLst/>
          </a:prstGeom>
          <a:ln w="19050">
            <a:solidFill>
              <a:srgbClr val="007DB6"/>
            </a:solidFill>
            <a:tailEnd type="triangle" w="med" len="med"/>
          </a:ln>
        </p:spPr>
        <p:txBody>
          <a:bodyPr/>
          <a:lstStyle/>
          <a:p>
            <a:endParaRPr lang="en-US" sz="1600" noProof="0" dirty="0"/>
          </a:p>
        </p:txBody>
      </p:sp>
      <p:sp>
        <p:nvSpPr>
          <p:cNvPr id="814" name="Outcome body"/>
          <p:cNvSpPr txBox="1"/>
          <p:nvPr/>
        </p:nvSpPr>
        <p:spPr>
          <a:xfrm>
            <a:off x="7899400" y="2286000"/>
            <a:ext cx="36957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US" sz="1600" b="0" i="0" noProof="0" dirty="0">
                <a:solidFill>
                  <a:srgbClr val="1A1A1A"/>
                </a:solidFill>
                <a:latin typeface="Segoe UI"/>
                <a:cs typeface="Segoe UI"/>
              </a:rPr>
              <a:t>Proceeds restricted by law to a stated function — a fund, an agency's mandate, or a </a:t>
            </a:r>
            <a:r>
              <a:rPr lang="en-US" sz="1600" b="0" i="0" noProof="0" dirty="0" err="1">
                <a:solidFill>
                  <a:srgbClr val="1A1A1A"/>
                </a:solidFill>
                <a:latin typeface="Segoe UI"/>
                <a:cs typeface="Segoe UI"/>
              </a:rPr>
              <a:t>programme</a:t>
            </a:r>
            <a:r>
              <a:rPr lang="en-US" sz="1600" b="0" i="0" noProof="0" dirty="0">
                <a:solidFill>
                  <a:srgbClr val="1A1A1A"/>
                </a:solidFill>
                <a:latin typeface="Segoe UI"/>
                <a:cs typeface="Segoe UI"/>
              </a:rPr>
              <a:t> — at any level of government.</a:t>
            </a:r>
          </a:p>
        </p:txBody>
      </p:sp>
      <p:sp>
        <p:nvSpPr>
          <p:cNvPr id="816" name="Screened label"/>
          <p:cNvSpPr txBox="1"/>
          <p:nvPr/>
        </p:nvSpPr>
        <p:spPr>
          <a:xfrm>
            <a:off x="622300" y="4436536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1400" i="0" spc="80" noProof="0" dirty="0">
                <a:solidFill>
                  <a:srgbClr val="007DB6"/>
                </a:solidFill>
                <a:latin typeface="Segoe UI"/>
                <a:cs typeface="Segoe UI"/>
              </a:rPr>
              <a:t>REMOVED BY THE SCREENS</a:t>
            </a:r>
          </a:p>
        </p:txBody>
      </p:sp>
      <p:sp>
        <p:nvSpPr>
          <p:cNvPr id="818" name="Screened 1 title"/>
          <p:cNvSpPr txBox="1"/>
          <p:nvPr/>
        </p:nvSpPr>
        <p:spPr>
          <a:xfrm>
            <a:off x="622300" y="4724400"/>
            <a:ext cx="5080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1600" b="1" i="0" noProof="0" dirty="0">
                <a:solidFill>
                  <a:srgbClr val="003262"/>
                </a:solidFill>
                <a:latin typeface="Segoe UI"/>
                <a:cs typeface="Segoe UI"/>
              </a:rPr>
              <a:t>Cost recovery</a:t>
            </a:r>
          </a:p>
        </p:txBody>
      </p:sp>
      <p:sp>
        <p:nvSpPr>
          <p:cNvPr id="819" name="Screened 1 body"/>
          <p:cNvSpPr txBox="1"/>
          <p:nvPr/>
        </p:nvSpPr>
        <p:spPr>
          <a:xfrm>
            <a:off x="622300" y="5105400"/>
            <a:ext cx="50800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US" sz="1600" b="0" i="0" noProof="0" dirty="0">
                <a:solidFill>
                  <a:srgbClr val="1A1A1A"/>
                </a:solidFill>
                <a:latin typeface="Segoe UI"/>
                <a:cs typeface="Segoe UI"/>
              </a:rPr>
              <a:t>A price for a service, not a dedication of revenue.</a:t>
            </a:r>
          </a:p>
        </p:txBody>
      </p:sp>
      <p:sp>
        <p:nvSpPr>
          <p:cNvPr id="820" name="Screened 2 title"/>
          <p:cNvSpPr txBox="1"/>
          <p:nvPr/>
        </p:nvSpPr>
        <p:spPr>
          <a:xfrm>
            <a:off x="6350000" y="4724400"/>
            <a:ext cx="520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1600" b="1" i="0" noProof="0" dirty="0">
                <a:solidFill>
                  <a:srgbClr val="003262"/>
                </a:solidFill>
                <a:latin typeface="Segoe UI"/>
                <a:cs typeface="Segoe UI"/>
              </a:rPr>
              <a:t>Unrestricted assignment</a:t>
            </a:r>
          </a:p>
        </p:txBody>
      </p:sp>
      <p:sp>
        <p:nvSpPr>
          <p:cNvPr id="821" name="Screened 2 body"/>
          <p:cNvSpPr txBox="1"/>
          <p:nvPr/>
        </p:nvSpPr>
        <p:spPr>
          <a:xfrm>
            <a:off x="6350000" y="5105400"/>
            <a:ext cx="52070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US" sz="1600" b="0" i="0" noProof="0" dirty="0">
                <a:solidFill>
                  <a:srgbClr val="1A1A1A"/>
                </a:solidFill>
                <a:latin typeface="Segoe UI"/>
                <a:cs typeface="Segoe UI"/>
              </a:rPr>
              <a:t>The proceeds move, but nothing constrains what they finance: general budget</a:t>
            </a:r>
          </a:p>
        </p:txBody>
      </p:sp>
      <p:sp>
        <p:nvSpPr>
          <p:cNvPr id="860" name="Outcome note"/>
          <p:cNvSpPr txBox="1"/>
          <p:nvPr/>
        </p:nvSpPr>
        <p:spPr>
          <a:xfrm>
            <a:off x="7899400" y="3454400"/>
            <a:ext cx="36957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buNone/>
            </a:pPr>
            <a:r>
              <a:rPr lang="en-US" sz="1600" i="1" noProof="0" dirty="0">
                <a:solidFill>
                  <a:srgbClr val="00679E"/>
                </a:solidFill>
                <a:latin typeface="Segoe UI"/>
              </a:rPr>
              <a:t>The only branch retained as an earmark.</a:t>
            </a:r>
          </a:p>
        </p:txBody>
      </p:sp>
    </p:spTree>
    <p:extLst>
      <p:ext uri="{BB962C8B-B14F-4D97-AF65-F5344CB8AC3E}">
        <p14:creationId xmlns:p14="http://schemas.microsoft.com/office/powerpoint/2010/main" val="32031524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E0C38-5D2F-43A6-2874-11DADC9CD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0">
            <a:extLst>
              <a:ext uri="{FF2B5EF4-FFF2-40B4-BE49-F238E27FC236}">
                <a16:creationId xmlns:a16="http://schemas.microsoft.com/office/drawing/2014/main" id="{EFA5E9D0-073A-A603-CC78-C2FB7F49B638}"/>
              </a:ext>
            </a:extLst>
          </p:cNvPr>
          <p:cNvSpPr/>
          <p:nvPr/>
        </p:nvSpPr>
        <p:spPr>
          <a:xfrm>
            <a:off x="0" y="0"/>
            <a:ext cx="12191695" cy="558284"/>
          </a:xfrm>
          <a:prstGeom prst="rect">
            <a:avLst/>
          </a:prstGeom>
          <a:solidFill>
            <a:srgbClr val="003262"/>
          </a:solidFill>
          <a:ln w="12700">
            <a:solidFill>
              <a:srgbClr val="003262"/>
            </a:solidFill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4" name="Shape 1">
            <a:extLst>
              <a:ext uri="{FF2B5EF4-FFF2-40B4-BE49-F238E27FC236}">
                <a16:creationId xmlns:a16="http://schemas.microsoft.com/office/drawing/2014/main" id="{C92B16C7-5E8E-8091-E84C-4C34D847F8EF}"/>
              </a:ext>
            </a:extLst>
          </p:cNvPr>
          <p:cNvSpPr/>
          <p:nvPr/>
        </p:nvSpPr>
        <p:spPr>
          <a:xfrm>
            <a:off x="0" y="554844"/>
            <a:ext cx="12191695" cy="64008"/>
          </a:xfrm>
          <a:prstGeom prst="rect">
            <a:avLst/>
          </a:prstGeom>
          <a:solidFill>
            <a:srgbClr val="007DB6"/>
          </a:solidFill>
          <a:ln w="12700">
            <a:noFill/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6" name="Shape 2">
            <a:extLst>
              <a:ext uri="{FF2B5EF4-FFF2-40B4-BE49-F238E27FC236}">
                <a16:creationId xmlns:a16="http://schemas.microsoft.com/office/drawing/2014/main" id="{E80E20A9-7F9A-717F-4628-F693982F3C00}"/>
              </a:ext>
            </a:extLst>
          </p:cNvPr>
          <p:cNvSpPr/>
          <p:nvPr/>
        </p:nvSpPr>
        <p:spPr>
          <a:xfrm>
            <a:off x="0" y="554846"/>
            <a:ext cx="1554480" cy="64008"/>
          </a:xfrm>
          <a:prstGeom prst="rect">
            <a:avLst/>
          </a:prstGeom>
          <a:solidFill>
            <a:srgbClr val="FCB415"/>
          </a:solidFill>
          <a:ln w="12700">
            <a:noFill/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25911E5-6FEA-1B28-C466-37118310D0C1}"/>
              </a:ext>
            </a:extLst>
          </p:cNvPr>
          <p:cNvSpPr/>
          <p:nvPr/>
        </p:nvSpPr>
        <p:spPr>
          <a:xfrm>
            <a:off x="1708893" y="15983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kern="0" spc="120" noProof="0" dirty="0">
                <a:solidFill>
                  <a:srgbClr val="009CDE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Taxonomy</a:t>
            </a:r>
            <a:endParaRPr lang="en-US" sz="1600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19E58BC-6D25-F2F5-EC30-F35988DDBBF7}"/>
              </a:ext>
            </a:extLst>
          </p:cNvPr>
          <p:cNvSpPr/>
          <p:nvPr/>
        </p:nvSpPr>
        <p:spPr>
          <a:xfrm>
            <a:off x="424707" y="40966"/>
            <a:ext cx="10424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noProof="0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Operational definition of an earmark </a:t>
            </a:r>
            <a:endParaRPr lang="en-US" sz="2400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4" name="Shape 0">
            <a:extLst>
              <a:ext uri="{FF2B5EF4-FFF2-40B4-BE49-F238E27FC236}">
                <a16:creationId xmlns:a16="http://schemas.microsoft.com/office/drawing/2014/main" id="{DC302B3F-6439-2E02-53F3-C695020CB8AA}"/>
              </a:ext>
            </a:extLst>
          </p:cNvPr>
          <p:cNvSpPr/>
          <p:nvPr/>
        </p:nvSpPr>
        <p:spPr>
          <a:xfrm>
            <a:off x="305" y="6593257"/>
            <a:ext cx="12191695" cy="274321"/>
          </a:xfrm>
          <a:prstGeom prst="rect">
            <a:avLst/>
          </a:prstGeom>
          <a:solidFill>
            <a:srgbClr val="003262"/>
          </a:solidFill>
          <a:ln w="12700">
            <a:solidFill>
              <a:srgbClr val="004C97"/>
            </a:solidFill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448D42D-D955-C854-9B66-EB7F86505536}"/>
              </a:ext>
            </a:extLst>
          </p:cNvPr>
          <p:cNvSpPr/>
          <p:nvPr/>
        </p:nvSpPr>
        <p:spPr>
          <a:xfrm>
            <a:off x="285534" y="6573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noProof="0" dirty="0">
                <a:solidFill>
                  <a:schemeClr val="bg1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International Monetary Fund   |   African Department</a:t>
            </a:r>
            <a:endParaRPr lang="en-US" sz="1000" noProof="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6" name="Text 5">
            <a:extLst>
              <a:ext uri="{FF2B5EF4-FFF2-40B4-BE49-F238E27FC236}">
                <a16:creationId xmlns:a16="http://schemas.microsoft.com/office/drawing/2014/main" id="{5CD11AB6-0477-6043-0B54-69A01E06A90F}"/>
              </a:ext>
            </a:extLst>
          </p:cNvPr>
          <p:cNvSpPr/>
          <p:nvPr/>
        </p:nvSpPr>
        <p:spPr>
          <a:xfrm>
            <a:off x="11677574" y="6570277"/>
            <a:ext cx="3257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noProof="0">
                <a:solidFill>
                  <a:srgbClr val="FFFFFF"/>
                </a:solidFill>
                <a:latin typeface="Segoe UI"/>
                <a:cs typeface="Segoe UI"/>
              </a:rPr>
              <a:t>9</a:t>
            </a:r>
            <a:endParaRPr lang="en-US" sz="1200" noProof="0" dirty="0">
              <a:solidFill>
                <a:srgbClr val="FFFFFF"/>
              </a:solidFill>
              <a:latin typeface="Segoe UI"/>
              <a:cs typeface="Segoe UI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26AF590-186F-6EAC-5043-155A5FA4E3BC}"/>
              </a:ext>
            </a:extLst>
          </p:cNvPr>
          <p:cNvSpPr/>
          <p:nvPr/>
        </p:nvSpPr>
        <p:spPr>
          <a:xfrm>
            <a:off x="406399" y="987325"/>
            <a:ext cx="5473701" cy="5295322"/>
          </a:xfrm>
          <a:prstGeom prst="rect">
            <a:avLst/>
          </a:prstGeom>
          <a:solidFill>
            <a:srgbClr val="F2F5F8"/>
          </a:solidFill>
          <a:ln w="12700">
            <a:solidFill>
              <a:srgbClr val="D6E0EA"/>
            </a:solidFill>
          </a:ln>
        </p:spPr>
        <p:txBody>
          <a:bodyPr wrap="square" lIns="152400" tIns="127000" rIns="152400" bIns="0" anchor="t">
            <a:noAutofit/>
          </a:bodyPr>
          <a:lstStyle/>
          <a:p>
            <a:r>
              <a:rPr lang="en-US" b="1" noProof="0" dirty="0">
                <a:solidFill>
                  <a:srgbClr val="003262"/>
                </a:solidFill>
                <a:latin typeface="Segoe UI"/>
                <a:cs typeface="Segoe UI"/>
              </a:rPr>
              <a:t>Revenue instrument assigned, use unrestricted</a:t>
            </a:r>
          </a:p>
          <a:p>
            <a:r>
              <a:rPr lang="en-US" noProof="0" dirty="0">
                <a:solidFill>
                  <a:schemeClr val="bg2">
                    <a:lumMod val="25000"/>
                  </a:schemeClr>
                </a:solidFill>
                <a:latin typeface="Segoe UI"/>
                <a:cs typeface="Segoe UI"/>
              </a:rPr>
              <a:t>The law names a destination but not a purpose revenue sharing, transfers to territorial tiers</a:t>
            </a:r>
          </a:p>
          <a:p>
            <a:endParaRPr lang="en-US" b="1" noProof="0" dirty="0">
              <a:solidFill>
                <a:srgbClr val="003262"/>
              </a:solidFill>
              <a:latin typeface="Segoe UI"/>
              <a:cs typeface="Segoe UI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59567A7-8385-07C8-13CD-9386F1C856AA}"/>
              </a:ext>
            </a:extLst>
          </p:cNvPr>
          <p:cNvSpPr/>
          <p:nvPr/>
        </p:nvSpPr>
        <p:spPr>
          <a:xfrm>
            <a:off x="667886" y="2407423"/>
            <a:ext cx="4950727" cy="3586214"/>
          </a:xfrm>
          <a:prstGeom prst="rect">
            <a:avLst/>
          </a:prstGeom>
          <a:solidFill>
            <a:srgbClr val="E4EDF5"/>
          </a:solidFill>
          <a:ln w="12700">
            <a:solidFill>
              <a:srgbClr val="D6E0EA"/>
            </a:solidFill>
          </a:ln>
        </p:spPr>
        <p:txBody>
          <a:bodyPr wrap="square" lIns="152400" tIns="127000" rIns="152400" bIns="0" anchor="t">
            <a:noAutofit/>
          </a:bodyPr>
          <a:lstStyle/>
          <a:p>
            <a:r>
              <a:rPr lang="en-US" b="1" noProof="0" dirty="0">
                <a:solidFill>
                  <a:srgbClr val="003262"/>
                </a:solidFill>
                <a:latin typeface="Segoe UI"/>
                <a:cs typeface="Segoe UI"/>
              </a:rPr>
              <a:t>Partial earmark</a:t>
            </a:r>
          </a:p>
          <a:p>
            <a:pPr>
              <a:lnSpc>
                <a:spcPct val="105000"/>
              </a:lnSpc>
              <a:spcBef>
                <a:spcPts val="300"/>
              </a:spcBef>
            </a:pPr>
            <a:r>
              <a:rPr lang="en-US" noProof="0" dirty="0">
                <a:solidFill>
                  <a:srgbClr val="4A5560"/>
                </a:solidFill>
                <a:latin typeface="Segoe UI"/>
                <a:cs typeface="Segoe UI"/>
              </a:rPr>
              <a:t>Part of the proceeds is tied to a purpose; the rest is not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6FD629D-48FB-8431-C403-A67F2A63D56C}"/>
              </a:ext>
            </a:extLst>
          </p:cNvPr>
          <p:cNvSpPr/>
          <p:nvPr/>
        </p:nvSpPr>
        <p:spPr>
          <a:xfrm>
            <a:off x="859522" y="3906275"/>
            <a:ext cx="4567455" cy="1848783"/>
          </a:xfrm>
          <a:prstGeom prst="rect">
            <a:avLst/>
          </a:prstGeom>
          <a:solidFill>
            <a:srgbClr val="D3E2F0"/>
          </a:solidFill>
          <a:ln w="15875">
            <a:solidFill>
              <a:srgbClr val="003262"/>
            </a:solidFill>
          </a:ln>
        </p:spPr>
        <p:txBody>
          <a:bodyPr wrap="square" lIns="152400" tIns="127000" rIns="152400" bIns="0" anchor="t">
            <a:noAutofit/>
          </a:bodyPr>
          <a:lstStyle/>
          <a:p>
            <a:r>
              <a:rPr lang="en-US" b="1" noProof="0" dirty="0">
                <a:solidFill>
                  <a:srgbClr val="003262"/>
                </a:solidFill>
                <a:latin typeface="Segoe UI"/>
                <a:cs typeface="Segoe UI"/>
              </a:rPr>
              <a:t>Exclusive earmark</a:t>
            </a:r>
          </a:p>
          <a:p>
            <a:pPr>
              <a:lnSpc>
                <a:spcPct val="105000"/>
              </a:lnSpc>
              <a:spcBef>
                <a:spcPts val="300"/>
              </a:spcBef>
            </a:pPr>
            <a:r>
              <a:rPr lang="en-US" noProof="0" dirty="0">
                <a:solidFill>
                  <a:srgbClr val="4A5560"/>
                </a:solidFill>
                <a:latin typeface="Segoe UI"/>
                <a:cs typeface="Segoe UI"/>
              </a:rPr>
              <a:t>Every share of the proceeds is tied to a stated purpose. Nothing reaches the general budget.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FD53B62-C426-E796-4255-E9A0102F2194}"/>
              </a:ext>
            </a:extLst>
          </p:cNvPr>
          <p:cNvSpPr/>
          <p:nvPr/>
        </p:nvSpPr>
        <p:spPr>
          <a:xfrm>
            <a:off x="6311901" y="2138209"/>
            <a:ext cx="5455391" cy="2894429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txBody>
          <a:bodyPr wrap="square" lIns="177800" tIns="127000" rIns="177800" bIns="0" anchor="t">
            <a:noAutofit/>
          </a:bodyPr>
          <a:lstStyle/>
          <a:p>
            <a:r>
              <a:rPr lang="en-US" sz="1600" b="1" noProof="0" dirty="0">
                <a:solidFill>
                  <a:srgbClr val="003262"/>
                </a:solidFill>
                <a:latin typeface="Segoe UI"/>
                <a:cs typeface="Segoe UI"/>
              </a:rPr>
              <a:t>Assigned, use unrestricted</a:t>
            </a:r>
          </a:p>
          <a:p>
            <a:pPr>
              <a:spcBef>
                <a:spcPts val="300"/>
              </a:spcBef>
            </a:pPr>
            <a:r>
              <a:rPr lang="en-US" sz="1600" i="1" noProof="0" dirty="0">
                <a:solidFill>
                  <a:srgbClr val="1A1A1A"/>
                </a:solidFill>
                <a:latin typeface="Segoe UI"/>
                <a:cs typeface="Segoe UI"/>
              </a:rPr>
              <a:t>Taxe sur la </a:t>
            </a:r>
            <a:r>
              <a:rPr lang="en-US" sz="1600" i="1" noProof="0" dirty="0" err="1">
                <a:solidFill>
                  <a:srgbClr val="1A1A1A"/>
                </a:solidFill>
                <a:latin typeface="Segoe UI"/>
                <a:cs typeface="Segoe UI"/>
              </a:rPr>
              <a:t>consommation</a:t>
            </a:r>
            <a:r>
              <a:rPr lang="en-US" sz="1600" i="1" noProof="0" dirty="0">
                <a:solidFill>
                  <a:srgbClr val="1A1A1A"/>
                </a:solidFill>
                <a:latin typeface="Segoe UI"/>
                <a:cs typeface="Segoe UI"/>
              </a:rPr>
              <a:t> domestique d'eau et </a:t>
            </a:r>
            <a:r>
              <a:rPr lang="en-US" sz="1600" i="1" noProof="0" dirty="0" err="1">
                <a:solidFill>
                  <a:srgbClr val="1A1A1A"/>
                </a:solidFill>
                <a:latin typeface="Segoe UI"/>
                <a:cs typeface="Segoe UI"/>
              </a:rPr>
              <a:t>d'électricité</a:t>
            </a:r>
            <a:endParaRPr lang="en-US" sz="1600" i="1" noProof="0" dirty="0">
              <a:solidFill>
                <a:srgbClr val="1A1A1A"/>
              </a:solidFill>
              <a:latin typeface="Segoe UI"/>
              <a:cs typeface="Segoe UI"/>
            </a:endParaRPr>
          </a:p>
          <a:p>
            <a:endParaRPr lang="en-US" sz="1600" b="1" noProof="0" dirty="0">
              <a:solidFill>
                <a:srgbClr val="003262"/>
              </a:solidFill>
              <a:latin typeface="Segoe UI"/>
              <a:cs typeface="Segoe UI"/>
            </a:endParaRPr>
          </a:p>
          <a:p>
            <a:pPr>
              <a:spcBef>
                <a:spcPts val="400"/>
              </a:spcBef>
            </a:pPr>
            <a:r>
              <a:rPr lang="en-US" sz="1600" noProof="0" dirty="0">
                <a:solidFill>
                  <a:srgbClr val="4A5560"/>
                </a:solidFill>
                <a:latin typeface="Segoe UI"/>
                <a:cs typeface="Segoe UI"/>
              </a:rPr>
              <a:t>Whole proceeds → budget communal — the commune's own budget</a:t>
            </a:r>
          </a:p>
          <a:p>
            <a:pPr>
              <a:lnSpc>
                <a:spcPct val="105000"/>
              </a:lnSpc>
              <a:spcBef>
                <a:spcPts val="500"/>
              </a:spcBef>
            </a:pPr>
            <a:r>
              <a:rPr lang="en-US" sz="1600" i="1" noProof="0" dirty="0">
                <a:solidFill>
                  <a:srgbClr val="00679E"/>
                </a:solidFill>
                <a:latin typeface="Segoe UI"/>
                <a:cs typeface="Segoe UI"/>
              </a:rPr>
              <a:t>The revenue moves, but nothing constrains its use. </a:t>
            </a:r>
            <a:r>
              <a:rPr lang="en-US" sz="1600" i="1" noProof="0" dirty="0" err="1">
                <a:solidFill>
                  <a:srgbClr val="00679E"/>
                </a:solidFill>
                <a:latin typeface="Segoe UI"/>
                <a:cs typeface="Segoe UI"/>
              </a:rPr>
              <a:t>Decentralisation</a:t>
            </a:r>
            <a:r>
              <a:rPr lang="en-US" sz="1600" i="1" noProof="0" dirty="0">
                <a:solidFill>
                  <a:srgbClr val="00679E"/>
                </a:solidFill>
                <a:latin typeface="Segoe UI"/>
                <a:cs typeface="Segoe UI"/>
              </a:rPr>
              <a:t>, not earmarking.</a:t>
            </a:r>
          </a:p>
          <a:p>
            <a:endParaRPr lang="en-US" sz="1600" b="1" noProof="0" dirty="0">
              <a:solidFill>
                <a:srgbClr val="003262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6667684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EC5E8-3839-9D9B-9687-967A5A567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>
            <a:extLst>
              <a:ext uri="{FF2B5EF4-FFF2-40B4-BE49-F238E27FC236}">
                <a16:creationId xmlns:a16="http://schemas.microsoft.com/office/drawing/2014/main" id="{6DE58C90-1ADE-4944-20EE-55CBE7C2049B}"/>
              </a:ext>
            </a:extLst>
          </p:cNvPr>
          <p:cNvSpPr/>
          <p:nvPr/>
        </p:nvSpPr>
        <p:spPr>
          <a:xfrm>
            <a:off x="0" y="0"/>
            <a:ext cx="12191695" cy="558284"/>
          </a:xfrm>
          <a:prstGeom prst="rect">
            <a:avLst/>
          </a:prstGeom>
          <a:solidFill>
            <a:srgbClr val="003262"/>
          </a:solidFill>
          <a:ln w="12700">
            <a:solidFill>
              <a:srgbClr val="003262"/>
            </a:solidFill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Shape 1">
            <a:extLst>
              <a:ext uri="{FF2B5EF4-FFF2-40B4-BE49-F238E27FC236}">
                <a16:creationId xmlns:a16="http://schemas.microsoft.com/office/drawing/2014/main" id="{4A513CE2-3A51-AC83-CF51-362F982B6B94}"/>
              </a:ext>
            </a:extLst>
          </p:cNvPr>
          <p:cNvSpPr/>
          <p:nvPr/>
        </p:nvSpPr>
        <p:spPr>
          <a:xfrm>
            <a:off x="0" y="554844"/>
            <a:ext cx="12191695" cy="64008"/>
          </a:xfrm>
          <a:prstGeom prst="rect">
            <a:avLst/>
          </a:prstGeom>
          <a:solidFill>
            <a:srgbClr val="007DB6"/>
          </a:solidFill>
          <a:ln w="12700">
            <a:noFill/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Shape 2">
            <a:extLst>
              <a:ext uri="{FF2B5EF4-FFF2-40B4-BE49-F238E27FC236}">
                <a16:creationId xmlns:a16="http://schemas.microsoft.com/office/drawing/2014/main" id="{227C6F40-4C6E-E499-F2FF-E0FD4C2655FC}"/>
              </a:ext>
            </a:extLst>
          </p:cNvPr>
          <p:cNvSpPr/>
          <p:nvPr/>
        </p:nvSpPr>
        <p:spPr>
          <a:xfrm>
            <a:off x="0" y="554846"/>
            <a:ext cx="1554480" cy="64008"/>
          </a:xfrm>
          <a:prstGeom prst="rect">
            <a:avLst/>
          </a:prstGeom>
          <a:solidFill>
            <a:srgbClr val="FCB415"/>
          </a:solidFill>
          <a:ln w="12700">
            <a:noFill/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9F54EE3-086E-8486-16C5-95C27286677E}"/>
              </a:ext>
            </a:extLst>
          </p:cNvPr>
          <p:cNvSpPr/>
          <p:nvPr/>
        </p:nvSpPr>
        <p:spPr>
          <a:xfrm>
            <a:off x="1708893" y="15983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kern="0" spc="120" noProof="0" dirty="0">
                <a:solidFill>
                  <a:srgbClr val="009CDE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Taxonomy</a:t>
            </a:r>
            <a:endParaRPr lang="en-US" sz="1600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4" name="Shape 0">
            <a:extLst>
              <a:ext uri="{FF2B5EF4-FFF2-40B4-BE49-F238E27FC236}">
                <a16:creationId xmlns:a16="http://schemas.microsoft.com/office/drawing/2014/main" id="{D123DB27-88E1-0C7A-50B6-E9A4FE83C8AB}"/>
              </a:ext>
            </a:extLst>
          </p:cNvPr>
          <p:cNvSpPr/>
          <p:nvPr/>
        </p:nvSpPr>
        <p:spPr>
          <a:xfrm>
            <a:off x="305" y="6593257"/>
            <a:ext cx="12191695" cy="274321"/>
          </a:xfrm>
          <a:prstGeom prst="rect">
            <a:avLst/>
          </a:prstGeom>
          <a:solidFill>
            <a:srgbClr val="003262"/>
          </a:solidFill>
          <a:ln w="12700">
            <a:solidFill>
              <a:srgbClr val="004C97"/>
            </a:solidFill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E34AA34-C930-674D-C8F6-1A6B1D684D20}"/>
              </a:ext>
            </a:extLst>
          </p:cNvPr>
          <p:cNvSpPr/>
          <p:nvPr/>
        </p:nvSpPr>
        <p:spPr>
          <a:xfrm>
            <a:off x="285534" y="6573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noProof="0" dirty="0">
                <a:solidFill>
                  <a:schemeClr val="bg1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International Monetary Fund   |   African Department</a:t>
            </a:r>
            <a:endParaRPr lang="en-US" sz="1000" noProof="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6" name="Text 5">
            <a:extLst>
              <a:ext uri="{FF2B5EF4-FFF2-40B4-BE49-F238E27FC236}">
                <a16:creationId xmlns:a16="http://schemas.microsoft.com/office/drawing/2014/main" id="{EA17E20E-D6A1-7EFC-8410-607096B3EA33}"/>
              </a:ext>
            </a:extLst>
          </p:cNvPr>
          <p:cNvSpPr/>
          <p:nvPr/>
        </p:nvSpPr>
        <p:spPr>
          <a:xfrm>
            <a:off x="11677574" y="6570277"/>
            <a:ext cx="3257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noProof="0">
                <a:solidFill>
                  <a:srgbClr val="FFFFFF"/>
                </a:solidFill>
                <a:latin typeface="Segoe UI"/>
                <a:cs typeface="Segoe UI"/>
              </a:rPr>
              <a:t>9</a:t>
            </a:r>
            <a:endParaRPr lang="en-US" sz="1200" noProof="0" dirty="0">
              <a:solidFill>
                <a:srgbClr val="FFFFFF"/>
              </a:solidFill>
              <a:latin typeface="Segoe UI"/>
              <a:cs typeface="Segoe UI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35084FB-87F6-BC10-CA6B-6E07BA46C5C6}"/>
              </a:ext>
            </a:extLst>
          </p:cNvPr>
          <p:cNvSpPr/>
          <p:nvPr/>
        </p:nvSpPr>
        <p:spPr>
          <a:xfrm>
            <a:off x="406399" y="987325"/>
            <a:ext cx="5473701" cy="5295322"/>
          </a:xfrm>
          <a:prstGeom prst="rect">
            <a:avLst/>
          </a:prstGeom>
          <a:solidFill>
            <a:srgbClr val="F2F5F8"/>
          </a:solidFill>
          <a:ln w="12700">
            <a:solidFill>
              <a:srgbClr val="D6E0EA"/>
            </a:solidFill>
          </a:ln>
        </p:spPr>
        <p:txBody>
          <a:bodyPr wrap="square" lIns="152400" tIns="127000" rIns="152400" bIns="0" anchor="t">
            <a:noAutofit/>
          </a:bodyPr>
          <a:lstStyle/>
          <a:p>
            <a:r>
              <a:rPr lang="en-US" b="1" noProof="0" dirty="0">
                <a:solidFill>
                  <a:srgbClr val="003262"/>
                </a:solidFill>
                <a:latin typeface="Segoe UI"/>
                <a:cs typeface="Segoe UI"/>
              </a:rPr>
              <a:t>Revenue instrument assigned, use unrestricted</a:t>
            </a:r>
          </a:p>
          <a:p>
            <a:r>
              <a:rPr lang="en-US" noProof="0" dirty="0">
                <a:solidFill>
                  <a:schemeClr val="bg2">
                    <a:lumMod val="25000"/>
                  </a:schemeClr>
                </a:solidFill>
                <a:latin typeface="Segoe UI"/>
                <a:cs typeface="Segoe UI"/>
              </a:rPr>
              <a:t>The law names a destination but not a purpose revenue sharing, transfers to territorial tiers</a:t>
            </a:r>
          </a:p>
          <a:p>
            <a:endParaRPr lang="en-US" b="1" noProof="0" dirty="0">
              <a:solidFill>
                <a:srgbClr val="003262"/>
              </a:solidFill>
              <a:latin typeface="Segoe UI"/>
              <a:cs typeface="Segoe UI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DB0EA63-D4C3-A422-5CAD-9A2F1F94FA2B}"/>
              </a:ext>
            </a:extLst>
          </p:cNvPr>
          <p:cNvSpPr/>
          <p:nvPr/>
        </p:nvSpPr>
        <p:spPr>
          <a:xfrm>
            <a:off x="667886" y="2407423"/>
            <a:ext cx="4950727" cy="3586214"/>
          </a:xfrm>
          <a:prstGeom prst="rect">
            <a:avLst/>
          </a:prstGeom>
          <a:solidFill>
            <a:srgbClr val="E4EDF5"/>
          </a:solidFill>
          <a:ln w="12700">
            <a:solidFill>
              <a:srgbClr val="D6E0EA"/>
            </a:solidFill>
          </a:ln>
        </p:spPr>
        <p:txBody>
          <a:bodyPr wrap="square" lIns="152400" tIns="127000" rIns="152400" bIns="0" anchor="t">
            <a:noAutofit/>
          </a:bodyPr>
          <a:lstStyle/>
          <a:p>
            <a:r>
              <a:rPr lang="en-US" b="1" noProof="0" dirty="0">
                <a:solidFill>
                  <a:srgbClr val="003262"/>
                </a:solidFill>
                <a:latin typeface="Segoe UI"/>
                <a:cs typeface="Segoe UI"/>
              </a:rPr>
              <a:t>Partial earmark</a:t>
            </a:r>
          </a:p>
          <a:p>
            <a:pPr>
              <a:lnSpc>
                <a:spcPct val="105000"/>
              </a:lnSpc>
              <a:spcBef>
                <a:spcPts val="300"/>
              </a:spcBef>
            </a:pPr>
            <a:r>
              <a:rPr lang="en-US" noProof="0" dirty="0">
                <a:solidFill>
                  <a:srgbClr val="4A5560"/>
                </a:solidFill>
                <a:latin typeface="Segoe UI"/>
                <a:cs typeface="Segoe UI"/>
              </a:rPr>
              <a:t>Part of the proceeds is tied to a purpose; the rest is not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17AD22C-5BAC-C078-D55A-23DB4411EEA0}"/>
              </a:ext>
            </a:extLst>
          </p:cNvPr>
          <p:cNvSpPr/>
          <p:nvPr/>
        </p:nvSpPr>
        <p:spPr>
          <a:xfrm>
            <a:off x="859522" y="3906275"/>
            <a:ext cx="4567455" cy="1848783"/>
          </a:xfrm>
          <a:prstGeom prst="rect">
            <a:avLst/>
          </a:prstGeom>
          <a:solidFill>
            <a:srgbClr val="D3E2F0"/>
          </a:solidFill>
          <a:ln w="15875">
            <a:solidFill>
              <a:srgbClr val="003262"/>
            </a:solidFill>
          </a:ln>
        </p:spPr>
        <p:txBody>
          <a:bodyPr wrap="square" lIns="152400" tIns="127000" rIns="152400" bIns="0" anchor="t">
            <a:noAutofit/>
          </a:bodyPr>
          <a:lstStyle/>
          <a:p>
            <a:r>
              <a:rPr lang="en-US" b="1" noProof="0" dirty="0">
                <a:solidFill>
                  <a:srgbClr val="003262"/>
                </a:solidFill>
                <a:latin typeface="Segoe UI"/>
                <a:cs typeface="Segoe UI"/>
              </a:rPr>
              <a:t>Exclusive earmark</a:t>
            </a:r>
          </a:p>
          <a:p>
            <a:pPr>
              <a:lnSpc>
                <a:spcPct val="105000"/>
              </a:lnSpc>
              <a:spcBef>
                <a:spcPts val="300"/>
              </a:spcBef>
            </a:pPr>
            <a:r>
              <a:rPr lang="en-US" noProof="0" dirty="0">
                <a:solidFill>
                  <a:srgbClr val="4A5560"/>
                </a:solidFill>
                <a:latin typeface="Segoe UI"/>
                <a:cs typeface="Segoe UI"/>
              </a:rPr>
              <a:t>Every share of the proceeds is tied to a stated purpose. Nothing reaches the general budget.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29DD9B5-4FE0-EB4F-E438-4599493BC63D}"/>
              </a:ext>
            </a:extLst>
          </p:cNvPr>
          <p:cNvSpPr/>
          <p:nvPr/>
        </p:nvSpPr>
        <p:spPr>
          <a:xfrm>
            <a:off x="6311901" y="2138209"/>
            <a:ext cx="5455391" cy="2894429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txBody>
          <a:bodyPr wrap="square" lIns="177800" tIns="127000" rIns="177800" bIns="0" anchor="t">
            <a:noAutofit/>
          </a:bodyPr>
          <a:lstStyle/>
          <a:p>
            <a:r>
              <a:rPr lang="en-US" sz="1600" b="1" noProof="0" dirty="0">
                <a:solidFill>
                  <a:srgbClr val="003262"/>
                </a:solidFill>
                <a:latin typeface="Segoe UI"/>
                <a:cs typeface="Segoe UI"/>
              </a:rPr>
              <a:t>Partial earmark</a:t>
            </a:r>
          </a:p>
          <a:p>
            <a:pPr>
              <a:spcBef>
                <a:spcPts val="300"/>
              </a:spcBef>
            </a:pPr>
            <a:r>
              <a:rPr lang="en-US" sz="1600" i="1" noProof="0" dirty="0">
                <a:solidFill>
                  <a:srgbClr val="1A1A1A"/>
                </a:solidFill>
                <a:latin typeface="Segoe UI"/>
                <a:cs typeface="Segoe UI"/>
              </a:rPr>
              <a:t>Taxe sur les </a:t>
            </a:r>
            <a:r>
              <a:rPr lang="en-US" sz="1600" i="1" noProof="0" dirty="0" err="1">
                <a:solidFill>
                  <a:srgbClr val="1A1A1A"/>
                </a:solidFill>
                <a:latin typeface="Segoe UI"/>
                <a:cs typeface="Segoe UI"/>
              </a:rPr>
              <a:t>activités</a:t>
            </a:r>
            <a:r>
              <a:rPr lang="en-US" sz="1600" i="1" noProof="0" dirty="0">
                <a:solidFill>
                  <a:srgbClr val="1A1A1A"/>
                </a:solidFill>
                <a:latin typeface="Segoe UI"/>
                <a:cs typeface="Segoe UI"/>
              </a:rPr>
              <a:t> </a:t>
            </a:r>
            <a:r>
              <a:rPr lang="en-US" sz="1600" i="1" noProof="0" dirty="0" err="1">
                <a:solidFill>
                  <a:srgbClr val="1A1A1A"/>
                </a:solidFill>
                <a:latin typeface="Segoe UI"/>
                <a:cs typeface="Segoe UI"/>
              </a:rPr>
              <a:t>polluantes</a:t>
            </a:r>
            <a:endParaRPr lang="en-US" sz="1600" i="1" noProof="0" dirty="0">
              <a:solidFill>
                <a:srgbClr val="1A1A1A"/>
              </a:solidFill>
              <a:latin typeface="Segoe UI"/>
              <a:cs typeface="Segoe UI"/>
            </a:endParaRPr>
          </a:p>
          <a:p>
            <a:endParaRPr lang="en-US" sz="1600" b="1" noProof="0" dirty="0">
              <a:solidFill>
                <a:srgbClr val="003262"/>
              </a:solidFill>
              <a:latin typeface="Segoe UI"/>
              <a:cs typeface="Segoe UI"/>
            </a:endParaRPr>
          </a:p>
        </p:txBody>
      </p:sp>
      <p:sp>
        <p:nvSpPr>
          <p:cNvPr id="313" name="Case 2 row 1">
            <a:extLst>
              <a:ext uri="{FF2B5EF4-FFF2-40B4-BE49-F238E27FC236}">
                <a16:creationId xmlns:a16="http://schemas.microsoft.com/office/drawing/2014/main" id="{953A5D65-A301-0D5B-6276-8DD23D63D408}"/>
              </a:ext>
            </a:extLst>
          </p:cNvPr>
          <p:cNvSpPr txBox="1"/>
          <p:nvPr/>
        </p:nvSpPr>
        <p:spPr>
          <a:xfrm>
            <a:off x="6559550" y="3118875"/>
            <a:ext cx="406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1600" b="0" i="0" noProof="0" dirty="0">
                <a:solidFill>
                  <a:srgbClr val="4A5560"/>
                </a:solidFill>
                <a:latin typeface="Segoe UI"/>
                <a:cs typeface="Segoe UI"/>
              </a:rPr>
              <a:t>40 % → Budget de </a:t>
            </a:r>
            <a:r>
              <a:rPr lang="en-US" sz="1600" b="0" i="0" noProof="0" dirty="0" err="1">
                <a:solidFill>
                  <a:srgbClr val="4A5560"/>
                </a:solidFill>
                <a:latin typeface="Segoe UI"/>
                <a:cs typeface="Segoe UI"/>
              </a:rPr>
              <a:t>l'État</a:t>
            </a:r>
            <a:endParaRPr lang="en-US" sz="1600" b="0" i="0" noProof="0" dirty="0">
              <a:solidFill>
                <a:srgbClr val="4A5560"/>
              </a:solidFill>
              <a:latin typeface="Segoe UI"/>
              <a:cs typeface="Segoe UI"/>
            </a:endParaRPr>
          </a:p>
        </p:txBody>
      </p:sp>
      <p:sp>
        <p:nvSpPr>
          <p:cNvPr id="315" name="Case 2 row 2">
            <a:extLst>
              <a:ext uri="{FF2B5EF4-FFF2-40B4-BE49-F238E27FC236}">
                <a16:creationId xmlns:a16="http://schemas.microsoft.com/office/drawing/2014/main" id="{574C5B24-4FC8-0444-E24E-7E6B35CE001B}"/>
              </a:ext>
            </a:extLst>
          </p:cNvPr>
          <p:cNvSpPr txBox="1"/>
          <p:nvPr/>
        </p:nvSpPr>
        <p:spPr>
          <a:xfrm>
            <a:off x="6559550" y="3360175"/>
            <a:ext cx="406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1600" b="0" i="0" noProof="0" dirty="0">
                <a:solidFill>
                  <a:srgbClr val="4A5560"/>
                </a:solidFill>
                <a:latin typeface="Segoe UI"/>
                <a:cs typeface="Segoe UI"/>
              </a:rPr>
              <a:t>40 % → Ministère de </a:t>
            </a:r>
            <a:r>
              <a:rPr lang="en-US" sz="1600" b="0" i="0" noProof="0" dirty="0" err="1">
                <a:solidFill>
                  <a:srgbClr val="4A5560"/>
                </a:solidFill>
                <a:latin typeface="Segoe UI"/>
                <a:cs typeface="Segoe UI"/>
              </a:rPr>
              <a:t>l'Environnement</a:t>
            </a:r>
            <a:endParaRPr lang="en-US" sz="1600" b="0" i="0" noProof="0" dirty="0">
              <a:solidFill>
                <a:srgbClr val="4A5560"/>
              </a:solidFill>
              <a:latin typeface="Segoe UI"/>
              <a:cs typeface="Segoe UI"/>
            </a:endParaRPr>
          </a:p>
        </p:txBody>
      </p:sp>
      <p:sp>
        <p:nvSpPr>
          <p:cNvPr id="317" name="Case 2 row 3">
            <a:extLst>
              <a:ext uri="{FF2B5EF4-FFF2-40B4-BE49-F238E27FC236}">
                <a16:creationId xmlns:a16="http://schemas.microsoft.com/office/drawing/2014/main" id="{D0C1413F-B4E9-0FE8-D7A1-36FEC4808C8B}"/>
              </a:ext>
            </a:extLst>
          </p:cNvPr>
          <p:cNvSpPr txBox="1"/>
          <p:nvPr/>
        </p:nvSpPr>
        <p:spPr>
          <a:xfrm>
            <a:off x="6559550" y="3601475"/>
            <a:ext cx="406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1600" b="0" i="0" noProof="0" dirty="0">
                <a:solidFill>
                  <a:srgbClr val="4A5560"/>
                </a:solidFill>
                <a:latin typeface="Segoe UI"/>
                <a:cs typeface="Segoe UI"/>
              </a:rPr>
              <a:t>20 % → CIAPOL, the pollution control agency</a:t>
            </a:r>
          </a:p>
        </p:txBody>
      </p:sp>
      <p:sp>
        <p:nvSpPr>
          <p:cNvPr id="319" name="Case 2 note">
            <a:extLst>
              <a:ext uri="{FF2B5EF4-FFF2-40B4-BE49-F238E27FC236}">
                <a16:creationId xmlns:a16="http://schemas.microsoft.com/office/drawing/2014/main" id="{E0179EA6-C2BF-9664-705F-660DC7ECB0A7}"/>
              </a:ext>
            </a:extLst>
          </p:cNvPr>
          <p:cNvSpPr txBox="1"/>
          <p:nvPr/>
        </p:nvSpPr>
        <p:spPr>
          <a:xfrm>
            <a:off x="6559550" y="4099091"/>
            <a:ext cx="5080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US" sz="1600" b="0" i="1" noProof="0" dirty="0">
                <a:solidFill>
                  <a:srgbClr val="00679E"/>
                </a:solidFill>
                <a:latin typeface="Segoe UI"/>
                <a:cs typeface="Segoe UI"/>
              </a:rPr>
              <a:t>A corrective tax whose dedication competes directly with the Treasury.</a:t>
            </a:r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9884B6E3-9036-A8AA-FD18-9778B7FB89FB}"/>
              </a:ext>
            </a:extLst>
          </p:cNvPr>
          <p:cNvSpPr/>
          <p:nvPr/>
        </p:nvSpPr>
        <p:spPr>
          <a:xfrm>
            <a:off x="424707" y="40966"/>
            <a:ext cx="10424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noProof="0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Operational definition of an earmark </a:t>
            </a:r>
            <a:endParaRPr lang="en-US" sz="2400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02611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B880E-003D-AAA7-F7BB-8DB70F911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0">
            <a:extLst>
              <a:ext uri="{FF2B5EF4-FFF2-40B4-BE49-F238E27FC236}">
                <a16:creationId xmlns:a16="http://schemas.microsoft.com/office/drawing/2014/main" id="{677C7A00-156F-2721-CFCD-10B9170415AB}"/>
              </a:ext>
            </a:extLst>
          </p:cNvPr>
          <p:cNvSpPr/>
          <p:nvPr/>
        </p:nvSpPr>
        <p:spPr>
          <a:xfrm>
            <a:off x="0" y="0"/>
            <a:ext cx="12191695" cy="558284"/>
          </a:xfrm>
          <a:prstGeom prst="rect">
            <a:avLst/>
          </a:prstGeom>
          <a:solidFill>
            <a:srgbClr val="003262"/>
          </a:solidFill>
          <a:ln w="12700">
            <a:solidFill>
              <a:srgbClr val="003262"/>
            </a:solidFill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3" name="Shape 1">
            <a:extLst>
              <a:ext uri="{FF2B5EF4-FFF2-40B4-BE49-F238E27FC236}">
                <a16:creationId xmlns:a16="http://schemas.microsoft.com/office/drawing/2014/main" id="{30047644-5720-CBE9-C6BC-D895F0D378B9}"/>
              </a:ext>
            </a:extLst>
          </p:cNvPr>
          <p:cNvSpPr/>
          <p:nvPr/>
        </p:nvSpPr>
        <p:spPr>
          <a:xfrm>
            <a:off x="0" y="554844"/>
            <a:ext cx="12191695" cy="64008"/>
          </a:xfrm>
          <a:prstGeom prst="rect">
            <a:avLst/>
          </a:prstGeom>
          <a:solidFill>
            <a:srgbClr val="007DB6"/>
          </a:solidFill>
          <a:ln w="12700">
            <a:noFill/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5" name="Shape 2">
            <a:extLst>
              <a:ext uri="{FF2B5EF4-FFF2-40B4-BE49-F238E27FC236}">
                <a16:creationId xmlns:a16="http://schemas.microsoft.com/office/drawing/2014/main" id="{F6BAB911-20A4-F82C-70F6-F7182C4197BF}"/>
              </a:ext>
            </a:extLst>
          </p:cNvPr>
          <p:cNvSpPr/>
          <p:nvPr/>
        </p:nvSpPr>
        <p:spPr>
          <a:xfrm>
            <a:off x="0" y="554846"/>
            <a:ext cx="1554480" cy="64008"/>
          </a:xfrm>
          <a:prstGeom prst="rect">
            <a:avLst/>
          </a:prstGeom>
          <a:solidFill>
            <a:srgbClr val="FCB415"/>
          </a:solidFill>
          <a:ln w="12700">
            <a:noFill/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0898D25-6AFC-6A27-C73F-EEFFA5ED165F}"/>
              </a:ext>
            </a:extLst>
          </p:cNvPr>
          <p:cNvSpPr/>
          <p:nvPr/>
        </p:nvSpPr>
        <p:spPr>
          <a:xfrm>
            <a:off x="1708893" y="15983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kern="0" spc="120" noProof="0" dirty="0">
                <a:solidFill>
                  <a:srgbClr val="009CDE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Taxonomy</a:t>
            </a:r>
            <a:endParaRPr lang="en-US" sz="1600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4" name="Shape 0">
            <a:extLst>
              <a:ext uri="{FF2B5EF4-FFF2-40B4-BE49-F238E27FC236}">
                <a16:creationId xmlns:a16="http://schemas.microsoft.com/office/drawing/2014/main" id="{E77E1B78-3ADD-8E4B-A767-2D9734F36ED3}"/>
              </a:ext>
            </a:extLst>
          </p:cNvPr>
          <p:cNvSpPr/>
          <p:nvPr/>
        </p:nvSpPr>
        <p:spPr>
          <a:xfrm>
            <a:off x="305" y="6593257"/>
            <a:ext cx="12191695" cy="274321"/>
          </a:xfrm>
          <a:prstGeom prst="rect">
            <a:avLst/>
          </a:prstGeom>
          <a:solidFill>
            <a:srgbClr val="003262"/>
          </a:solidFill>
          <a:ln w="12700">
            <a:solidFill>
              <a:srgbClr val="004C97"/>
            </a:solidFill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F662227-8A83-932F-3E6B-7764C072E51B}"/>
              </a:ext>
            </a:extLst>
          </p:cNvPr>
          <p:cNvSpPr/>
          <p:nvPr/>
        </p:nvSpPr>
        <p:spPr>
          <a:xfrm>
            <a:off x="285534" y="6573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noProof="0" dirty="0">
                <a:solidFill>
                  <a:schemeClr val="bg1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International Monetary Fund   |   African Department</a:t>
            </a:r>
            <a:endParaRPr lang="en-US" sz="1000" noProof="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6" name="Text 5">
            <a:extLst>
              <a:ext uri="{FF2B5EF4-FFF2-40B4-BE49-F238E27FC236}">
                <a16:creationId xmlns:a16="http://schemas.microsoft.com/office/drawing/2014/main" id="{E2C50D84-4F71-3303-3701-9BABB9422F46}"/>
              </a:ext>
            </a:extLst>
          </p:cNvPr>
          <p:cNvSpPr/>
          <p:nvPr/>
        </p:nvSpPr>
        <p:spPr>
          <a:xfrm>
            <a:off x="11677574" y="6570277"/>
            <a:ext cx="3257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noProof="0">
                <a:solidFill>
                  <a:srgbClr val="FFFFFF"/>
                </a:solidFill>
                <a:latin typeface="Segoe UI"/>
                <a:cs typeface="Segoe UI"/>
              </a:rPr>
              <a:t>9</a:t>
            </a:r>
            <a:endParaRPr lang="en-US" sz="1200" noProof="0" dirty="0">
              <a:solidFill>
                <a:srgbClr val="FFFFFF"/>
              </a:solidFill>
              <a:latin typeface="Segoe UI"/>
              <a:cs typeface="Segoe UI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ECC35B1-20A1-ED29-E191-39F9D2B2695D}"/>
              </a:ext>
            </a:extLst>
          </p:cNvPr>
          <p:cNvSpPr/>
          <p:nvPr/>
        </p:nvSpPr>
        <p:spPr>
          <a:xfrm>
            <a:off x="406399" y="987325"/>
            <a:ext cx="5473701" cy="5295322"/>
          </a:xfrm>
          <a:prstGeom prst="rect">
            <a:avLst/>
          </a:prstGeom>
          <a:solidFill>
            <a:srgbClr val="F2F5F8"/>
          </a:solidFill>
          <a:ln w="12700">
            <a:solidFill>
              <a:srgbClr val="D6E0EA"/>
            </a:solidFill>
          </a:ln>
        </p:spPr>
        <p:txBody>
          <a:bodyPr wrap="square" lIns="152400" tIns="127000" rIns="152400" bIns="0" anchor="t">
            <a:noAutofit/>
          </a:bodyPr>
          <a:lstStyle/>
          <a:p>
            <a:r>
              <a:rPr lang="en-US" b="1" noProof="0" dirty="0">
                <a:solidFill>
                  <a:srgbClr val="003262"/>
                </a:solidFill>
                <a:latin typeface="Segoe UI"/>
                <a:cs typeface="Segoe UI"/>
              </a:rPr>
              <a:t>Revenue instrument assigned, use unrestricted</a:t>
            </a:r>
          </a:p>
          <a:p>
            <a:r>
              <a:rPr lang="en-US" noProof="0" dirty="0">
                <a:solidFill>
                  <a:schemeClr val="bg2">
                    <a:lumMod val="25000"/>
                  </a:schemeClr>
                </a:solidFill>
                <a:latin typeface="Segoe UI"/>
                <a:cs typeface="Segoe UI"/>
              </a:rPr>
              <a:t>The law names a destination but not a purpose revenue sharing, transfers to territorial tiers</a:t>
            </a:r>
          </a:p>
          <a:p>
            <a:endParaRPr lang="en-US" b="1" noProof="0" dirty="0">
              <a:solidFill>
                <a:srgbClr val="003262"/>
              </a:solidFill>
              <a:latin typeface="Segoe UI"/>
              <a:cs typeface="Segoe UI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EEB2D5-11AB-B7F0-5FD4-752ED9CEC80A}"/>
              </a:ext>
            </a:extLst>
          </p:cNvPr>
          <p:cNvSpPr/>
          <p:nvPr/>
        </p:nvSpPr>
        <p:spPr>
          <a:xfrm>
            <a:off x="667886" y="2407423"/>
            <a:ext cx="4950727" cy="3586214"/>
          </a:xfrm>
          <a:prstGeom prst="rect">
            <a:avLst/>
          </a:prstGeom>
          <a:solidFill>
            <a:srgbClr val="E4EDF5"/>
          </a:solidFill>
          <a:ln w="12700">
            <a:solidFill>
              <a:srgbClr val="D6E0EA"/>
            </a:solidFill>
          </a:ln>
        </p:spPr>
        <p:txBody>
          <a:bodyPr wrap="square" lIns="152400" tIns="127000" rIns="152400" bIns="0" anchor="t">
            <a:noAutofit/>
          </a:bodyPr>
          <a:lstStyle/>
          <a:p>
            <a:r>
              <a:rPr lang="en-US" b="1" noProof="0" dirty="0">
                <a:solidFill>
                  <a:srgbClr val="003262"/>
                </a:solidFill>
                <a:latin typeface="Segoe UI"/>
                <a:cs typeface="Segoe UI"/>
              </a:rPr>
              <a:t>Partial earmark</a:t>
            </a:r>
          </a:p>
          <a:p>
            <a:pPr>
              <a:lnSpc>
                <a:spcPct val="105000"/>
              </a:lnSpc>
              <a:spcBef>
                <a:spcPts val="300"/>
              </a:spcBef>
            </a:pPr>
            <a:r>
              <a:rPr lang="en-US" noProof="0" dirty="0">
                <a:solidFill>
                  <a:srgbClr val="4A5560"/>
                </a:solidFill>
                <a:latin typeface="Segoe UI"/>
                <a:cs typeface="Segoe UI"/>
              </a:rPr>
              <a:t>Part of the proceeds is tied to a purpose; the rest is not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8EE507-E43C-3267-10EE-11DEDDCD127C}"/>
              </a:ext>
            </a:extLst>
          </p:cNvPr>
          <p:cNvSpPr/>
          <p:nvPr/>
        </p:nvSpPr>
        <p:spPr>
          <a:xfrm>
            <a:off x="859522" y="3906275"/>
            <a:ext cx="4567455" cy="1848783"/>
          </a:xfrm>
          <a:prstGeom prst="rect">
            <a:avLst/>
          </a:prstGeom>
          <a:solidFill>
            <a:srgbClr val="D3E2F0"/>
          </a:solidFill>
          <a:ln w="15875">
            <a:solidFill>
              <a:srgbClr val="003262"/>
            </a:solidFill>
          </a:ln>
        </p:spPr>
        <p:txBody>
          <a:bodyPr wrap="square" lIns="152400" tIns="127000" rIns="152400" bIns="0" anchor="t">
            <a:noAutofit/>
          </a:bodyPr>
          <a:lstStyle/>
          <a:p>
            <a:r>
              <a:rPr lang="en-US" b="1" noProof="0" dirty="0">
                <a:solidFill>
                  <a:srgbClr val="003262"/>
                </a:solidFill>
                <a:latin typeface="Segoe UI"/>
                <a:cs typeface="Segoe UI"/>
              </a:rPr>
              <a:t>Exclusive earmark</a:t>
            </a:r>
          </a:p>
          <a:p>
            <a:pPr>
              <a:lnSpc>
                <a:spcPct val="105000"/>
              </a:lnSpc>
              <a:spcBef>
                <a:spcPts val="300"/>
              </a:spcBef>
            </a:pPr>
            <a:r>
              <a:rPr lang="en-US" noProof="0" dirty="0">
                <a:solidFill>
                  <a:srgbClr val="4A5560"/>
                </a:solidFill>
                <a:latin typeface="Segoe UI"/>
                <a:cs typeface="Segoe UI"/>
              </a:rPr>
              <a:t>Every share of the proceeds is tied to a stated purpose. Nothing reaches the general budget.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98B5B8C-BA1C-7476-1F7D-C13219E58D69}"/>
              </a:ext>
            </a:extLst>
          </p:cNvPr>
          <p:cNvSpPr/>
          <p:nvPr/>
        </p:nvSpPr>
        <p:spPr>
          <a:xfrm>
            <a:off x="6311901" y="2138209"/>
            <a:ext cx="5455391" cy="2894429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txBody>
          <a:bodyPr wrap="square" lIns="177800" tIns="127000" rIns="177800" bIns="0" anchor="t">
            <a:noAutofit/>
          </a:bodyPr>
          <a:lstStyle/>
          <a:p>
            <a:r>
              <a:rPr lang="en-US" sz="1600" b="1" noProof="0" dirty="0">
                <a:solidFill>
                  <a:srgbClr val="003262"/>
                </a:solidFill>
                <a:latin typeface="Segoe UI"/>
                <a:cs typeface="Segoe UI"/>
              </a:rPr>
              <a:t>Exclusive earmark</a:t>
            </a:r>
          </a:p>
          <a:p>
            <a:pPr>
              <a:spcBef>
                <a:spcPts val="300"/>
              </a:spcBef>
            </a:pPr>
            <a:r>
              <a:rPr lang="en-US" sz="1600" i="1" noProof="0" dirty="0">
                <a:solidFill>
                  <a:srgbClr val="1A1A1A"/>
                </a:solidFill>
                <a:latin typeface="Segoe UI"/>
                <a:cs typeface="Segoe UI"/>
              </a:rPr>
              <a:t>Taxe </a:t>
            </a:r>
            <a:r>
              <a:rPr lang="en-US" sz="1600" i="1" noProof="0" dirty="0" err="1">
                <a:solidFill>
                  <a:srgbClr val="1A1A1A"/>
                </a:solidFill>
                <a:latin typeface="Segoe UI"/>
                <a:cs typeface="Segoe UI"/>
              </a:rPr>
              <a:t>d'apprentissage</a:t>
            </a:r>
            <a:endParaRPr lang="en-US" sz="1600" i="1" noProof="0" dirty="0">
              <a:solidFill>
                <a:srgbClr val="1A1A1A"/>
              </a:solidFill>
              <a:latin typeface="Segoe UI"/>
              <a:cs typeface="Segoe UI"/>
            </a:endParaRPr>
          </a:p>
          <a:p>
            <a:pPr>
              <a:spcBef>
                <a:spcPts val="300"/>
              </a:spcBef>
            </a:pPr>
            <a:endParaRPr lang="en-US" sz="1600" i="1" noProof="0" dirty="0">
              <a:solidFill>
                <a:srgbClr val="1A1A1A"/>
              </a:solidFill>
              <a:latin typeface="Segoe UI"/>
              <a:cs typeface="Segoe UI"/>
            </a:endParaRPr>
          </a:p>
          <a:p>
            <a:pPr>
              <a:spcBef>
                <a:spcPts val="400"/>
              </a:spcBef>
            </a:pPr>
            <a:r>
              <a:rPr lang="en-US" sz="1600" noProof="0" dirty="0">
                <a:solidFill>
                  <a:srgbClr val="4A5560"/>
                </a:solidFill>
                <a:latin typeface="Segoe UI"/>
                <a:cs typeface="Segoe UI"/>
              </a:rPr>
              <a:t>→ Fonds de Développement pour la Formation </a:t>
            </a:r>
            <a:r>
              <a:rPr lang="en-US" sz="1600" noProof="0" dirty="0" err="1">
                <a:solidFill>
                  <a:srgbClr val="4A5560"/>
                </a:solidFill>
                <a:latin typeface="Segoe UI"/>
                <a:cs typeface="Segoe UI"/>
              </a:rPr>
              <a:t>professionnelle</a:t>
            </a:r>
            <a:endParaRPr lang="en-US" sz="1600" noProof="0" dirty="0">
              <a:solidFill>
                <a:srgbClr val="4A5560"/>
              </a:solidFill>
              <a:latin typeface="Segoe UI"/>
              <a:cs typeface="Segoe UI"/>
            </a:endParaRPr>
          </a:p>
          <a:p>
            <a:pPr>
              <a:spcBef>
                <a:spcPts val="100"/>
              </a:spcBef>
            </a:pPr>
            <a:r>
              <a:rPr lang="en-US" sz="1600" noProof="0" dirty="0">
                <a:solidFill>
                  <a:srgbClr val="4A5560"/>
                </a:solidFill>
                <a:latin typeface="Segoe UI"/>
                <a:cs typeface="Segoe UI"/>
              </a:rPr>
              <a:t>→ Fonds National de la Formation </a:t>
            </a:r>
            <a:r>
              <a:rPr lang="en-US" sz="1600" noProof="0" dirty="0" err="1">
                <a:solidFill>
                  <a:srgbClr val="4A5560"/>
                </a:solidFill>
                <a:latin typeface="Segoe UI"/>
                <a:cs typeface="Segoe UI"/>
              </a:rPr>
              <a:t>professionnelle</a:t>
            </a:r>
            <a:r>
              <a:rPr lang="en-US" sz="1600" noProof="0" dirty="0">
                <a:solidFill>
                  <a:srgbClr val="4A5560"/>
                </a:solidFill>
                <a:latin typeface="Segoe UI"/>
                <a:cs typeface="Segoe UI"/>
              </a:rPr>
              <a:t> </a:t>
            </a:r>
            <a:r>
              <a:rPr lang="en-US" sz="1600" noProof="0" dirty="0" err="1">
                <a:solidFill>
                  <a:srgbClr val="4A5560"/>
                </a:solidFill>
                <a:latin typeface="Segoe UI"/>
                <a:cs typeface="Segoe UI"/>
              </a:rPr>
              <a:t>initiale</a:t>
            </a:r>
            <a:endParaRPr lang="en-US" sz="1600" noProof="0" dirty="0">
              <a:solidFill>
                <a:srgbClr val="4A5560"/>
              </a:solidFill>
              <a:latin typeface="Segoe UI"/>
              <a:cs typeface="Segoe UI"/>
            </a:endParaRPr>
          </a:p>
          <a:p>
            <a:pPr>
              <a:lnSpc>
                <a:spcPct val="105000"/>
              </a:lnSpc>
              <a:spcBef>
                <a:spcPts val="400"/>
              </a:spcBef>
            </a:pPr>
            <a:r>
              <a:rPr lang="en-US" sz="1600" i="1" noProof="0" dirty="0">
                <a:solidFill>
                  <a:srgbClr val="00679E"/>
                </a:solidFill>
                <a:latin typeface="Segoe UI"/>
                <a:cs typeface="Segoe UI"/>
              </a:rPr>
              <a:t>A payroll levy financing training — the taxed base and the financed function coincide.</a:t>
            </a:r>
          </a:p>
        </p:txBody>
      </p:sp>
      <p:sp>
        <p:nvSpPr>
          <p:cNvPr id="27" name="Text 4">
            <a:extLst>
              <a:ext uri="{FF2B5EF4-FFF2-40B4-BE49-F238E27FC236}">
                <a16:creationId xmlns:a16="http://schemas.microsoft.com/office/drawing/2014/main" id="{61A4376E-1BA5-EDE9-B1D5-ECBA23DE58F4}"/>
              </a:ext>
            </a:extLst>
          </p:cNvPr>
          <p:cNvSpPr/>
          <p:nvPr/>
        </p:nvSpPr>
        <p:spPr>
          <a:xfrm>
            <a:off x="424707" y="40966"/>
            <a:ext cx="10424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noProof="0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Operational definition of an earmark </a:t>
            </a:r>
            <a:endParaRPr lang="en-US" sz="2400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14800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>
            <a:extLst>
              <a:ext uri="{FF2B5EF4-FFF2-40B4-BE49-F238E27FC236}">
                <a16:creationId xmlns:a16="http://schemas.microsoft.com/office/drawing/2014/main" id="{E8F6F7DD-4652-13AF-E4B7-0AEC755B09DB}"/>
              </a:ext>
            </a:extLst>
          </p:cNvPr>
          <p:cNvSpPr/>
          <p:nvPr/>
        </p:nvSpPr>
        <p:spPr>
          <a:xfrm>
            <a:off x="0" y="0"/>
            <a:ext cx="12191695" cy="558284"/>
          </a:xfrm>
          <a:prstGeom prst="rect">
            <a:avLst/>
          </a:prstGeom>
          <a:solidFill>
            <a:srgbClr val="003262"/>
          </a:solidFill>
          <a:ln w="12700">
            <a:solidFill>
              <a:srgbClr val="003262"/>
            </a:solidFill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F5F467EC-8D56-3838-8F77-D2658B1A3B14}"/>
              </a:ext>
            </a:extLst>
          </p:cNvPr>
          <p:cNvSpPr/>
          <p:nvPr/>
        </p:nvSpPr>
        <p:spPr>
          <a:xfrm>
            <a:off x="0" y="554844"/>
            <a:ext cx="12191695" cy="64008"/>
          </a:xfrm>
          <a:prstGeom prst="rect">
            <a:avLst/>
          </a:prstGeom>
          <a:solidFill>
            <a:srgbClr val="007DB6"/>
          </a:solidFill>
          <a:ln w="12700">
            <a:noFill/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5" name="Shape 2">
            <a:extLst>
              <a:ext uri="{FF2B5EF4-FFF2-40B4-BE49-F238E27FC236}">
                <a16:creationId xmlns:a16="http://schemas.microsoft.com/office/drawing/2014/main" id="{6D3E864B-623C-EBDC-D33F-41199F300795}"/>
              </a:ext>
            </a:extLst>
          </p:cNvPr>
          <p:cNvSpPr/>
          <p:nvPr/>
        </p:nvSpPr>
        <p:spPr>
          <a:xfrm>
            <a:off x="0" y="554846"/>
            <a:ext cx="1554480" cy="64008"/>
          </a:xfrm>
          <a:prstGeom prst="rect">
            <a:avLst/>
          </a:prstGeom>
          <a:solidFill>
            <a:srgbClr val="FCB415"/>
          </a:solidFill>
          <a:ln w="12700">
            <a:noFill/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00" name="Footer band"/>
          <p:cNvSpPr/>
          <p:nvPr/>
        </p:nvSpPr>
        <p:spPr>
          <a:xfrm>
            <a:off x="0" y="6578600"/>
            <a:ext cx="12192000" cy="279400"/>
          </a:xfrm>
          <a:prstGeom prst="rect">
            <a:avLst/>
          </a:prstGeom>
          <a:solidFill>
            <a:srgbClr val="003262"/>
          </a:solidFill>
          <a:ln>
            <a:noFill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ext 0"/>
          <p:cNvSpPr/>
          <p:nvPr/>
        </p:nvSpPr>
        <p:spPr>
          <a:xfrm>
            <a:off x="1714500" y="165100"/>
            <a:ext cx="10058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kern="0" spc="120" noProof="0" dirty="0">
                <a:solidFill>
                  <a:srgbClr val="009CDE"/>
                </a:solidFill>
                <a:ea typeface="Segoe UI" pitchFamily="34" charset="-122"/>
                <a:cs typeface="Segoe UI" pitchFamily="34" charset="-120"/>
              </a:rPr>
              <a:t>Methodology </a:t>
            </a:r>
            <a:endParaRPr lang="en-US" sz="1600" spc="120" noProof="0" dirty="0">
              <a:solidFill>
                <a:srgbClr val="009CDE"/>
              </a:solidFill>
              <a:latin typeface="Segoe UI"/>
            </a:endParaRPr>
          </a:p>
        </p:txBody>
      </p:sp>
      <p:sp>
        <p:nvSpPr>
          <p:cNvPr id="3" name="Text 1"/>
          <p:cNvSpPr/>
          <p:nvPr/>
        </p:nvSpPr>
        <p:spPr>
          <a:xfrm>
            <a:off x="419100" y="38100"/>
            <a:ext cx="104267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noProof="0" dirty="0">
                <a:solidFill>
                  <a:srgbClr val="FFFFFF"/>
                </a:solidFill>
                <a:ea typeface="Segoe UI" pitchFamily="34" charset="-122"/>
                <a:cs typeface="Segoe UI" pitchFamily="34" charset="-120"/>
              </a:rPr>
              <a:t>One legal corpus feeds two linked databases</a:t>
            </a:r>
            <a:endParaRPr lang="en-US" sz="2400" b="1" noProof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19100" y="1524000"/>
            <a:ext cx="5461000" cy="37592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9" name="Shape 7"/>
          <p:cNvSpPr/>
          <p:nvPr/>
        </p:nvSpPr>
        <p:spPr>
          <a:xfrm>
            <a:off x="622300" y="1701800"/>
            <a:ext cx="1574800" cy="3048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/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22300" y="1701800"/>
            <a:ext cx="157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80" noProof="0" dirty="0">
                <a:solidFill>
                  <a:srgbClr val="FFFFFF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DENOMINATOR</a:t>
            </a:r>
            <a:endParaRPr lang="en-US" sz="1100" b="1" spc="80" noProof="0" dirty="0">
              <a:solidFill>
                <a:srgbClr val="FFFF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349500" y="1689100"/>
            <a:ext cx="3327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noProof="0" dirty="0">
                <a:solidFill>
                  <a:srgbClr val="595959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Database 1: Instrument census</a:t>
            </a:r>
            <a:endParaRPr lang="en-US" b="1" noProof="0" dirty="0">
              <a:solidFill>
                <a:srgbClr val="595959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22300" y="2108200"/>
            <a:ext cx="5054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noProof="0" dirty="0">
                <a:solidFill>
                  <a:srgbClr val="4A5560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Every charge the law creates, earmarked or not.</a:t>
            </a:r>
            <a:endParaRPr lang="en-US" sz="1600" i="1" noProof="0" dirty="0">
              <a:solidFill>
                <a:srgbClr val="4A55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22300" y="2641600"/>
            <a:ext cx="5054600" cy="58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txBody>
          <a:bodyPr/>
          <a:lstStyle/>
          <a:p>
            <a:endParaRPr lang="en-US" sz="1600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23900" y="2641600"/>
            <a:ext cx="3556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noProof="0" dirty="0">
                <a:solidFill>
                  <a:srgbClr val="007DB6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1</a:t>
            </a:r>
            <a:endParaRPr lang="en-US" sz="1600" b="1" noProof="0" dirty="0">
              <a:solidFill>
                <a:srgbClr val="007DB6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143000" y="2641600"/>
            <a:ext cx="44450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noProof="0" dirty="0">
                <a:solidFill>
                  <a:srgbClr val="1A1A1A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Certify &amp; read each legal document</a:t>
            </a:r>
            <a:endParaRPr lang="en-US" sz="1600" noProof="0" dirty="0">
              <a:solidFill>
                <a:srgbClr val="1A1A1A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149600" y="3225800"/>
            <a:ext cx="0" cy="76200"/>
          </a:xfrm>
          <a:prstGeom prst="line">
            <a:avLst/>
          </a:prstGeom>
          <a:noFill/>
          <a:ln w="15240">
            <a:solidFill>
              <a:srgbClr val="C3CED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1600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22300" y="3302000"/>
            <a:ext cx="5054600" cy="58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txBody>
          <a:bodyPr/>
          <a:lstStyle/>
          <a:p>
            <a:endParaRPr lang="en-US" sz="1600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23900" y="3302000"/>
            <a:ext cx="3556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noProof="0" dirty="0">
                <a:solidFill>
                  <a:srgbClr val="007DB6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2</a:t>
            </a:r>
            <a:endParaRPr lang="en-US" sz="1600" b="1" noProof="0" dirty="0">
              <a:solidFill>
                <a:srgbClr val="007DB6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143000" y="3302000"/>
            <a:ext cx="44450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noProof="0" dirty="0">
                <a:solidFill>
                  <a:srgbClr val="1A1A1A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Extract one row per revenue instrument</a:t>
            </a:r>
            <a:endParaRPr lang="en-US" sz="1600" noProof="0" dirty="0">
              <a:solidFill>
                <a:srgbClr val="1A1A1A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149600" y="3886200"/>
            <a:ext cx="0" cy="76200"/>
          </a:xfrm>
          <a:prstGeom prst="line">
            <a:avLst/>
          </a:prstGeom>
          <a:noFill/>
          <a:ln w="15240">
            <a:solidFill>
              <a:srgbClr val="C3CED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1600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22300" y="3962400"/>
            <a:ext cx="5054600" cy="58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txBody>
          <a:bodyPr/>
          <a:lstStyle/>
          <a:p>
            <a:endParaRPr lang="en-US" sz="1600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23900" y="3962400"/>
            <a:ext cx="3556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noProof="0" dirty="0">
                <a:solidFill>
                  <a:srgbClr val="007DB6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3</a:t>
            </a:r>
            <a:endParaRPr lang="en-US" sz="1600" b="1" noProof="0" dirty="0">
              <a:solidFill>
                <a:srgbClr val="007DB6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143000" y="3962400"/>
            <a:ext cx="44450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noProof="0" dirty="0">
                <a:solidFill>
                  <a:srgbClr val="1A1A1A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Validate &amp; save a per-document census</a:t>
            </a:r>
            <a:endParaRPr lang="en-US" sz="1600" noProof="0" dirty="0">
              <a:solidFill>
                <a:srgbClr val="1A1A1A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149600" y="4546600"/>
            <a:ext cx="0" cy="76200"/>
          </a:xfrm>
          <a:prstGeom prst="line">
            <a:avLst/>
          </a:prstGeom>
          <a:noFill/>
          <a:ln w="15240">
            <a:solidFill>
              <a:srgbClr val="C3CED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1600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22300" y="4622800"/>
            <a:ext cx="5054600" cy="58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txBody>
          <a:bodyPr/>
          <a:lstStyle/>
          <a:p>
            <a:endParaRPr lang="en-US" sz="1600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23900" y="4622800"/>
            <a:ext cx="3556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noProof="0" dirty="0">
                <a:solidFill>
                  <a:srgbClr val="007DB6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4</a:t>
            </a:r>
            <a:endParaRPr lang="en-US" sz="1600" b="1" noProof="0" dirty="0">
              <a:solidFill>
                <a:srgbClr val="007DB6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143000" y="4622800"/>
            <a:ext cx="44450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noProof="0" dirty="0">
                <a:solidFill>
                  <a:srgbClr val="1A1A1A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Reconcile across documents when needed</a:t>
            </a:r>
            <a:endParaRPr lang="en-US" sz="1600" noProof="0" dirty="0">
              <a:solidFill>
                <a:srgbClr val="1A1A1A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311900" y="1524000"/>
            <a:ext cx="5461000" cy="3759200"/>
          </a:xfrm>
          <a:prstGeom prst="rect">
            <a:avLst/>
          </a:prstGeom>
          <a:solidFill>
            <a:srgbClr val="EAF2FA"/>
          </a:solidFill>
          <a:ln w="12700">
            <a:solidFill>
              <a:srgbClr val="007DB6"/>
            </a:solidFill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9" name="Shape 27"/>
          <p:cNvSpPr/>
          <p:nvPr/>
        </p:nvSpPr>
        <p:spPr>
          <a:xfrm>
            <a:off x="6515100" y="1701800"/>
            <a:ext cx="1422400" cy="304800"/>
          </a:xfrm>
          <a:prstGeom prst="rect">
            <a:avLst/>
          </a:prstGeom>
          <a:solidFill>
            <a:srgbClr val="003262"/>
          </a:solidFill>
          <a:ln/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515100" y="1701800"/>
            <a:ext cx="1422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80" noProof="0" dirty="0">
                <a:solidFill>
                  <a:srgbClr val="FFFFFF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NUMERATOR</a:t>
            </a:r>
            <a:endParaRPr lang="en-US" sz="1100" b="1" spc="80" noProof="0" dirty="0">
              <a:solidFill>
                <a:srgbClr val="FFFF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8089900" y="1689100"/>
            <a:ext cx="34798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noProof="0" dirty="0">
                <a:solidFill>
                  <a:srgbClr val="003262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Database 2: Earmark allocation</a:t>
            </a:r>
            <a:endParaRPr lang="en-US" b="1" noProof="0" dirty="0">
              <a:solidFill>
                <a:srgbClr val="00326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515100" y="2108200"/>
            <a:ext cx="5054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noProof="0" dirty="0">
                <a:solidFill>
                  <a:srgbClr val="4A5560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Every legal link from a source to a destination.</a:t>
            </a:r>
            <a:endParaRPr lang="en-US" sz="1600" i="1" noProof="0" dirty="0">
              <a:solidFill>
                <a:srgbClr val="4A55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515100" y="2641600"/>
            <a:ext cx="5054600" cy="58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txBody>
          <a:bodyPr/>
          <a:lstStyle/>
          <a:p>
            <a:endParaRPr lang="en-US" sz="1600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616700" y="2641600"/>
            <a:ext cx="3556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noProof="0" dirty="0">
                <a:solidFill>
                  <a:srgbClr val="007DB6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1</a:t>
            </a:r>
            <a:endParaRPr lang="en-US" sz="1600" b="1" noProof="0" dirty="0">
              <a:solidFill>
                <a:srgbClr val="007DB6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7035800" y="2641600"/>
            <a:ext cx="44450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noProof="0" dirty="0">
                <a:solidFill>
                  <a:srgbClr val="1A1A1A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Locate assignment-bearing passages</a:t>
            </a:r>
            <a:endParaRPr lang="en-US" sz="1600" noProof="0" dirty="0">
              <a:solidFill>
                <a:srgbClr val="1A1A1A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9042400" y="3225800"/>
            <a:ext cx="0" cy="76200"/>
          </a:xfrm>
          <a:prstGeom prst="line">
            <a:avLst/>
          </a:prstGeom>
          <a:noFill/>
          <a:ln w="15240">
            <a:solidFill>
              <a:srgbClr val="C3CED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1600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6515100" y="3302000"/>
            <a:ext cx="5054600" cy="58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txBody>
          <a:bodyPr/>
          <a:lstStyle/>
          <a:p>
            <a:endParaRPr lang="en-US" sz="1600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616700" y="3302000"/>
            <a:ext cx="3556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noProof="0" dirty="0">
                <a:solidFill>
                  <a:srgbClr val="007DB6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2</a:t>
            </a:r>
            <a:endParaRPr lang="en-US" sz="1600" b="1" noProof="0" dirty="0">
              <a:solidFill>
                <a:srgbClr val="007DB6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7035800" y="3302000"/>
            <a:ext cx="44450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noProof="0" dirty="0">
                <a:solidFill>
                  <a:srgbClr val="1A1A1A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Extract clause-level source &amp; allocation evidence</a:t>
            </a:r>
            <a:endParaRPr lang="en-US" sz="1600" noProof="0" dirty="0">
              <a:solidFill>
                <a:srgbClr val="1A1A1A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9042400" y="3886200"/>
            <a:ext cx="0" cy="76200"/>
          </a:xfrm>
          <a:prstGeom prst="line">
            <a:avLst/>
          </a:prstGeom>
          <a:noFill/>
          <a:ln w="15240">
            <a:solidFill>
              <a:srgbClr val="C3CED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1600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6515100" y="3962400"/>
            <a:ext cx="5054600" cy="58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txBody>
          <a:bodyPr/>
          <a:lstStyle/>
          <a:p>
            <a:endParaRPr lang="en-US" sz="1600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6616700" y="3962400"/>
            <a:ext cx="3556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noProof="0" dirty="0">
                <a:solidFill>
                  <a:srgbClr val="007DB6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3</a:t>
            </a:r>
            <a:endParaRPr lang="en-US" sz="1600" b="1" noProof="0" dirty="0">
              <a:solidFill>
                <a:srgbClr val="007DB6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7035800" y="3962400"/>
            <a:ext cx="44450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noProof="0" dirty="0">
                <a:solidFill>
                  <a:srgbClr val="1A1A1A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Reconcile instruments, channels &amp; conflicts</a:t>
            </a:r>
            <a:endParaRPr lang="en-US" sz="1600" noProof="0" dirty="0">
              <a:solidFill>
                <a:srgbClr val="1A1A1A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9042400" y="4546600"/>
            <a:ext cx="0" cy="76200"/>
          </a:xfrm>
          <a:prstGeom prst="line">
            <a:avLst/>
          </a:prstGeom>
          <a:noFill/>
          <a:ln w="15240">
            <a:solidFill>
              <a:srgbClr val="C3CED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1600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6515100" y="4622800"/>
            <a:ext cx="5054600" cy="58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txBody>
          <a:bodyPr/>
          <a:lstStyle/>
          <a:p>
            <a:endParaRPr lang="en-US" sz="1600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6616700" y="4622800"/>
            <a:ext cx="3556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noProof="0" dirty="0">
                <a:solidFill>
                  <a:srgbClr val="007DB6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4</a:t>
            </a:r>
            <a:endParaRPr lang="en-US" sz="1600" b="1" noProof="0" dirty="0">
              <a:solidFill>
                <a:srgbClr val="007DB6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7035800" y="4622800"/>
            <a:ext cx="44450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noProof="0" dirty="0">
                <a:solidFill>
                  <a:srgbClr val="1A1A1A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Attach census link · classify destination (COFOG) · filter</a:t>
            </a:r>
            <a:endParaRPr lang="en-US" sz="1600" noProof="0" dirty="0">
              <a:solidFill>
                <a:srgbClr val="1A1A1A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419100" y="5562600"/>
            <a:ext cx="5461000" cy="5588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/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419100" y="5562600"/>
            <a:ext cx="5461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noProof="0" dirty="0">
                <a:solidFill>
                  <a:srgbClr val="FFFFFF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Instrument census table</a:t>
            </a:r>
            <a:endParaRPr lang="en-US" sz="1600" b="1" noProof="0" dirty="0">
              <a:solidFill>
                <a:srgbClr val="FFFF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6311900" y="5562600"/>
            <a:ext cx="5461000" cy="558800"/>
          </a:xfrm>
          <a:prstGeom prst="rect">
            <a:avLst/>
          </a:prstGeom>
          <a:solidFill>
            <a:srgbClr val="003262"/>
          </a:solidFill>
          <a:ln w="12700">
            <a:solidFill>
              <a:srgbClr val="004C97"/>
            </a:solidFill>
            <a:prstDash val="solid"/>
          </a:ln>
        </p:spPr>
        <p:txBody>
          <a:bodyPr/>
          <a:lstStyle/>
          <a:p>
            <a:endParaRPr lang="en-US" sz="1600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6311900" y="5562600"/>
            <a:ext cx="5461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noProof="0" dirty="0">
                <a:solidFill>
                  <a:srgbClr val="FFFFFF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Earmark-allocation table</a:t>
            </a:r>
            <a:endParaRPr lang="en-US" sz="1500" b="1" noProof="0" dirty="0">
              <a:solidFill>
                <a:srgbClr val="FFFF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5930900" y="5842000"/>
            <a:ext cx="330200" cy="0"/>
          </a:xfrm>
          <a:prstGeom prst="line">
            <a:avLst/>
          </a:prstGeom>
          <a:noFill/>
          <a:ln w="30480">
            <a:solidFill>
              <a:schemeClr val="tx1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279400" y="6578600"/>
            <a:ext cx="8229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noProof="0" dirty="0">
                <a:solidFill>
                  <a:srgbClr val="FFFFFF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International Monetary Fund   |   African Department</a:t>
            </a:r>
            <a:endParaRPr lang="en-US" sz="1000" noProof="0" dirty="0">
              <a:solidFill>
                <a:srgbClr val="FFFF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1" name="TextBox 36">
            <a:extLst>
              <a:ext uri="{FF2B5EF4-FFF2-40B4-BE49-F238E27FC236}">
                <a16:creationId xmlns:a16="http://schemas.microsoft.com/office/drawing/2014/main" id="{8D44EB85-A3D4-E94D-2369-2B393BC5D2CB}"/>
              </a:ext>
            </a:extLst>
          </p:cNvPr>
          <p:cNvSpPr txBox="1"/>
          <p:nvPr/>
        </p:nvSpPr>
        <p:spPr>
          <a:xfrm>
            <a:off x="419100" y="736600"/>
            <a:ext cx="1135380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560"/>
              </a:lnSpc>
            </a:pPr>
            <a:r>
              <a:rPr lang="en-US" b="0" i="0" noProof="0" dirty="0">
                <a:solidFill>
                  <a:srgbClr val="003262"/>
                </a:solidFill>
                <a:latin typeface="Segoe UI Semibold" panose="020B0702040204020203" pitchFamily="34" charset="0"/>
                <a:ea typeface="Segoe UI Semibold"/>
                <a:cs typeface="Segoe UI Semibold" panose="020B0702040204020203" pitchFamily="34" charset="0"/>
              </a:rPr>
              <a:t>A legal earmark needs both  a revenue source  and  an enacting clause assigning its proceeds to a named recipient or stated purpose, in an enacting text.</a:t>
            </a:r>
          </a:p>
        </p:txBody>
      </p:sp>
      <p:sp>
        <p:nvSpPr>
          <p:cNvPr id="990" name="Text PageNum"/>
          <p:cNvSpPr txBox="1"/>
          <p:nvPr/>
        </p:nvSpPr>
        <p:spPr>
          <a:xfrm>
            <a:off x="11671300" y="6565900"/>
            <a:ext cx="330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2270988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Footer band"/>
          <p:cNvSpPr/>
          <p:nvPr/>
        </p:nvSpPr>
        <p:spPr>
          <a:xfrm>
            <a:off x="0" y="6578600"/>
            <a:ext cx="12192000" cy="279400"/>
          </a:xfrm>
          <a:prstGeom prst="rect">
            <a:avLst/>
          </a:prstGeom>
          <a:solidFill>
            <a:srgbClr val="003262"/>
          </a:solidFill>
          <a:ln>
            <a:noFill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00" name="Shape Band"/>
          <p:cNvSpPr/>
          <p:nvPr/>
        </p:nvSpPr>
        <p:spPr>
          <a:xfrm>
            <a:off x="0" y="0"/>
            <a:ext cx="12192000" cy="558800"/>
          </a:xfrm>
          <a:prstGeom prst="rect">
            <a:avLst/>
          </a:prstGeom>
          <a:solidFill>
            <a:srgbClr val="003262"/>
          </a:solidFill>
          <a:ln w="12700">
            <a:solidFill>
              <a:srgbClr val="004C97"/>
            </a:solidFill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01" name="Shape Rule"/>
          <p:cNvSpPr/>
          <p:nvPr/>
        </p:nvSpPr>
        <p:spPr>
          <a:xfrm>
            <a:off x="0" y="558800"/>
            <a:ext cx="12192000" cy="63500"/>
          </a:xfrm>
          <a:prstGeom prst="rect">
            <a:avLst/>
          </a:prstGeom>
          <a:solidFill>
            <a:srgbClr val="007DB6"/>
          </a:solidFill>
          <a:ln w="12700">
            <a:solidFill>
              <a:srgbClr val="009CDE"/>
            </a:solidFill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02" name="Shape Tab"/>
          <p:cNvSpPr/>
          <p:nvPr/>
        </p:nvSpPr>
        <p:spPr>
          <a:xfrm>
            <a:off x="0" y="558800"/>
            <a:ext cx="1549400" cy="63500"/>
          </a:xfrm>
          <a:prstGeom prst="rect">
            <a:avLst/>
          </a:prstGeom>
          <a:solidFill>
            <a:srgbClr val="FCB415"/>
          </a:solidFill>
          <a:ln w="12700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ext 0"/>
          <p:cNvSpPr/>
          <p:nvPr/>
        </p:nvSpPr>
        <p:spPr>
          <a:xfrm>
            <a:off x="1714500" y="165100"/>
            <a:ext cx="10058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kern="0" spc="120" noProof="0" dirty="0">
                <a:solidFill>
                  <a:srgbClr val="009CDE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Methodology</a:t>
            </a:r>
            <a:endParaRPr lang="en-US" sz="1600" spc="120" noProof="0" dirty="0">
              <a:solidFill>
                <a:srgbClr val="009CD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19100" y="38100"/>
            <a:ext cx="104267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noProof="0" dirty="0">
                <a:solidFill>
                  <a:srgbClr val="FFFFFF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The legal corpus is assembled differently depending on the legislation</a:t>
            </a:r>
            <a:endParaRPr lang="en-US" sz="2400" b="1" noProof="0" dirty="0">
              <a:solidFill>
                <a:srgbClr val="FFFF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19100" y="1168400"/>
            <a:ext cx="5461000" cy="431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19100" y="1193800"/>
            <a:ext cx="5461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spc="40" noProof="0" dirty="0">
                <a:solidFill>
                  <a:srgbClr val="003262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Francophone</a:t>
            </a:r>
            <a:endParaRPr lang="en-US" sz="2000" b="1" spc="40" noProof="0" dirty="0">
              <a:solidFill>
                <a:srgbClr val="00326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19100" y="1778000"/>
            <a:ext cx="5461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0" i="1" noProof="0" dirty="0">
                <a:solidFill>
                  <a:srgbClr val="4A5560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One consolidated volume</a:t>
            </a:r>
            <a:endParaRPr lang="en-US" sz="1600" b="0" i="1" noProof="0" dirty="0">
              <a:solidFill>
                <a:srgbClr val="4A55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19100" y="2362200"/>
            <a:ext cx="54610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800" b="1" noProof="0" dirty="0">
                <a:solidFill>
                  <a:srgbClr val="003262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Core source  </a:t>
            </a:r>
            <a:r>
              <a:rPr lang="en-US" sz="1800" noProof="0" dirty="0">
                <a:solidFill>
                  <a:srgbClr val="1A1A1A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The latest Code </a:t>
            </a:r>
            <a:r>
              <a:rPr lang="en-US" sz="1800" noProof="0" dirty="0" err="1">
                <a:solidFill>
                  <a:srgbClr val="1A1A1A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général</a:t>
            </a:r>
            <a:r>
              <a:rPr lang="en-US" sz="1800" noProof="0" dirty="0">
                <a:solidFill>
                  <a:srgbClr val="1A1A1A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 des </a:t>
            </a:r>
            <a:r>
              <a:rPr lang="en-US" sz="1800" noProof="0" dirty="0" err="1">
                <a:solidFill>
                  <a:srgbClr val="1A1A1A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impôts</a:t>
            </a:r>
            <a:r>
              <a:rPr lang="en-US" sz="1800" noProof="0" dirty="0">
                <a:solidFill>
                  <a:srgbClr val="1A1A1A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 (CGI) or equivalent consolidated tax code.</a:t>
            </a:r>
            <a:endParaRPr lang="en-US" sz="1800" noProof="0" dirty="0">
              <a:solidFill>
                <a:srgbClr val="1A1A1A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19100" y="3429000"/>
            <a:ext cx="54610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800" b="1" noProof="0" dirty="0">
                <a:solidFill>
                  <a:srgbClr val="003262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Extensions  </a:t>
            </a:r>
            <a:r>
              <a:rPr lang="en-US" sz="1800" noProof="0" dirty="0">
                <a:solidFill>
                  <a:srgbClr val="1A1A1A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Fiscal annexes, finance laws, sectoral or fund-establishing texts, only to complete a chain.</a:t>
            </a:r>
            <a:endParaRPr lang="en-US" sz="1800" noProof="0" dirty="0">
              <a:solidFill>
                <a:srgbClr val="1A1A1A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19100" y="4495800"/>
            <a:ext cx="54610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800" b="1" noProof="0" dirty="0">
                <a:solidFill>
                  <a:srgbClr val="003262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Where the earmark sits  </a:t>
            </a:r>
            <a:r>
              <a:rPr lang="en-US" sz="1800" noProof="0" dirty="0">
                <a:solidFill>
                  <a:srgbClr val="1A1A1A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Source and assignment usually in the same volume.</a:t>
            </a:r>
            <a:endParaRPr lang="en-US" sz="1800" noProof="0" dirty="0">
              <a:solidFill>
                <a:srgbClr val="1A1A1A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311900" y="1168400"/>
            <a:ext cx="5461000" cy="4318000"/>
          </a:xfrm>
          <a:prstGeom prst="rect">
            <a:avLst/>
          </a:prstGeom>
          <a:noFill/>
          <a:ln w="20320">
            <a:noFill/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311900" y="1193800"/>
            <a:ext cx="5461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spc="40" noProof="0" dirty="0">
                <a:solidFill>
                  <a:srgbClr val="003262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Anglophone</a:t>
            </a:r>
            <a:endParaRPr lang="en-US" sz="2000" b="1" spc="40" noProof="0" dirty="0">
              <a:solidFill>
                <a:srgbClr val="00326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311900" y="1778000"/>
            <a:ext cx="5461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0" i="1" noProof="0" dirty="0">
                <a:solidFill>
                  <a:srgbClr val="4A5560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A chain of separate Acts</a:t>
            </a:r>
            <a:endParaRPr lang="en-US" sz="1600" b="0" i="1" noProof="0" dirty="0">
              <a:solidFill>
                <a:srgbClr val="4A55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311900" y="2362200"/>
            <a:ext cx="54610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800" b="1" noProof="0" dirty="0">
                <a:solidFill>
                  <a:srgbClr val="003262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Core sources  </a:t>
            </a:r>
            <a:r>
              <a:rPr lang="en-US" sz="1800" noProof="0" dirty="0">
                <a:solidFill>
                  <a:srgbClr val="1A1A1A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Principal tax Acts, levy Acts, fund/agency Acts, finance Acts, schedules, regulations.</a:t>
            </a:r>
            <a:endParaRPr lang="en-US" sz="1800" noProof="0" dirty="0">
              <a:solidFill>
                <a:srgbClr val="1A1A1A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311900" y="3429000"/>
            <a:ext cx="54610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800" b="1" noProof="0" dirty="0">
                <a:solidFill>
                  <a:srgbClr val="003262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Reconstruct the chain  </a:t>
            </a:r>
            <a:r>
              <a:rPr lang="en-US" sz="1800" noProof="0" dirty="0">
                <a:solidFill>
                  <a:srgbClr val="1A1A1A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Budget and revenue lists identify the universe of taxes to trace: discovery tools, not evidence.</a:t>
            </a:r>
            <a:endParaRPr lang="en-US" sz="1800" noProof="0" dirty="0">
              <a:solidFill>
                <a:srgbClr val="1A1A1A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311900" y="4495800"/>
            <a:ext cx="54610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800" b="1" noProof="0" dirty="0">
                <a:solidFill>
                  <a:srgbClr val="003262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Where the earmark sits  </a:t>
            </a:r>
            <a:r>
              <a:rPr lang="en-US" sz="1800" noProof="0" dirty="0">
                <a:solidFill>
                  <a:srgbClr val="1A1A1A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Source and assignment may sit in different Acts.</a:t>
            </a:r>
            <a:endParaRPr lang="en-US" sz="1800" noProof="0" dirty="0">
              <a:solidFill>
                <a:srgbClr val="1A1A1A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279400" y="6578600"/>
            <a:ext cx="8229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noProof="0" dirty="0">
                <a:solidFill>
                  <a:srgbClr val="FFFFFF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International Monetary Fund   |   African Department</a:t>
            </a:r>
            <a:endParaRPr lang="en-US" sz="1000" noProof="0" dirty="0">
              <a:solidFill>
                <a:srgbClr val="FFFF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1671300" y="6565900"/>
            <a:ext cx="330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noProof="0">
                <a:solidFill>
                  <a:srgbClr val="FFFFFF"/>
                </a:solidFill>
                <a:latin typeface="Segoe UI"/>
                <a:ea typeface="Segoe UI" pitchFamily="34" charset="-122"/>
                <a:cs typeface="Segoe UI"/>
              </a:rPr>
              <a:t>11</a:t>
            </a:r>
            <a:endParaRPr lang="en-US" sz="1200" noProof="0" dirty="0">
              <a:solidFill>
                <a:srgbClr val="FFFFFF"/>
              </a:solidFill>
              <a:latin typeface="Segoe UI"/>
              <a:cs typeface="Segoe UI"/>
            </a:endParaRPr>
          </a:p>
        </p:txBody>
      </p:sp>
      <p:sp>
        <p:nvSpPr>
          <p:cNvPr id="760" name="Heading tab L"/>
          <p:cNvSpPr/>
          <p:nvPr/>
        </p:nvSpPr>
        <p:spPr>
          <a:xfrm>
            <a:off x="419100" y="1651000"/>
            <a:ext cx="711200" cy="38100"/>
          </a:xfrm>
          <a:prstGeom prst="rect">
            <a:avLst/>
          </a:prstGeom>
          <a:solidFill>
            <a:srgbClr val="FCB415"/>
          </a:solidFill>
          <a:ln>
            <a:noFill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61" name="Heading tab R"/>
          <p:cNvSpPr/>
          <p:nvPr/>
        </p:nvSpPr>
        <p:spPr>
          <a:xfrm>
            <a:off x="6311900" y="1651000"/>
            <a:ext cx="711200" cy="38100"/>
          </a:xfrm>
          <a:prstGeom prst="rect">
            <a:avLst/>
          </a:prstGeom>
          <a:solidFill>
            <a:srgbClr val="FCB415"/>
          </a:solidFill>
          <a:ln>
            <a:noFill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41997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435CB-E076-A752-221B-41F27905E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Footer band">
            <a:extLst>
              <a:ext uri="{FF2B5EF4-FFF2-40B4-BE49-F238E27FC236}">
                <a16:creationId xmlns:a16="http://schemas.microsoft.com/office/drawing/2014/main" id="{83BDF57A-5667-4A3B-4A32-D05589B20A00}"/>
              </a:ext>
            </a:extLst>
          </p:cNvPr>
          <p:cNvSpPr/>
          <p:nvPr/>
        </p:nvSpPr>
        <p:spPr>
          <a:xfrm>
            <a:off x="0" y="6578600"/>
            <a:ext cx="12192000" cy="279400"/>
          </a:xfrm>
          <a:prstGeom prst="rect">
            <a:avLst/>
          </a:prstGeom>
          <a:solidFill>
            <a:srgbClr val="003262"/>
          </a:solidFill>
          <a:ln>
            <a:noFill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00" name="Shape Band">
            <a:extLst>
              <a:ext uri="{FF2B5EF4-FFF2-40B4-BE49-F238E27FC236}">
                <a16:creationId xmlns:a16="http://schemas.microsoft.com/office/drawing/2014/main" id="{553A9791-3513-006E-C92E-09BE473F11F2}"/>
              </a:ext>
            </a:extLst>
          </p:cNvPr>
          <p:cNvSpPr/>
          <p:nvPr/>
        </p:nvSpPr>
        <p:spPr>
          <a:xfrm>
            <a:off x="0" y="0"/>
            <a:ext cx="12192000" cy="558800"/>
          </a:xfrm>
          <a:prstGeom prst="rect">
            <a:avLst/>
          </a:prstGeom>
          <a:solidFill>
            <a:srgbClr val="003262"/>
          </a:solidFill>
          <a:ln w="12700">
            <a:solidFill>
              <a:srgbClr val="004C97"/>
            </a:solidFill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01" name="Shape Rule">
            <a:extLst>
              <a:ext uri="{FF2B5EF4-FFF2-40B4-BE49-F238E27FC236}">
                <a16:creationId xmlns:a16="http://schemas.microsoft.com/office/drawing/2014/main" id="{8630FCD4-5655-5157-E7CC-96CC8487B4E1}"/>
              </a:ext>
            </a:extLst>
          </p:cNvPr>
          <p:cNvSpPr/>
          <p:nvPr/>
        </p:nvSpPr>
        <p:spPr>
          <a:xfrm>
            <a:off x="0" y="558800"/>
            <a:ext cx="12192000" cy="63500"/>
          </a:xfrm>
          <a:prstGeom prst="rect">
            <a:avLst/>
          </a:prstGeom>
          <a:solidFill>
            <a:srgbClr val="007DB6"/>
          </a:solidFill>
          <a:ln w="12700">
            <a:solidFill>
              <a:srgbClr val="009CDE"/>
            </a:solidFill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02" name="Shape Tab">
            <a:extLst>
              <a:ext uri="{FF2B5EF4-FFF2-40B4-BE49-F238E27FC236}">
                <a16:creationId xmlns:a16="http://schemas.microsoft.com/office/drawing/2014/main" id="{DFB9C02D-1A43-0ED3-7A37-ACDCA5230D8E}"/>
              </a:ext>
            </a:extLst>
          </p:cNvPr>
          <p:cNvSpPr/>
          <p:nvPr/>
        </p:nvSpPr>
        <p:spPr>
          <a:xfrm>
            <a:off x="0" y="558800"/>
            <a:ext cx="1549400" cy="63500"/>
          </a:xfrm>
          <a:prstGeom prst="rect">
            <a:avLst/>
          </a:prstGeom>
          <a:solidFill>
            <a:srgbClr val="FCB415"/>
          </a:solidFill>
          <a:ln w="12700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3FF84C41-D233-CA2C-8658-3BDBB139E258}"/>
              </a:ext>
            </a:extLst>
          </p:cNvPr>
          <p:cNvSpPr/>
          <p:nvPr/>
        </p:nvSpPr>
        <p:spPr>
          <a:xfrm>
            <a:off x="1714500" y="165100"/>
            <a:ext cx="10058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kern="0" spc="120" noProof="0" dirty="0">
                <a:solidFill>
                  <a:srgbClr val="009CDE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Stylized facts</a:t>
            </a:r>
            <a:endParaRPr lang="en-US" sz="1600" spc="120" noProof="0" dirty="0">
              <a:solidFill>
                <a:srgbClr val="009CD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2309E49-B44C-30A2-5164-05D372456D08}"/>
              </a:ext>
            </a:extLst>
          </p:cNvPr>
          <p:cNvSpPr/>
          <p:nvPr/>
        </p:nvSpPr>
        <p:spPr>
          <a:xfrm>
            <a:off x="419100" y="38100"/>
            <a:ext cx="104267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noProof="0" dirty="0">
                <a:solidFill>
                  <a:srgbClr val="FFFFFF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How common is statutory earmarking?</a:t>
            </a:r>
            <a:endParaRPr lang="en-US" sz="2400" b="1" noProof="0" dirty="0">
              <a:solidFill>
                <a:srgbClr val="FFFF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E9EBB2B-E6E0-A0EB-9D7D-E4DC26976BEA}"/>
              </a:ext>
            </a:extLst>
          </p:cNvPr>
          <p:cNvSpPr/>
          <p:nvPr/>
        </p:nvSpPr>
        <p:spPr>
          <a:xfrm>
            <a:off x="419100" y="1168400"/>
            <a:ext cx="5461000" cy="431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7A71753B-1495-D160-71CE-E769802CC72E}"/>
              </a:ext>
            </a:extLst>
          </p:cNvPr>
          <p:cNvSpPr/>
          <p:nvPr/>
        </p:nvSpPr>
        <p:spPr>
          <a:xfrm>
            <a:off x="279400" y="6578600"/>
            <a:ext cx="8229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noProof="0" dirty="0">
                <a:solidFill>
                  <a:srgbClr val="FFFFFF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International Monetary Fund   |   African Department</a:t>
            </a:r>
            <a:endParaRPr lang="en-US" sz="1000" noProof="0" dirty="0">
              <a:solidFill>
                <a:srgbClr val="FFFF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4488C826-2491-C2A0-FD34-D408395C2DDE}"/>
              </a:ext>
            </a:extLst>
          </p:cNvPr>
          <p:cNvSpPr/>
          <p:nvPr/>
        </p:nvSpPr>
        <p:spPr>
          <a:xfrm>
            <a:off x="11671300" y="6565900"/>
            <a:ext cx="330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noProof="0">
                <a:solidFill>
                  <a:srgbClr val="FFFFFF"/>
                </a:solidFill>
                <a:latin typeface="Segoe UI"/>
                <a:ea typeface="Segoe UI" pitchFamily="34" charset="-122"/>
                <a:cs typeface="Segoe UI"/>
              </a:rPr>
              <a:t>12</a:t>
            </a:r>
            <a:endParaRPr lang="en-US" sz="1200" noProof="0" dirty="0">
              <a:solidFill>
                <a:srgbClr val="FFFFFF"/>
              </a:solidFill>
              <a:latin typeface="Segoe UI"/>
              <a:cs typeface="Segoe UI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24EFE4E2-3D35-436A-493F-61C0927D05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6322" y="1511300"/>
            <a:ext cx="7126578" cy="3815930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BB1A8E26-AC71-F29C-2D5B-07B06F78ACD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9533" t="7313" r="15186" b="3810"/>
          <a:stretch>
            <a:fillRect/>
          </a:stretch>
        </p:blipFill>
        <p:spPr>
          <a:xfrm>
            <a:off x="308647" y="984130"/>
            <a:ext cx="4337675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1273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59D96-42FA-0477-AAE6-921D565A7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Footer band">
            <a:extLst>
              <a:ext uri="{FF2B5EF4-FFF2-40B4-BE49-F238E27FC236}">
                <a16:creationId xmlns:a16="http://schemas.microsoft.com/office/drawing/2014/main" id="{70D984ED-6BA0-A166-E0D5-23B0F28D58AB}"/>
              </a:ext>
            </a:extLst>
          </p:cNvPr>
          <p:cNvSpPr/>
          <p:nvPr/>
        </p:nvSpPr>
        <p:spPr>
          <a:xfrm>
            <a:off x="0" y="6578600"/>
            <a:ext cx="12192000" cy="279400"/>
          </a:xfrm>
          <a:prstGeom prst="rect">
            <a:avLst/>
          </a:prstGeom>
          <a:solidFill>
            <a:srgbClr val="003262"/>
          </a:solidFill>
          <a:ln>
            <a:noFill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00" name="Shape Band">
            <a:extLst>
              <a:ext uri="{FF2B5EF4-FFF2-40B4-BE49-F238E27FC236}">
                <a16:creationId xmlns:a16="http://schemas.microsoft.com/office/drawing/2014/main" id="{3716DF7E-4488-FE3A-DE12-51A5E5944932}"/>
              </a:ext>
            </a:extLst>
          </p:cNvPr>
          <p:cNvSpPr/>
          <p:nvPr/>
        </p:nvSpPr>
        <p:spPr>
          <a:xfrm>
            <a:off x="0" y="0"/>
            <a:ext cx="12192000" cy="558800"/>
          </a:xfrm>
          <a:prstGeom prst="rect">
            <a:avLst/>
          </a:prstGeom>
          <a:solidFill>
            <a:srgbClr val="003262"/>
          </a:solidFill>
          <a:ln w="12700">
            <a:solidFill>
              <a:srgbClr val="004C97"/>
            </a:solidFill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01" name="Shape Rule">
            <a:extLst>
              <a:ext uri="{FF2B5EF4-FFF2-40B4-BE49-F238E27FC236}">
                <a16:creationId xmlns:a16="http://schemas.microsoft.com/office/drawing/2014/main" id="{545F9DBD-D831-0949-42E8-61257C3BDF4B}"/>
              </a:ext>
            </a:extLst>
          </p:cNvPr>
          <p:cNvSpPr/>
          <p:nvPr/>
        </p:nvSpPr>
        <p:spPr>
          <a:xfrm>
            <a:off x="0" y="558800"/>
            <a:ext cx="12192000" cy="63500"/>
          </a:xfrm>
          <a:prstGeom prst="rect">
            <a:avLst/>
          </a:prstGeom>
          <a:solidFill>
            <a:srgbClr val="007DB6"/>
          </a:solidFill>
          <a:ln w="12700">
            <a:solidFill>
              <a:srgbClr val="009CDE"/>
            </a:solidFill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02" name="Shape Tab">
            <a:extLst>
              <a:ext uri="{FF2B5EF4-FFF2-40B4-BE49-F238E27FC236}">
                <a16:creationId xmlns:a16="http://schemas.microsoft.com/office/drawing/2014/main" id="{DE815640-C946-DE27-4AEE-30B150E3E4D4}"/>
              </a:ext>
            </a:extLst>
          </p:cNvPr>
          <p:cNvSpPr/>
          <p:nvPr/>
        </p:nvSpPr>
        <p:spPr>
          <a:xfrm>
            <a:off x="0" y="558800"/>
            <a:ext cx="1549400" cy="63500"/>
          </a:xfrm>
          <a:prstGeom prst="rect">
            <a:avLst/>
          </a:prstGeom>
          <a:solidFill>
            <a:srgbClr val="FCB415"/>
          </a:solidFill>
          <a:ln w="12700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90A3BFB5-F9ED-2671-1697-B32791682C35}"/>
              </a:ext>
            </a:extLst>
          </p:cNvPr>
          <p:cNvSpPr/>
          <p:nvPr/>
        </p:nvSpPr>
        <p:spPr>
          <a:xfrm>
            <a:off x="1714500" y="165100"/>
            <a:ext cx="10058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kern="0" spc="120" noProof="0" dirty="0">
                <a:solidFill>
                  <a:srgbClr val="009CDE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Stylized facts</a:t>
            </a:r>
            <a:endParaRPr lang="en-US" sz="1600" spc="120" noProof="0" dirty="0">
              <a:solidFill>
                <a:srgbClr val="009CD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566EA88-62CE-9958-B190-7E9FDDF265B7}"/>
              </a:ext>
            </a:extLst>
          </p:cNvPr>
          <p:cNvSpPr/>
          <p:nvPr/>
        </p:nvSpPr>
        <p:spPr>
          <a:xfrm>
            <a:off x="419100" y="38100"/>
            <a:ext cx="104267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noProof="0" dirty="0">
                <a:solidFill>
                  <a:srgbClr val="FFFFFF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When governments earmark, how strongly do they do so?</a:t>
            </a:r>
            <a:endParaRPr lang="en-US" sz="2400" b="1" noProof="0" dirty="0">
              <a:solidFill>
                <a:srgbClr val="FFFF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0148CBE-782D-EA2F-ED46-B003C185A323}"/>
              </a:ext>
            </a:extLst>
          </p:cNvPr>
          <p:cNvSpPr/>
          <p:nvPr/>
        </p:nvSpPr>
        <p:spPr>
          <a:xfrm>
            <a:off x="419100" y="1168400"/>
            <a:ext cx="5461000" cy="431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6558E887-334F-E191-4AC7-25302794CAF0}"/>
              </a:ext>
            </a:extLst>
          </p:cNvPr>
          <p:cNvSpPr/>
          <p:nvPr/>
        </p:nvSpPr>
        <p:spPr>
          <a:xfrm>
            <a:off x="279400" y="6578600"/>
            <a:ext cx="8229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noProof="0" dirty="0">
                <a:solidFill>
                  <a:srgbClr val="FFFFFF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International Monetary Fund   |   African Department</a:t>
            </a:r>
            <a:endParaRPr lang="en-US" sz="1000" noProof="0" dirty="0">
              <a:solidFill>
                <a:srgbClr val="FFFF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1B34F1A3-802C-E2AF-0C1E-22A3AC9315AE}"/>
              </a:ext>
            </a:extLst>
          </p:cNvPr>
          <p:cNvSpPr/>
          <p:nvPr/>
        </p:nvSpPr>
        <p:spPr>
          <a:xfrm>
            <a:off x="11671300" y="6565900"/>
            <a:ext cx="330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noProof="0">
                <a:solidFill>
                  <a:srgbClr val="FFFFFF"/>
                </a:solidFill>
                <a:latin typeface="Segoe UI"/>
                <a:ea typeface="Segoe UI" pitchFamily="34" charset="-122"/>
                <a:cs typeface="Segoe UI"/>
              </a:rPr>
              <a:t>13</a:t>
            </a:r>
            <a:endParaRPr lang="en-US" sz="1200" noProof="0" dirty="0">
              <a:solidFill>
                <a:srgbClr val="FFFFFF"/>
              </a:solidFill>
              <a:latin typeface="Segoe UI"/>
              <a:cs typeface="Segoe UI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8FD9DA26-0614-4788-CF9A-C035CFD141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377" y="1832461"/>
            <a:ext cx="8687246" cy="4400776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209EE27F-5945-F7EB-2C60-293246ABDA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8629" y="928396"/>
            <a:ext cx="7320994" cy="691874"/>
          </a:xfrm>
          <a:prstGeom prst="rect">
            <a:avLst/>
          </a:prstGeom>
        </p:spPr>
      </p:pic>
      <p:sp>
        <p:nvSpPr>
          <p:cNvPr id="12" name="Text 10">
            <a:extLst>
              <a:ext uri="{FF2B5EF4-FFF2-40B4-BE49-F238E27FC236}">
                <a16:creationId xmlns:a16="http://schemas.microsoft.com/office/drawing/2014/main" id="{2A99649E-B783-5FB0-CACC-0656656557EF}"/>
              </a:ext>
            </a:extLst>
          </p:cNvPr>
          <p:cNvSpPr/>
          <p:nvPr/>
        </p:nvSpPr>
        <p:spPr>
          <a:xfrm>
            <a:off x="2024566" y="1144023"/>
            <a:ext cx="128797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noProof="0" dirty="0">
                <a:solidFill>
                  <a:srgbClr val="4A55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All countries</a:t>
            </a:r>
            <a:endParaRPr lang="en-US" sz="1600" b="0" i="1" noProof="0" dirty="0">
              <a:solidFill>
                <a:srgbClr val="4A55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52290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5361E5-B257-31F7-D8F0-7999012C8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Footer band">
            <a:extLst>
              <a:ext uri="{FF2B5EF4-FFF2-40B4-BE49-F238E27FC236}">
                <a16:creationId xmlns:a16="http://schemas.microsoft.com/office/drawing/2014/main" id="{F141726B-63BD-C571-7DD3-A1A91FB1E9BA}"/>
              </a:ext>
            </a:extLst>
          </p:cNvPr>
          <p:cNvSpPr/>
          <p:nvPr/>
        </p:nvSpPr>
        <p:spPr>
          <a:xfrm>
            <a:off x="0" y="6578600"/>
            <a:ext cx="12192000" cy="279400"/>
          </a:xfrm>
          <a:prstGeom prst="rect">
            <a:avLst/>
          </a:prstGeom>
          <a:solidFill>
            <a:srgbClr val="003262"/>
          </a:solidFill>
          <a:ln>
            <a:noFill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00" name="Shape Band">
            <a:extLst>
              <a:ext uri="{FF2B5EF4-FFF2-40B4-BE49-F238E27FC236}">
                <a16:creationId xmlns:a16="http://schemas.microsoft.com/office/drawing/2014/main" id="{C40B7DE5-5E83-6FB8-C8EE-836AC5BD405D}"/>
              </a:ext>
            </a:extLst>
          </p:cNvPr>
          <p:cNvSpPr/>
          <p:nvPr/>
        </p:nvSpPr>
        <p:spPr>
          <a:xfrm>
            <a:off x="0" y="0"/>
            <a:ext cx="12192000" cy="558800"/>
          </a:xfrm>
          <a:prstGeom prst="rect">
            <a:avLst/>
          </a:prstGeom>
          <a:solidFill>
            <a:srgbClr val="003262"/>
          </a:solidFill>
          <a:ln w="12700">
            <a:solidFill>
              <a:srgbClr val="004C97"/>
            </a:solidFill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01" name="Shape Rule">
            <a:extLst>
              <a:ext uri="{FF2B5EF4-FFF2-40B4-BE49-F238E27FC236}">
                <a16:creationId xmlns:a16="http://schemas.microsoft.com/office/drawing/2014/main" id="{5BF6A5E2-F136-BBAB-A897-7CB6504172D5}"/>
              </a:ext>
            </a:extLst>
          </p:cNvPr>
          <p:cNvSpPr/>
          <p:nvPr/>
        </p:nvSpPr>
        <p:spPr>
          <a:xfrm>
            <a:off x="0" y="558800"/>
            <a:ext cx="12192000" cy="63500"/>
          </a:xfrm>
          <a:prstGeom prst="rect">
            <a:avLst/>
          </a:prstGeom>
          <a:solidFill>
            <a:srgbClr val="007DB6"/>
          </a:solidFill>
          <a:ln w="12700">
            <a:solidFill>
              <a:srgbClr val="009CDE"/>
            </a:solidFill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02" name="Shape Tab">
            <a:extLst>
              <a:ext uri="{FF2B5EF4-FFF2-40B4-BE49-F238E27FC236}">
                <a16:creationId xmlns:a16="http://schemas.microsoft.com/office/drawing/2014/main" id="{E7A591C6-824E-BE2A-DC7E-20B5985C52A4}"/>
              </a:ext>
            </a:extLst>
          </p:cNvPr>
          <p:cNvSpPr/>
          <p:nvPr/>
        </p:nvSpPr>
        <p:spPr>
          <a:xfrm>
            <a:off x="0" y="558800"/>
            <a:ext cx="1549400" cy="63500"/>
          </a:xfrm>
          <a:prstGeom prst="rect">
            <a:avLst/>
          </a:prstGeom>
          <a:solidFill>
            <a:srgbClr val="FCB415"/>
          </a:solidFill>
          <a:ln w="12700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E08722FE-46CA-7628-6E8C-0CBF8E2B1FF4}"/>
              </a:ext>
            </a:extLst>
          </p:cNvPr>
          <p:cNvSpPr/>
          <p:nvPr/>
        </p:nvSpPr>
        <p:spPr>
          <a:xfrm>
            <a:off x="1714500" y="165100"/>
            <a:ext cx="10058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kern="0" spc="120" noProof="0" dirty="0">
                <a:solidFill>
                  <a:srgbClr val="009CDE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Stylized facts</a:t>
            </a:r>
            <a:endParaRPr lang="en-US" sz="1600" spc="120" noProof="0" dirty="0">
              <a:solidFill>
                <a:srgbClr val="009CD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2B1735B-58F8-DD77-96A7-FBEA8F2FA75D}"/>
              </a:ext>
            </a:extLst>
          </p:cNvPr>
          <p:cNvSpPr/>
          <p:nvPr/>
        </p:nvSpPr>
        <p:spPr>
          <a:xfrm>
            <a:off x="419100" y="38100"/>
            <a:ext cx="104267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noProof="0" dirty="0">
                <a:solidFill>
                  <a:srgbClr val="FFFFFF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What types of revenues are governments willing to tie?</a:t>
            </a:r>
            <a:endParaRPr lang="en-US" sz="2400" b="1" noProof="0" dirty="0">
              <a:solidFill>
                <a:srgbClr val="FFFF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4F0E7961-945A-455A-3648-6CFEEEA0538A}"/>
              </a:ext>
            </a:extLst>
          </p:cNvPr>
          <p:cNvSpPr/>
          <p:nvPr/>
        </p:nvSpPr>
        <p:spPr>
          <a:xfrm>
            <a:off x="279400" y="6578600"/>
            <a:ext cx="8229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noProof="0" dirty="0">
                <a:solidFill>
                  <a:srgbClr val="FFFFFF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International Monetary Fund   |   African Department</a:t>
            </a:r>
            <a:endParaRPr lang="en-US" sz="1000" noProof="0" dirty="0">
              <a:solidFill>
                <a:srgbClr val="FFFF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0DDB4B89-EA7C-AC58-875C-782B91BC17D4}"/>
              </a:ext>
            </a:extLst>
          </p:cNvPr>
          <p:cNvSpPr/>
          <p:nvPr/>
        </p:nvSpPr>
        <p:spPr>
          <a:xfrm>
            <a:off x="11671300" y="6565900"/>
            <a:ext cx="330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noProof="0">
                <a:solidFill>
                  <a:srgbClr val="FFFFFF"/>
                </a:solidFill>
                <a:latin typeface="Segoe UI"/>
                <a:ea typeface="Segoe UI" pitchFamily="34" charset="-122"/>
                <a:cs typeface="Segoe UI"/>
              </a:rPr>
              <a:t>14</a:t>
            </a:r>
            <a:endParaRPr lang="en-US" sz="1200" noProof="0" dirty="0">
              <a:solidFill>
                <a:srgbClr val="FFFFFF"/>
              </a:solidFill>
              <a:latin typeface="Segoe UI"/>
              <a:cs typeface="Segoe UI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FC16206B-90CF-B8DC-3358-924501EFE6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500" y="1196860"/>
            <a:ext cx="8766034" cy="4729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5071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819D8-8F89-543E-216A-5CF81F93B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Footer band">
            <a:extLst>
              <a:ext uri="{FF2B5EF4-FFF2-40B4-BE49-F238E27FC236}">
                <a16:creationId xmlns:a16="http://schemas.microsoft.com/office/drawing/2014/main" id="{34F777ED-1A64-73E4-3164-A391112B1011}"/>
              </a:ext>
            </a:extLst>
          </p:cNvPr>
          <p:cNvSpPr/>
          <p:nvPr/>
        </p:nvSpPr>
        <p:spPr>
          <a:xfrm>
            <a:off x="0" y="6578600"/>
            <a:ext cx="12192000" cy="279400"/>
          </a:xfrm>
          <a:prstGeom prst="rect">
            <a:avLst/>
          </a:prstGeom>
          <a:solidFill>
            <a:srgbClr val="003262"/>
          </a:solidFill>
          <a:ln>
            <a:noFill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00" name="Shape Band">
            <a:extLst>
              <a:ext uri="{FF2B5EF4-FFF2-40B4-BE49-F238E27FC236}">
                <a16:creationId xmlns:a16="http://schemas.microsoft.com/office/drawing/2014/main" id="{FB871872-B17B-F8A6-4781-DE0BFB60B723}"/>
              </a:ext>
            </a:extLst>
          </p:cNvPr>
          <p:cNvSpPr/>
          <p:nvPr/>
        </p:nvSpPr>
        <p:spPr>
          <a:xfrm>
            <a:off x="0" y="0"/>
            <a:ext cx="12192000" cy="558800"/>
          </a:xfrm>
          <a:prstGeom prst="rect">
            <a:avLst/>
          </a:prstGeom>
          <a:solidFill>
            <a:srgbClr val="003262"/>
          </a:solidFill>
          <a:ln w="12700">
            <a:solidFill>
              <a:srgbClr val="004C97"/>
            </a:solidFill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01" name="Shape Rule">
            <a:extLst>
              <a:ext uri="{FF2B5EF4-FFF2-40B4-BE49-F238E27FC236}">
                <a16:creationId xmlns:a16="http://schemas.microsoft.com/office/drawing/2014/main" id="{8D1629C3-675C-9155-BF4D-B616F49FFBC4}"/>
              </a:ext>
            </a:extLst>
          </p:cNvPr>
          <p:cNvSpPr/>
          <p:nvPr/>
        </p:nvSpPr>
        <p:spPr>
          <a:xfrm>
            <a:off x="0" y="558800"/>
            <a:ext cx="12192000" cy="63500"/>
          </a:xfrm>
          <a:prstGeom prst="rect">
            <a:avLst/>
          </a:prstGeom>
          <a:solidFill>
            <a:srgbClr val="007DB6"/>
          </a:solidFill>
          <a:ln w="12700">
            <a:solidFill>
              <a:srgbClr val="009CDE"/>
            </a:solidFill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02" name="Shape Tab">
            <a:extLst>
              <a:ext uri="{FF2B5EF4-FFF2-40B4-BE49-F238E27FC236}">
                <a16:creationId xmlns:a16="http://schemas.microsoft.com/office/drawing/2014/main" id="{3E9EE3D9-BEEF-08E3-78EE-E1FA55A7D451}"/>
              </a:ext>
            </a:extLst>
          </p:cNvPr>
          <p:cNvSpPr/>
          <p:nvPr/>
        </p:nvSpPr>
        <p:spPr>
          <a:xfrm>
            <a:off x="0" y="558800"/>
            <a:ext cx="1549400" cy="63500"/>
          </a:xfrm>
          <a:prstGeom prst="rect">
            <a:avLst/>
          </a:prstGeom>
          <a:solidFill>
            <a:srgbClr val="FCB415"/>
          </a:solidFill>
          <a:ln w="12700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E93FC077-33F5-2E2E-DC61-BB4CDC650ED2}"/>
              </a:ext>
            </a:extLst>
          </p:cNvPr>
          <p:cNvSpPr/>
          <p:nvPr/>
        </p:nvSpPr>
        <p:spPr>
          <a:xfrm>
            <a:off x="1714500" y="165100"/>
            <a:ext cx="10058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kern="0" spc="120" noProof="0" dirty="0">
                <a:solidFill>
                  <a:srgbClr val="009CDE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Stylized facts</a:t>
            </a:r>
            <a:endParaRPr lang="en-US" sz="1600" spc="120" noProof="0" dirty="0">
              <a:solidFill>
                <a:srgbClr val="009CD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9EE6C73-208F-2372-1D24-4AC08EA2BE9A}"/>
              </a:ext>
            </a:extLst>
          </p:cNvPr>
          <p:cNvSpPr/>
          <p:nvPr/>
        </p:nvSpPr>
        <p:spPr>
          <a:xfrm>
            <a:off x="419100" y="38100"/>
            <a:ext cx="104267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noProof="0" dirty="0">
                <a:solidFill>
                  <a:srgbClr val="FFFFFF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What is earmarking used to finance?</a:t>
            </a:r>
            <a:endParaRPr lang="en-US" sz="2400" b="1" noProof="0" dirty="0">
              <a:solidFill>
                <a:srgbClr val="FFFF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15F441B5-7972-2797-F7AB-584379060349}"/>
              </a:ext>
            </a:extLst>
          </p:cNvPr>
          <p:cNvSpPr/>
          <p:nvPr/>
        </p:nvSpPr>
        <p:spPr>
          <a:xfrm>
            <a:off x="279400" y="6578600"/>
            <a:ext cx="8229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noProof="0" dirty="0">
                <a:solidFill>
                  <a:srgbClr val="FFFFFF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International Monetary Fund   |   African Department</a:t>
            </a:r>
            <a:endParaRPr lang="en-US" sz="1000" noProof="0" dirty="0">
              <a:solidFill>
                <a:srgbClr val="FFFF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B8B85F2F-A874-E4CF-977C-90BF30BC635D}"/>
              </a:ext>
            </a:extLst>
          </p:cNvPr>
          <p:cNvSpPr/>
          <p:nvPr/>
        </p:nvSpPr>
        <p:spPr>
          <a:xfrm>
            <a:off x="11671300" y="6565900"/>
            <a:ext cx="330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noProof="0">
                <a:solidFill>
                  <a:srgbClr val="FFFFFF"/>
                </a:solidFill>
                <a:latin typeface="Segoe UI"/>
                <a:ea typeface="Segoe UI" pitchFamily="34" charset="-122"/>
                <a:cs typeface="Segoe UI"/>
              </a:rPr>
              <a:t>15</a:t>
            </a:r>
            <a:endParaRPr lang="en-US" sz="1200" noProof="0" dirty="0">
              <a:solidFill>
                <a:srgbClr val="FFFFFF"/>
              </a:solidFill>
              <a:latin typeface="Segoe UI"/>
              <a:cs typeface="Segoe UI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D6D0C21-F68E-0DEE-C648-8C9367CFCD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0982" y="1170587"/>
            <a:ext cx="9170035" cy="4902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2117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A046D-EA1C-228C-599C-1BC91B142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Footer band">
            <a:extLst>
              <a:ext uri="{FF2B5EF4-FFF2-40B4-BE49-F238E27FC236}">
                <a16:creationId xmlns:a16="http://schemas.microsoft.com/office/drawing/2014/main" id="{6BA9A1B6-0718-FDCE-6CAF-CDF8B0BD9297}"/>
              </a:ext>
            </a:extLst>
          </p:cNvPr>
          <p:cNvSpPr/>
          <p:nvPr/>
        </p:nvSpPr>
        <p:spPr>
          <a:xfrm>
            <a:off x="0" y="6578600"/>
            <a:ext cx="12192000" cy="279400"/>
          </a:xfrm>
          <a:prstGeom prst="rect">
            <a:avLst/>
          </a:prstGeom>
          <a:solidFill>
            <a:srgbClr val="003262"/>
          </a:solidFill>
          <a:ln>
            <a:noFill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00" name="Shape Band">
            <a:extLst>
              <a:ext uri="{FF2B5EF4-FFF2-40B4-BE49-F238E27FC236}">
                <a16:creationId xmlns:a16="http://schemas.microsoft.com/office/drawing/2014/main" id="{0427D5E0-7338-09E9-A203-E85F12F00215}"/>
              </a:ext>
            </a:extLst>
          </p:cNvPr>
          <p:cNvSpPr/>
          <p:nvPr/>
        </p:nvSpPr>
        <p:spPr>
          <a:xfrm>
            <a:off x="0" y="0"/>
            <a:ext cx="12192000" cy="558800"/>
          </a:xfrm>
          <a:prstGeom prst="rect">
            <a:avLst/>
          </a:prstGeom>
          <a:solidFill>
            <a:srgbClr val="003262"/>
          </a:solidFill>
          <a:ln w="12700">
            <a:solidFill>
              <a:srgbClr val="004C97"/>
            </a:solidFill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01" name="Shape Rule">
            <a:extLst>
              <a:ext uri="{FF2B5EF4-FFF2-40B4-BE49-F238E27FC236}">
                <a16:creationId xmlns:a16="http://schemas.microsoft.com/office/drawing/2014/main" id="{06939639-CC3E-3EED-A160-3B137040D7E9}"/>
              </a:ext>
            </a:extLst>
          </p:cNvPr>
          <p:cNvSpPr/>
          <p:nvPr/>
        </p:nvSpPr>
        <p:spPr>
          <a:xfrm>
            <a:off x="0" y="558800"/>
            <a:ext cx="12192000" cy="63500"/>
          </a:xfrm>
          <a:prstGeom prst="rect">
            <a:avLst/>
          </a:prstGeom>
          <a:solidFill>
            <a:srgbClr val="007DB6"/>
          </a:solidFill>
          <a:ln w="12700">
            <a:solidFill>
              <a:srgbClr val="009CDE"/>
            </a:solidFill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02" name="Shape Tab">
            <a:extLst>
              <a:ext uri="{FF2B5EF4-FFF2-40B4-BE49-F238E27FC236}">
                <a16:creationId xmlns:a16="http://schemas.microsoft.com/office/drawing/2014/main" id="{CD8ECA50-C082-D986-339F-E6D442F6D0B7}"/>
              </a:ext>
            </a:extLst>
          </p:cNvPr>
          <p:cNvSpPr/>
          <p:nvPr/>
        </p:nvSpPr>
        <p:spPr>
          <a:xfrm>
            <a:off x="0" y="558800"/>
            <a:ext cx="1549400" cy="63500"/>
          </a:xfrm>
          <a:prstGeom prst="rect">
            <a:avLst/>
          </a:prstGeom>
          <a:solidFill>
            <a:srgbClr val="FCB415"/>
          </a:solidFill>
          <a:ln w="12700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1D4A8CC4-43E7-4CC4-C9A5-567A51D32CC4}"/>
              </a:ext>
            </a:extLst>
          </p:cNvPr>
          <p:cNvSpPr/>
          <p:nvPr/>
        </p:nvSpPr>
        <p:spPr>
          <a:xfrm>
            <a:off x="1714500" y="165100"/>
            <a:ext cx="10058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kern="0" spc="120" noProof="0" dirty="0">
                <a:solidFill>
                  <a:srgbClr val="009CDE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Stylized facts</a:t>
            </a:r>
            <a:endParaRPr lang="en-US" sz="1600" spc="120" noProof="0" dirty="0">
              <a:solidFill>
                <a:srgbClr val="009CD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33381E4-4EE3-6CA2-77D3-F8385E0B3146}"/>
              </a:ext>
            </a:extLst>
          </p:cNvPr>
          <p:cNvSpPr/>
          <p:nvPr/>
        </p:nvSpPr>
        <p:spPr>
          <a:xfrm>
            <a:off x="419100" y="38100"/>
            <a:ext cx="104267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noProof="0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Ghana Illustration – Budget rigidity</a:t>
            </a: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98FE7320-D281-E3F8-6FA4-CFE6E604E100}"/>
              </a:ext>
            </a:extLst>
          </p:cNvPr>
          <p:cNvSpPr/>
          <p:nvPr/>
        </p:nvSpPr>
        <p:spPr>
          <a:xfrm>
            <a:off x="279400" y="6578600"/>
            <a:ext cx="8229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noProof="0" dirty="0">
                <a:solidFill>
                  <a:srgbClr val="FFFFFF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International Monetary Fund   |   African Department</a:t>
            </a:r>
            <a:endParaRPr lang="en-US" sz="1000" noProof="0" dirty="0">
              <a:solidFill>
                <a:srgbClr val="FFFF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31E8393C-B306-DC15-F02F-2C3E6C6C60A9}"/>
              </a:ext>
            </a:extLst>
          </p:cNvPr>
          <p:cNvSpPr/>
          <p:nvPr/>
        </p:nvSpPr>
        <p:spPr>
          <a:xfrm>
            <a:off x="11671300" y="6565900"/>
            <a:ext cx="330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noProof="0">
                <a:solidFill>
                  <a:srgbClr val="FFFFFF"/>
                </a:solidFill>
                <a:latin typeface="Segoe UI"/>
                <a:ea typeface="Segoe UI" pitchFamily="34" charset="-122"/>
                <a:cs typeface="Segoe UI"/>
              </a:rPr>
              <a:t>16</a:t>
            </a:r>
            <a:endParaRPr lang="en-US" sz="1200" noProof="0" dirty="0">
              <a:solidFill>
                <a:srgbClr val="FFFFFF"/>
              </a:solidFill>
              <a:latin typeface="Segoe UI"/>
              <a:cs typeface="Segoe UI"/>
            </a:endParaRP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20E850A3-94E7-7FFB-1FD4-D33F46C964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58" y="1963256"/>
            <a:ext cx="5209147" cy="2749272"/>
          </a:xfrm>
          <a:prstGeom prst="rect">
            <a:avLst/>
          </a:prstGeom>
        </p:spPr>
      </p:pic>
      <p:sp>
        <p:nvSpPr>
          <p:cNvPr id="11" name="Text 6">
            <a:extLst>
              <a:ext uri="{FF2B5EF4-FFF2-40B4-BE49-F238E27FC236}">
                <a16:creationId xmlns:a16="http://schemas.microsoft.com/office/drawing/2014/main" id="{DAA9136D-7069-22AA-C917-842D2A9BBB52}"/>
              </a:ext>
            </a:extLst>
          </p:cNvPr>
          <p:cNvSpPr/>
          <p:nvPr/>
        </p:nvSpPr>
        <p:spPr>
          <a:xfrm>
            <a:off x="614458" y="5366164"/>
            <a:ext cx="548154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00" i="1" noProof="0" dirty="0">
                <a:solidFill>
                  <a:schemeClr val="bg2">
                    <a:lumMod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Budget allocations to earmarked funds as a share of Ghana’s total budget 2018 - 2026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76D3189D-1D82-2BBA-D2AA-5D5B206E52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8397" y="1963256"/>
            <a:ext cx="5365334" cy="2869922"/>
          </a:xfrm>
          <a:prstGeom prst="rect">
            <a:avLst/>
          </a:prstGeom>
        </p:spPr>
      </p:pic>
      <p:sp>
        <p:nvSpPr>
          <p:cNvPr id="15" name="Text 6">
            <a:extLst>
              <a:ext uri="{FF2B5EF4-FFF2-40B4-BE49-F238E27FC236}">
                <a16:creationId xmlns:a16="http://schemas.microsoft.com/office/drawing/2014/main" id="{F0077BFF-5967-FCFD-E960-40BB5558BB2D}"/>
              </a:ext>
            </a:extLst>
          </p:cNvPr>
          <p:cNvSpPr/>
          <p:nvPr/>
        </p:nvSpPr>
        <p:spPr>
          <a:xfrm>
            <a:off x="6368397" y="5366440"/>
            <a:ext cx="548154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00" i="1" noProof="0" dirty="0">
                <a:solidFill>
                  <a:schemeClr val="bg2">
                    <a:lumMod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Budget allocation to each earmarked fund as a share of total government expenditure, 2018–2026</a:t>
            </a:r>
          </a:p>
        </p:txBody>
      </p:sp>
    </p:spTree>
    <p:extLst>
      <p:ext uri="{BB962C8B-B14F-4D97-AF65-F5344CB8AC3E}">
        <p14:creationId xmlns:p14="http://schemas.microsoft.com/office/powerpoint/2010/main" val="7919318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2D677-637B-F8C1-7352-ED1853D5E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Footer band">
            <a:extLst>
              <a:ext uri="{FF2B5EF4-FFF2-40B4-BE49-F238E27FC236}">
                <a16:creationId xmlns:a16="http://schemas.microsoft.com/office/drawing/2014/main" id="{E7F11718-7C76-195C-E563-BF574EE5751D}"/>
              </a:ext>
            </a:extLst>
          </p:cNvPr>
          <p:cNvSpPr/>
          <p:nvPr/>
        </p:nvSpPr>
        <p:spPr>
          <a:xfrm>
            <a:off x="0" y="6578600"/>
            <a:ext cx="12192000" cy="279400"/>
          </a:xfrm>
          <a:prstGeom prst="rect">
            <a:avLst/>
          </a:prstGeom>
          <a:solidFill>
            <a:srgbClr val="003262"/>
          </a:solidFill>
          <a:ln>
            <a:noFill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00" name="Shape Band">
            <a:extLst>
              <a:ext uri="{FF2B5EF4-FFF2-40B4-BE49-F238E27FC236}">
                <a16:creationId xmlns:a16="http://schemas.microsoft.com/office/drawing/2014/main" id="{669970D9-77E0-AFC6-7E2E-CF213FDA3B13}"/>
              </a:ext>
            </a:extLst>
          </p:cNvPr>
          <p:cNvSpPr/>
          <p:nvPr/>
        </p:nvSpPr>
        <p:spPr>
          <a:xfrm>
            <a:off x="0" y="0"/>
            <a:ext cx="12192000" cy="558800"/>
          </a:xfrm>
          <a:prstGeom prst="rect">
            <a:avLst/>
          </a:prstGeom>
          <a:solidFill>
            <a:srgbClr val="003262"/>
          </a:solidFill>
          <a:ln w="12700">
            <a:solidFill>
              <a:srgbClr val="004C97"/>
            </a:solidFill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01" name="Shape Rule">
            <a:extLst>
              <a:ext uri="{FF2B5EF4-FFF2-40B4-BE49-F238E27FC236}">
                <a16:creationId xmlns:a16="http://schemas.microsoft.com/office/drawing/2014/main" id="{95DE1809-2E11-9373-8AA5-E7A68C289BAF}"/>
              </a:ext>
            </a:extLst>
          </p:cNvPr>
          <p:cNvSpPr/>
          <p:nvPr/>
        </p:nvSpPr>
        <p:spPr>
          <a:xfrm>
            <a:off x="0" y="558800"/>
            <a:ext cx="12192000" cy="63500"/>
          </a:xfrm>
          <a:prstGeom prst="rect">
            <a:avLst/>
          </a:prstGeom>
          <a:solidFill>
            <a:srgbClr val="007DB6"/>
          </a:solidFill>
          <a:ln w="12700">
            <a:solidFill>
              <a:srgbClr val="009CDE"/>
            </a:solidFill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02" name="Shape Tab">
            <a:extLst>
              <a:ext uri="{FF2B5EF4-FFF2-40B4-BE49-F238E27FC236}">
                <a16:creationId xmlns:a16="http://schemas.microsoft.com/office/drawing/2014/main" id="{B3BAF43B-0495-4053-9CC4-92EAB5D82F0F}"/>
              </a:ext>
            </a:extLst>
          </p:cNvPr>
          <p:cNvSpPr/>
          <p:nvPr/>
        </p:nvSpPr>
        <p:spPr>
          <a:xfrm>
            <a:off x="0" y="558800"/>
            <a:ext cx="1549400" cy="63500"/>
          </a:xfrm>
          <a:prstGeom prst="rect">
            <a:avLst/>
          </a:prstGeom>
          <a:solidFill>
            <a:srgbClr val="FCB415"/>
          </a:solidFill>
          <a:ln w="12700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48F96AB4-4560-E5C4-31BA-0D7CB35F4766}"/>
              </a:ext>
            </a:extLst>
          </p:cNvPr>
          <p:cNvSpPr/>
          <p:nvPr/>
        </p:nvSpPr>
        <p:spPr>
          <a:xfrm>
            <a:off x="1714500" y="165100"/>
            <a:ext cx="10058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kern="0" spc="120" noProof="0" dirty="0">
                <a:solidFill>
                  <a:srgbClr val="009CDE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Stylized facts</a:t>
            </a:r>
            <a:endParaRPr lang="en-US" sz="1600" spc="120" noProof="0" dirty="0">
              <a:solidFill>
                <a:srgbClr val="009CD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C54CFA4-838A-5F36-59BA-32FC4B9BC7D1}"/>
              </a:ext>
            </a:extLst>
          </p:cNvPr>
          <p:cNvSpPr/>
          <p:nvPr/>
        </p:nvSpPr>
        <p:spPr>
          <a:xfrm>
            <a:off x="419100" y="38100"/>
            <a:ext cx="104267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noProof="0" dirty="0">
                <a:solidFill>
                  <a:srgbClr val="FFFFFF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Do countries use earmarking in fundamentally different ways?</a:t>
            </a:r>
            <a:endParaRPr lang="en-US" sz="2400" b="1" noProof="0" dirty="0">
              <a:solidFill>
                <a:srgbClr val="FFFF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7ECFBE32-4A20-A994-BF40-7D505E494F05}"/>
              </a:ext>
            </a:extLst>
          </p:cNvPr>
          <p:cNvSpPr/>
          <p:nvPr/>
        </p:nvSpPr>
        <p:spPr>
          <a:xfrm>
            <a:off x="279400" y="6578600"/>
            <a:ext cx="8229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noProof="0" dirty="0">
                <a:solidFill>
                  <a:srgbClr val="FFFFFF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International Monetary Fund   |   African Department</a:t>
            </a:r>
            <a:endParaRPr lang="en-US" sz="1000" noProof="0" dirty="0">
              <a:solidFill>
                <a:srgbClr val="FFFF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0B492F81-E199-9289-58DB-5B0D66D5AEB6}"/>
              </a:ext>
            </a:extLst>
          </p:cNvPr>
          <p:cNvSpPr/>
          <p:nvPr/>
        </p:nvSpPr>
        <p:spPr>
          <a:xfrm>
            <a:off x="11671300" y="6565900"/>
            <a:ext cx="330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noProof="0">
                <a:solidFill>
                  <a:srgbClr val="FFFFFF"/>
                </a:solidFill>
                <a:latin typeface="Segoe UI"/>
                <a:ea typeface="Segoe UI" pitchFamily="34" charset="-122"/>
                <a:cs typeface="Segoe UI"/>
              </a:rPr>
              <a:t>17</a:t>
            </a:r>
            <a:endParaRPr lang="en-US" sz="1200" noProof="0" dirty="0">
              <a:solidFill>
                <a:srgbClr val="FFFFFF"/>
              </a:solidFill>
              <a:latin typeface="Segoe UI"/>
              <a:cs typeface="Segoe UI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3FBE34CF-78AA-1AB8-14B4-6B340D7DB59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6504"/>
          <a:stretch>
            <a:fillRect/>
          </a:stretch>
        </p:blipFill>
        <p:spPr>
          <a:xfrm>
            <a:off x="1780673" y="1289864"/>
            <a:ext cx="8630653" cy="4053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8181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5209E-8B5B-B123-0779-8F21D5E90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Footer band">
            <a:extLst>
              <a:ext uri="{FF2B5EF4-FFF2-40B4-BE49-F238E27FC236}">
                <a16:creationId xmlns:a16="http://schemas.microsoft.com/office/drawing/2014/main" id="{8B3C58E2-4AF9-263B-497D-E77490290845}"/>
              </a:ext>
            </a:extLst>
          </p:cNvPr>
          <p:cNvSpPr/>
          <p:nvPr/>
        </p:nvSpPr>
        <p:spPr>
          <a:xfrm>
            <a:off x="0" y="6578600"/>
            <a:ext cx="12192000" cy="279400"/>
          </a:xfrm>
          <a:prstGeom prst="rect">
            <a:avLst/>
          </a:prstGeom>
          <a:solidFill>
            <a:srgbClr val="003262"/>
          </a:solidFill>
          <a:ln>
            <a:noFill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00" name="Shape Band">
            <a:extLst>
              <a:ext uri="{FF2B5EF4-FFF2-40B4-BE49-F238E27FC236}">
                <a16:creationId xmlns:a16="http://schemas.microsoft.com/office/drawing/2014/main" id="{DED6AA5A-410F-EE46-0CCF-ECF7BB0D7EC4}"/>
              </a:ext>
            </a:extLst>
          </p:cNvPr>
          <p:cNvSpPr/>
          <p:nvPr/>
        </p:nvSpPr>
        <p:spPr>
          <a:xfrm>
            <a:off x="0" y="0"/>
            <a:ext cx="12192000" cy="558800"/>
          </a:xfrm>
          <a:prstGeom prst="rect">
            <a:avLst/>
          </a:prstGeom>
          <a:solidFill>
            <a:srgbClr val="003262"/>
          </a:solidFill>
          <a:ln w="12700">
            <a:solidFill>
              <a:srgbClr val="004C97"/>
            </a:solidFill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01" name="Shape Rule">
            <a:extLst>
              <a:ext uri="{FF2B5EF4-FFF2-40B4-BE49-F238E27FC236}">
                <a16:creationId xmlns:a16="http://schemas.microsoft.com/office/drawing/2014/main" id="{524DEC88-A526-5D7D-A334-0AD330D682C6}"/>
              </a:ext>
            </a:extLst>
          </p:cNvPr>
          <p:cNvSpPr/>
          <p:nvPr/>
        </p:nvSpPr>
        <p:spPr>
          <a:xfrm>
            <a:off x="0" y="558800"/>
            <a:ext cx="12192000" cy="63500"/>
          </a:xfrm>
          <a:prstGeom prst="rect">
            <a:avLst/>
          </a:prstGeom>
          <a:solidFill>
            <a:srgbClr val="007DB6"/>
          </a:solidFill>
          <a:ln w="12700">
            <a:solidFill>
              <a:srgbClr val="009CDE"/>
            </a:solidFill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02" name="Shape Tab">
            <a:extLst>
              <a:ext uri="{FF2B5EF4-FFF2-40B4-BE49-F238E27FC236}">
                <a16:creationId xmlns:a16="http://schemas.microsoft.com/office/drawing/2014/main" id="{C313E7F3-FBC8-B67E-9AD7-90566C862A4A}"/>
              </a:ext>
            </a:extLst>
          </p:cNvPr>
          <p:cNvSpPr/>
          <p:nvPr/>
        </p:nvSpPr>
        <p:spPr>
          <a:xfrm>
            <a:off x="0" y="558800"/>
            <a:ext cx="1549400" cy="63500"/>
          </a:xfrm>
          <a:prstGeom prst="rect">
            <a:avLst/>
          </a:prstGeom>
          <a:solidFill>
            <a:srgbClr val="FCB415"/>
          </a:solidFill>
          <a:ln w="12700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8E9FF49C-A041-3C97-70C2-A3284F5A5624}"/>
              </a:ext>
            </a:extLst>
          </p:cNvPr>
          <p:cNvSpPr/>
          <p:nvPr/>
        </p:nvSpPr>
        <p:spPr>
          <a:xfrm>
            <a:off x="1714500" y="165100"/>
            <a:ext cx="10058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kern="0" spc="120" noProof="0" dirty="0">
                <a:solidFill>
                  <a:srgbClr val="009CDE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Stylized facts</a:t>
            </a:r>
            <a:endParaRPr lang="en-US" sz="1600" spc="120" noProof="0" dirty="0">
              <a:solidFill>
                <a:srgbClr val="009CD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9BCC9D1-6BB1-043F-7804-F34298BBF489}"/>
              </a:ext>
            </a:extLst>
          </p:cNvPr>
          <p:cNvSpPr/>
          <p:nvPr/>
        </p:nvSpPr>
        <p:spPr>
          <a:xfrm>
            <a:off x="419100" y="38100"/>
            <a:ext cx="104267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noProof="0" dirty="0">
                <a:solidFill>
                  <a:srgbClr val="FFFFFF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Do countries use earmarking in fundamentally different ways?</a:t>
            </a:r>
            <a:endParaRPr lang="en-US" sz="2400" b="1" noProof="0" dirty="0">
              <a:solidFill>
                <a:srgbClr val="FFFF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DD66FA0A-18FC-2A2A-BF0A-F555FD55D52F}"/>
              </a:ext>
            </a:extLst>
          </p:cNvPr>
          <p:cNvSpPr/>
          <p:nvPr/>
        </p:nvSpPr>
        <p:spPr>
          <a:xfrm>
            <a:off x="279400" y="6578600"/>
            <a:ext cx="8229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noProof="0" dirty="0">
                <a:solidFill>
                  <a:srgbClr val="FFFFFF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International Monetary Fund   |   African Department</a:t>
            </a:r>
            <a:endParaRPr lang="en-US" sz="1000" noProof="0" dirty="0">
              <a:solidFill>
                <a:srgbClr val="FFFF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F67054D0-727A-8EFA-245C-AD7E8C2DD049}"/>
              </a:ext>
            </a:extLst>
          </p:cNvPr>
          <p:cNvSpPr/>
          <p:nvPr/>
        </p:nvSpPr>
        <p:spPr>
          <a:xfrm>
            <a:off x="11671300" y="6565900"/>
            <a:ext cx="330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noProof="0">
                <a:solidFill>
                  <a:srgbClr val="FFFFFF"/>
                </a:solidFill>
                <a:latin typeface="Segoe UI"/>
                <a:ea typeface="Segoe UI" pitchFamily="34" charset="-122"/>
                <a:cs typeface="Segoe UI"/>
              </a:rPr>
              <a:t>18</a:t>
            </a:r>
            <a:endParaRPr lang="en-US" sz="1200" noProof="0" dirty="0">
              <a:solidFill>
                <a:srgbClr val="FFFFFF"/>
              </a:solidFill>
              <a:latin typeface="Segoe UI"/>
              <a:cs typeface="Segoe UI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18672D7-9DCE-5476-73AB-693F9C4725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5754"/>
          <a:stretch>
            <a:fillRect/>
          </a:stretch>
        </p:blipFill>
        <p:spPr>
          <a:xfrm>
            <a:off x="2221505" y="1181100"/>
            <a:ext cx="7748990" cy="4426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1631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E3B0C7-4BB9-5248-B1E6-24B376F20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Footer band">
            <a:extLst>
              <a:ext uri="{FF2B5EF4-FFF2-40B4-BE49-F238E27FC236}">
                <a16:creationId xmlns:a16="http://schemas.microsoft.com/office/drawing/2014/main" id="{7AD5CDC9-D2E9-519C-AEF3-01ADD98E6C75}"/>
              </a:ext>
            </a:extLst>
          </p:cNvPr>
          <p:cNvSpPr/>
          <p:nvPr/>
        </p:nvSpPr>
        <p:spPr>
          <a:xfrm>
            <a:off x="0" y="6578600"/>
            <a:ext cx="12192000" cy="279400"/>
          </a:xfrm>
          <a:prstGeom prst="rect">
            <a:avLst/>
          </a:prstGeom>
          <a:solidFill>
            <a:srgbClr val="003262"/>
          </a:solidFill>
          <a:ln>
            <a:noFill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00" name="Shape Band">
            <a:extLst>
              <a:ext uri="{FF2B5EF4-FFF2-40B4-BE49-F238E27FC236}">
                <a16:creationId xmlns:a16="http://schemas.microsoft.com/office/drawing/2014/main" id="{8F19FEDB-A8CF-87C2-29DA-578CD0053500}"/>
              </a:ext>
            </a:extLst>
          </p:cNvPr>
          <p:cNvSpPr/>
          <p:nvPr/>
        </p:nvSpPr>
        <p:spPr>
          <a:xfrm>
            <a:off x="0" y="0"/>
            <a:ext cx="12192000" cy="558800"/>
          </a:xfrm>
          <a:prstGeom prst="rect">
            <a:avLst/>
          </a:prstGeom>
          <a:solidFill>
            <a:srgbClr val="003262"/>
          </a:solidFill>
          <a:ln w="12700">
            <a:solidFill>
              <a:srgbClr val="004C97"/>
            </a:solidFill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01" name="Shape Rule">
            <a:extLst>
              <a:ext uri="{FF2B5EF4-FFF2-40B4-BE49-F238E27FC236}">
                <a16:creationId xmlns:a16="http://schemas.microsoft.com/office/drawing/2014/main" id="{6002A730-2393-7B50-F941-2D876C9957B7}"/>
              </a:ext>
            </a:extLst>
          </p:cNvPr>
          <p:cNvSpPr/>
          <p:nvPr/>
        </p:nvSpPr>
        <p:spPr>
          <a:xfrm>
            <a:off x="0" y="558800"/>
            <a:ext cx="12192000" cy="63500"/>
          </a:xfrm>
          <a:prstGeom prst="rect">
            <a:avLst/>
          </a:prstGeom>
          <a:solidFill>
            <a:srgbClr val="007DB6"/>
          </a:solidFill>
          <a:ln w="12700">
            <a:solidFill>
              <a:srgbClr val="009CDE"/>
            </a:solidFill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02" name="Shape Tab">
            <a:extLst>
              <a:ext uri="{FF2B5EF4-FFF2-40B4-BE49-F238E27FC236}">
                <a16:creationId xmlns:a16="http://schemas.microsoft.com/office/drawing/2014/main" id="{A44EC02C-CDC5-089D-5520-94BA45AFA45E}"/>
              </a:ext>
            </a:extLst>
          </p:cNvPr>
          <p:cNvSpPr/>
          <p:nvPr/>
        </p:nvSpPr>
        <p:spPr>
          <a:xfrm>
            <a:off x="0" y="558800"/>
            <a:ext cx="1549400" cy="63500"/>
          </a:xfrm>
          <a:prstGeom prst="rect">
            <a:avLst/>
          </a:prstGeom>
          <a:solidFill>
            <a:srgbClr val="FCB415"/>
          </a:solidFill>
          <a:ln w="12700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539AB9D4-9BCA-0DF0-1003-F5E28F31887C}"/>
              </a:ext>
            </a:extLst>
          </p:cNvPr>
          <p:cNvSpPr/>
          <p:nvPr/>
        </p:nvSpPr>
        <p:spPr>
          <a:xfrm>
            <a:off x="1714500" y="165100"/>
            <a:ext cx="10058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kern="0" spc="120" noProof="0" dirty="0">
                <a:solidFill>
                  <a:srgbClr val="009CDE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Stylized facts</a:t>
            </a:r>
            <a:endParaRPr lang="en-US" sz="1600" spc="120" noProof="0" dirty="0">
              <a:solidFill>
                <a:srgbClr val="009CD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6C37071-566B-3C08-2520-008A313FF654}"/>
              </a:ext>
            </a:extLst>
          </p:cNvPr>
          <p:cNvSpPr/>
          <p:nvPr/>
        </p:nvSpPr>
        <p:spPr>
          <a:xfrm>
            <a:off x="419100" y="38100"/>
            <a:ext cx="104267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noProof="0" dirty="0">
                <a:solidFill>
                  <a:srgbClr val="FFFFFF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Do countries use earmarking in fundamentally different ways?</a:t>
            </a:r>
            <a:endParaRPr lang="en-US" sz="2400" b="1" noProof="0" dirty="0">
              <a:solidFill>
                <a:srgbClr val="FFFF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C70D9AC8-9C7E-D0E6-A406-B99D20CF641C}"/>
              </a:ext>
            </a:extLst>
          </p:cNvPr>
          <p:cNvSpPr/>
          <p:nvPr/>
        </p:nvSpPr>
        <p:spPr>
          <a:xfrm>
            <a:off x="279400" y="6578600"/>
            <a:ext cx="8229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noProof="0" dirty="0">
                <a:solidFill>
                  <a:srgbClr val="FFFFFF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International Monetary Fund   |   African Department</a:t>
            </a:r>
            <a:endParaRPr lang="en-US" sz="1000" noProof="0" dirty="0">
              <a:solidFill>
                <a:srgbClr val="FFFF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5864623E-5AA1-F339-8E40-47C6283BCFF3}"/>
              </a:ext>
            </a:extLst>
          </p:cNvPr>
          <p:cNvSpPr/>
          <p:nvPr/>
        </p:nvSpPr>
        <p:spPr>
          <a:xfrm>
            <a:off x="11671300" y="6565900"/>
            <a:ext cx="330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noProof="0">
                <a:solidFill>
                  <a:srgbClr val="FFFFFF"/>
                </a:solidFill>
                <a:latin typeface="Segoe UI"/>
                <a:ea typeface="Segoe UI" pitchFamily="34" charset="-122"/>
                <a:cs typeface="Segoe UI"/>
              </a:rPr>
              <a:t>19</a:t>
            </a:r>
            <a:endParaRPr lang="en-US" sz="1200" noProof="0" dirty="0">
              <a:solidFill>
                <a:srgbClr val="FFFFFF"/>
              </a:solidFill>
              <a:latin typeface="Segoe UI"/>
              <a:cs typeface="Segoe UI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31F9127-6AE6-2272-C404-98F79212423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9300"/>
          <a:stretch>
            <a:fillRect/>
          </a:stretch>
        </p:blipFill>
        <p:spPr>
          <a:xfrm>
            <a:off x="1741978" y="1182969"/>
            <a:ext cx="8708043" cy="4492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2661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29F1A-EA11-FA3D-66C1-C522498CC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Footer band">
            <a:extLst>
              <a:ext uri="{FF2B5EF4-FFF2-40B4-BE49-F238E27FC236}">
                <a16:creationId xmlns:a16="http://schemas.microsoft.com/office/drawing/2014/main" id="{C1C3E7B8-4C39-315C-AE45-63A9B931850D}"/>
              </a:ext>
            </a:extLst>
          </p:cNvPr>
          <p:cNvSpPr/>
          <p:nvPr/>
        </p:nvSpPr>
        <p:spPr>
          <a:xfrm>
            <a:off x="0" y="6578600"/>
            <a:ext cx="12192000" cy="279400"/>
          </a:xfrm>
          <a:prstGeom prst="rect">
            <a:avLst/>
          </a:prstGeom>
          <a:solidFill>
            <a:srgbClr val="003262"/>
          </a:solidFill>
          <a:ln>
            <a:noFill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00" name="Shape Band">
            <a:extLst>
              <a:ext uri="{FF2B5EF4-FFF2-40B4-BE49-F238E27FC236}">
                <a16:creationId xmlns:a16="http://schemas.microsoft.com/office/drawing/2014/main" id="{FD712642-68CB-3C6C-A813-370FE3A5CCD3}"/>
              </a:ext>
            </a:extLst>
          </p:cNvPr>
          <p:cNvSpPr/>
          <p:nvPr/>
        </p:nvSpPr>
        <p:spPr>
          <a:xfrm>
            <a:off x="0" y="0"/>
            <a:ext cx="12192000" cy="558800"/>
          </a:xfrm>
          <a:prstGeom prst="rect">
            <a:avLst/>
          </a:prstGeom>
          <a:solidFill>
            <a:srgbClr val="003262"/>
          </a:solidFill>
          <a:ln w="12700">
            <a:solidFill>
              <a:srgbClr val="004C97"/>
            </a:solidFill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01" name="Shape Rule">
            <a:extLst>
              <a:ext uri="{FF2B5EF4-FFF2-40B4-BE49-F238E27FC236}">
                <a16:creationId xmlns:a16="http://schemas.microsoft.com/office/drawing/2014/main" id="{BC942D84-C080-4906-FEEB-0883CE4C350D}"/>
              </a:ext>
            </a:extLst>
          </p:cNvPr>
          <p:cNvSpPr/>
          <p:nvPr/>
        </p:nvSpPr>
        <p:spPr>
          <a:xfrm>
            <a:off x="0" y="558800"/>
            <a:ext cx="12192000" cy="63500"/>
          </a:xfrm>
          <a:prstGeom prst="rect">
            <a:avLst/>
          </a:prstGeom>
          <a:solidFill>
            <a:srgbClr val="007DB6"/>
          </a:solidFill>
          <a:ln w="12700">
            <a:solidFill>
              <a:srgbClr val="009CDE"/>
            </a:solidFill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02" name="Shape Tab">
            <a:extLst>
              <a:ext uri="{FF2B5EF4-FFF2-40B4-BE49-F238E27FC236}">
                <a16:creationId xmlns:a16="http://schemas.microsoft.com/office/drawing/2014/main" id="{831F18D4-3391-1159-DC9F-84BB5FC0A801}"/>
              </a:ext>
            </a:extLst>
          </p:cNvPr>
          <p:cNvSpPr/>
          <p:nvPr/>
        </p:nvSpPr>
        <p:spPr>
          <a:xfrm>
            <a:off x="0" y="558800"/>
            <a:ext cx="1549400" cy="63500"/>
          </a:xfrm>
          <a:prstGeom prst="rect">
            <a:avLst/>
          </a:prstGeom>
          <a:solidFill>
            <a:srgbClr val="FCB415"/>
          </a:solidFill>
          <a:ln w="12700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94F02B39-DCC9-A0C6-C730-7196128FF916}"/>
              </a:ext>
            </a:extLst>
          </p:cNvPr>
          <p:cNvSpPr/>
          <p:nvPr/>
        </p:nvSpPr>
        <p:spPr>
          <a:xfrm>
            <a:off x="1714500" y="165100"/>
            <a:ext cx="10058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kern="0" spc="120" noProof="0" dirty="0">
                <a:solidFill>
                  <a:srgbClr val="009CDE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Stylized facts</a:t>
            </a:r>
            <a:endParaRPr lang="en-US" sz="1600" spc="120" noProof="0" dirty="0">
              <a:solidFill>
                <a:srgbClr val="009CD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0D7733E-D524-82A3-F6B8-A3EB7CE095FD}"/>
              </a:ext>
            </a:extLst>
          </p:cNvPr>
          <p:cNvSpPr/>
          <p:nvPr/>
        </p:nvSpPr>
        <p:spPr>
          <a:xfrm>
            <a:off x="419100" y="38100"/>
            <a:ext cx="104267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noProof="0" dirty="0">
                <a:solidFill>
                  <a:srgbClr val="FFFFFF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Do countries use earmarking in fundamentally different ways?</a:t>
            </a:r>
            <a:endParaRPr lang="en-US" sz="2400" b="1" noProof="0" dirty="0">
              <a:solidFill>
                <a:srgbClr val="FFFF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AAF1BA16-63AC-D1A1-4D42-4C48E0D2F050}"/>
              </a:ext>
            </a:extLst>
          </p:cNvPr>
          <p:cNvSpPr/>
          <p:nvPr/>
        </p:nvSpPr>
        <p:spPr>
          <a:xfrm>
            <a:off x="279400" y="6578600"/>
            <a:ext cx="8229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noProof="0" dirty="0">
                <a:solidFill>
                  <a:srgbClr val="FFFFFF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International Monetary Fund   |   African Department</a:t>
            </a:r>
            <a:endParaRPr lang="en-US" sz="1000" noProof="0" dirty="0">
              <a:solidFill>
                <a:srgbClr val="FFFF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D331B7ED-7EC5-6533-06D3-0618C09428F9}"/>
              </a:ext>
            </a:extLst>
          </p:cNvPr>
          <p:cNvSpPr/>
          <p:nvPr/>
        </p:nvSpPr>
        <p:spPr>
          <a:xfrm>
            <a:off x="11671300" y="6565900"/>
            <a:ext cx="330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noProof="0">
                <a:solidFill>
                  <a:srgbClr val="FFFFFF"/>
                </a:solidFill>
                <a:latin typeface="Segoe UI"/>
                <a:ea typeface="Segoe UI" pitchFamily="34" charset="-122"/>
                <a:cs typeface="Segoe UI"/>
              </a:rPr>
              <a:t>20</a:t>
            </a:r>
            <a:endParaRPr lang="en-US" sz="1200" noProof="0" dirty="0">
              <a:solidFill>
                <a:srgbClr val="FFFFFF"/>
              </a:solidFill>
              <a:latin typeface="Segoe UI"/>
              <a:cs typeface="Segoe UI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2E17345-7CFD-799C-9D05-1A981494B9F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398"/>
          <a:stretch>
            <a:fillRect/>
          </a:stretch>
        </p:blipFill>
        <p:spPr>
          <a:xfrm>
            <a:off x="3186300" y="660401"/>
            <a:ext cx="6271698" cy="582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6797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56453-EF54-4429-EBF9-59656794A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Footer band">
            <a:extLst>
              <a:ext uri="{FF2B5EF4-FFF2-40B4-BE49-F238E27FC236}">
                <a16:creationId xmlns:a16="http://schemas.microsoft.com/office/drawing/2014/main" id="{9EC1C013-6E74-7358-DA84-15B086E12267}"/>
              </a:ext>
            </a:extLst>
          </p:cNvPr>
          <p:cNvSpPr/>
          <p:nvPr/>
        </p:nvSpPr>
        <p:spPr>
          <a:xfrm>
            <a:off x="0" y="6578600"/>
            <a:ext cx="12192000" cy="279400"/>
          </a:xfrm>
          <a:prstGeom prst="rect">
            <a:avLst/>
          </a:prstGeom>
          <a:solidFill>
            <a:srgbClr val="003262"/>
          </a:solidFill>
          <a:ln>
            <a:noFill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00" name="Shape Band">
            <a:extLst>
              <a:ext uri="{FF2B5EF4-FFF2-40B4-BE49-F238E27FC236}">
                <a16:creationId xmlns:a16="http://schemas.microsoft.com/office/drawing/2014/main" id="{9CE89117-507C-B806-D0D3-560430E35106}"/>
              </a:ext>
            </a:extLst>
          </p:cNvPr>
          <p:cNvSpPr/>
          <p:nvPr/>
        </p:nvSpPr>
        <p:spPr>
          <a:xfrm>
            <a:off x="0" y="0"/>
            <a:ext cx="12192000" cy="558800"/>
          </a:xfrm>
          <a:prstGeom prst="rect">
            <a:avLst/>
          </a:prstGeom>
          <a:solidFill>
            <a:srgbClr val="003262"/>
          </a:solidFill>
          <a:ln w="12700">
            <a:solidFill>
              <a:srgbClr val="004C97"/>
            </a:solidFill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01" name="Shape Rule">
            <a:extLst>
              <a:ext uri="{FF2B5EF4-FFF2-40B4-BE49-F238E27FC236}">
                <a16:creationId xmlns:a16="http://schemas.microsoft.com/office/drawing/2014/main" id="{DEC5AD4A-A967-E78A-F5B4-2258F55C983B}"/>
              </a:ext>
            </a:extLst>
          </p:cNvPr>
          <p:cNvSpPr/>
          <p:nvPr/>
        </p:nvSpPr>
        <p:spPr>
          <a:xfrm>
            <a:off x="0" y="558800"/>
            <a:ext cx="12192000" cy="63500"/>
          </a:xfrm>
          <a:prstGeom prst="rect">
            <a:avLst/>
          </a:prstGeom>
          <a:solidFill>
            <a:srgbClr val="007DB6"/>
          </a:solidFill>
          <a:ln w="12700">
            <a:solidFill>
              <a:srgbClr val="009CDE"/>
            </a:solidFill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02" name="Shape Tab">
            <a:extLst>
              <a:ext uri="{FF2B5EF4-FFF2-40B4-BE49-F238E27FC236}">
                <a16:creationId xmlns:a16="http://schemas.microsoft.com/office/drawing/2014/main" id="{3D5E5056-F42A-1E53-0E88-FB6283A96523}"/>
              </a:ext>
            </a:extLst>
          </p:cNvPr>
          <p:cNvSpPr/>
          <p:nvPr/>
        </p:nvSpPr>
        <p:spPr>
          <a:xfrm>
            <a:off x="0" y="558800"/>
            <a:ext cx="1549400" cy="63500"/>
          </a:xfrm>
          <a:prstGeom prst="rect">
            <a:avLst/>
          </a:prstGeom>
          <a:solidFill>
            <a:srgbClr val="FCB415"/>
          </a:solidFill>
          <a:ln w="12700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5265DBD7-096C-38AE-A1F5-BCC6975CC8A3}"/>
              </a:ext>
            </a:extLst>
          </p:cNvPr>
          <p:cNvSpPr/>
          <p:nvPr/>
        </p:nvSpPr>
        <p:spPr>
          <a:xfrm>
            <a:off x="1714500" y="165100"/>
            <a:ext cx="10058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kern="0" spc="120" noProof="0" dirty="0">
                <a:solidFill>
                  <a:srgbClr val="009CDE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Stylized facts</a:t>
            </a:r>
            <a:endParaRPr lang="en-US" sz="1600" spc="120" noProof="0" dirty="0">
              <a:solidFill>
                <a:srgbClr val="009CD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D79F28D-5456-32E7-8203-09EA754F2FBA}"/>
              </a:ext>
            </a:extLst>
          </p:cNvPr>
          <p:cNvSpPr/>
          <p:nvPr/>
        </p:nvSpPr>
        <p:spPr>
          <a:xfrm>
            <a:off x="419100" y="38100"/>
            <a:ext cx="104267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noProof="0" dirty="0">
                <a:solidFill>
                  <a:srgbClr val="FFFFFF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Do countries use earmarking in fundamentally different ways?</a:t>
            </a:r>
            <a:endParaRPr lang="en-US" sz="2400" b="1" noProof="0" dirty="0">
              <a:solidFill>
                <a:srgbClr val="FFFF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1682382C-AEB1-B82C-E2A0-CBB43728C09C}"/>
              </a:ext>
            </a:extLst>
          </p:cNvPr>
          <p:cNvSpPr/>
          <p:nvPr/>
        </p:nvSpPr>
        <p:spPr>
          <a:xfrm>
            <a:off x="279400" y="6578600"/>
            <a:ext cx="8229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noProof="0" dirty="0">
                <a:solidFill>
                  <a:srgbClr val="FFFFFF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International Monetary Fund   |   African Department</a:t>
            </a:r>
            <a:endParaRPr lang="en-US" sz="1000" noProof="0" dirty="0">
              <a:solidFill>
                <a:srgbClr val="FFFF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4CD29AF6-9C8A-B9C2-28D6-BB2A167F7D20}"/>
              </a:ext>
            </a:extLst>
          </p:cNvPr>
          <p:cNvSpPr/>
          <p:nvPr/>
        </p:nvSpPr>
        <p:spPr>
          <a:xfrm>
            <a:off x="11671300" y="6565900"/>
            <a:ext cx="330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noProof="0">
                <a:solidFill>
                  <a:srgbClr val="FFFFFF"/>
                </a:solidFill>
                <a:latin typeface="Segoe UI"/>
                <a:ea typeface="Segoe UI" pitchFamily="34" charset="-122"/>
                <a:cs typeface="Segoe UI"/>
              </a:rPr>
              <a:t>21</a:t>
            </a:r>
            <a:endParaRPr lang="en-US" sz="1200" noProof="0" dirty="0">
              <a:solidFill>
                <a:srgbClr val="FFFFFF"/>
              </a:solidFill>
              <a:latin typeface="Segoe UI"/>
              <a:cs typeface="Segoe UI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244BE05-2A47-4C2E-6C42-5A41600367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177"/>
          <a:stretch>
            <a:fillRect/>
          </a:stretch>
        </p:blipFill>
        <p:spPr>
          <a:xfrm>
            <a:off x="2431127" y="829917"/>
            <a:ext cx="7329745" cy="5405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7690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17351-EF20-A421-5EDC-FDB1878AA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Footer band">
            <a:extLst>
              <a:ext uri="{FF2B5EF4-FFF2-40B4-BE49-F238E27FC236}">
                <a16:creationId xmlns:a16="http://schemas.microsoft.com/office/drawing/2014/main" id="{39A92B01-E2E9-04D7-F867-D9699222E107}"/>
              </a:ext>
            </a:extLst>
          </p:cNvPr>
          <p:cNvSpPr/>
          <p:nvPr/>
        </p:nvSpPr>
        <p:spPr>
          <a:xfrm>
            <a:off x="0" y="6578600"/>
            <a:ext cx="12192000" cy="279400"/>
          </a:xfrm>
          <a:prstGeom prst="rect">
            <a:avLst/>
          </a:prstGeom>
          <a:solidFill>
            <a:srgbClr val="003262"/>
          </a:solidFill>
          <a:ln>
            <a:noFill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00" name="Shape Band">
            <a:extLst>
              <a:ext uri="{FF2B5EF4-FFF2-40B4-BE49-F238E27FC236}">
                <a16:creationId xmlns:a16="http://schemas.microsoft.com/office/drawing/2014/main" id="{4D556A71-FCC7-DA2E-442A-7571FF145C58}"/>
              </a:ext>
            </a:extLst>
          </p:cNvPr>
          <p:cNvSpPr/>
          <p:nvPr/>
        </p:nvSpPr>
        <p:spPr>
          <a:xfrm>
            <a:off x="0" y="0"/>
            <a:ext cx="12192000" cy="558800"/>
          </a:xfrm>
          <a:prstGeom prst="rect">
            <a:avLst/>
          </a:prstGeom>
          <a:solidFill>
            <a:srgbClr val="003262"/>
          </a:solidFill>
          <a:ln w="12700">
            <a:solidFill>
              <a:srgbClr val="004C97"/>
            </a:solidFill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01" name="Shape Rule">
            <a:extLst>
              <a:ext uri="{FF2B5EF4-FFF2-40B4-BE49-F238E27FC236}">
                <a16:creationId xmlns:a16="http://schemas.microsoft.com/office/drawing/2014/main" id="{4C4E56E6-70B4-1BC0-536B-08ACD90B8F82}"/>
              </a:ext>
            </a:extLst>
          </p:cNvPr>
          <p:cNvSpPr/>
          <p:nvPr/>
        </p:nvSpPr>
        <p:spPr>
          <a:xfrm>
            <a:off x="0" y="558800"/>
            <a:ext cx="12192000" cy="63500"/>
          </a:xfrm>
          <a:prstGeom prst="rect">
            <a:avLst/>
          </a:prstGeom>
          <a:solidFill>
            <a:srgbClr val="007DB6"/>
          </a:solidFill>
          <a:ln w="12700">
            <a:solidFill>
              <a:srgbClr val="009CDE"/>
            </a:solidFill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02" name="Shape Tab">
            <a:extLst>
              <a:ext uri="{FF2B5EF4-FFF2-40B4-BE49-F238E27FC236}">
                <a16:creationId xmlns:a16="http://schemas.microsoft.com/office/drawing/2014/main" id="{B99BF13D-53F2-2D04-11BE-A42BE1C1639C}"/>
              </a:ext>
            </a:extLst>
          </p:cNvPr>
          <p:cNvSpPr/>
          <p:nvPr/>
        </p:nvSpPr>
        <p:spPr>
          <a:xfrm>
            <a:off x="0" y="558800"/>
            <a:ext cx="1549400" cy="63500"/>
          </a:xfrm>
          <a:prstGeom prst="rect">
            <a:avLst/>
          </a:prstGeom>
          <a:solidFill>
            <a:srgbClr val="FCB415"/>
          </a:solidFill>
          <a:ln w="12700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372106DA-E154-27A9-BD25-BCAEE2CD8BAA}"/>
              </a:ext>
            </a:extLst>
          </p:cNvPr>
          <p:cNvSpPr/>
          <p:nvPr/>
        </p:nvSpPr>
        <p:spPr>
          <a:xfrm>
            <a:off x="1714500" y="165100"/>
            <a:ext cx="10058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kern="0" spc="120" noProof="0" dirty="0">
                <a:solidFill>
                  <a:srgbClr val="009CDE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Stylized facts</a:t>
            </a:r>
            <a:endParaRPr lang="en-US" sz="1600" spc="120" noProof="0" dirty="0">
              <a:solidFill>
                <a:srgbClr val="009CD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2683CFD-34C3-0D6E-6297-838BB49536C2}"/>
              </a:ext>
            </a:extLst>
          </p:cNvPr>
          <p:cNvSpPr/>
          <p:nvPr/>
        </p:nvSpPr>
        <p:spPr>
          <a:xfrm>
            <a:off x="419100" y="38100"/>
            <a:ext cx="104267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noProof="0" dirty="0">
                <a:solidFill>
                  <a:srgbClr val="FFFFFF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Do countries use earmarking in fundamentally different ways?</a:t>
            </a:r>
            <a:endParaRPr lang="en-US" sz="2400" b="1" noProof="0" dirty="0">
              <a:solidFill>
                <a:srgbClr val="FFFF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51F0129B-DA2E-DC35-E317-F2EDF9337828}"/>
              </a:ext>
            </a:extLst>
          </p:cNvPr>
          <p:cNvSpPr/>
          <p:nvPr/>
        </p:nvSpPr>
        <p:spPr>
          <a:xfrm>
            <a:off x="279400" y="6578600"/>
            <a:ext cx="8229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noProof="0" dirty="0">
                <a:solidFill>
                  <a:srgbClr val="FFFFFF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International Monetary Fund   |   African Department</a:t>
            </a:r>
            <a:endParaRPr lang="en-US" sz="1000" noProof="0" dirty="0">
              <a:solidFill>
                <a:srgbClr val="FFFF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7E66CE25-13C3-4490-6BBD-9AB874DC62BF}"/>
              </a:ext>
            </a:extLst>
          </p:cNvPr>
          <p:cNvSpPr/>
          <p:nvPr/>
        </p:nvSpPr>
        <p:spPr>
          <a:xfrm>
            <a:off x="11671300" y="6565900"/>
            <a:ext cx="330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noProof="0">
                <a:solidFill>
                  <a:srgbClr val="FFFFFF"/>
                </a:solidFill>
                <a:latin typeface="Segoe UI"/>
                <a:ea typeface="Segoe UI" pitchFamily="34" charset="-122"/>
                <a:cs typeface="Segoe UI"/>
              </a:rPr>
              <a:t>22</a:t>
            </a:r>
            <a:endParaRPr lang="en-US" sz="1200" noProof="0" dirty="0">
              <a:solidFill>
                <a:srgbClr val="FFFFFF"/>
              </a:solidFill>
              <a:latin typeface="Segoe UI"/>
              <a:cs typeface="Segoe UI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D528691-0632-A35F-5A36-C6E0E6FA7C1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263"/>
          <a:stretch>
            <a:fillRect/>
          </a:stretch>
        </p:blipFill>
        <p:spPr>
          <a:xfrm>
            <a:off x="2322285" y="939800"/>
            <a:ext cx="7547429" cy="510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1799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90AB6-7ACF-6B87-D3CF-7C2995921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Footer band">
            <a:extLst>
              <a:ext uri="{FF2B5EF4-FFF2-40B4-BE49-F238E27FC236}">
                <a16:creationId xmlns:a16="http://schemas.microsoft.com/office/drawing/2014/main" id="{D193B527-248A-D775-FC97-CCF23745E4B2}"/>
              </a:ext>
            </a:extLst>
          </p:cNvPr>
          <p:cNvSpPr/>
          <p:nvPr/>
        </p:nvSpPr>
        <p:spPr>
          <a:xfrm>
            <a:off x="0" y="6578600"/>
            <a:ext cx="12192000" cy="279400"/>
          </a:xfrm>
          <a:prstGeom prst="rect">
            <a:avLst/>
          </a:prstGeom>
          <a:solidFill>
            <a:srgbClr val="003262"/>
          </a:solidFill>
          <a:ln>
            <a:noFill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00" name="Shape Band">
            <a:extLst>
              <a:ext uri="{FF2B5EF4-FFF2-40B4-BE49-F238E27FC236}">
                <a16:creationId xmlns:a16="http://schemas.microsoft.com/office/drawing/2014/main" id="{8FBDBECD-6627-EDD1-C7FE-C9D52B0B77F4}"/>
              </a:ext>
            </a:extLst>
          </p:cNvPr>
          <p:cNvSpPr/>
          <p:nvPr/>
        </p:nvSpPr>
        <p:spPr>
          <a:xfrm>
            <a:off x="0" y="0"/>
            <a:ext cx="12192000" cy="558800"/>
          </a:xfrm>
          <a:prstGeom prst="rect">
            <a:avLst/>
          </a:prstGeom>
          <a:solidFill>
            <a:srgbClr val="003262"/>
          </a:solidFill>
          <a:ln w="12700">
            <a:solidFill>
              <a:srgbClr val="004C97"/>
            </a:solidFill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01" name="Shape Rule">
            <a:extLst>
              <a:ext uri="{FF2B5EF4-FFF2-40B4-BE49-F238E27FC236}">
                <a16:creationId xmlns:a16="http://schemas.microsoft.com/office/drawing/2014/main" id="{2546473E-CD57-F7D2-0B92-55C28D1E8461}"/>
              </a:ext>
            </a:extLst>
          </p:cNvPr>
          <p:cNvSpPr/>
          <p:nvPr/>
        </p:nvSpPr>
        <p:spPr>
          <a:xfrm>
            <a:off x="0" y="558800"/>
            <a:ext cx="12192000" cy="63500"/>
          </a:xfrm>
          <a:prstGeom prst="rect">
            <a:avLst/>
          </a:prstGeom>
          <a:solidFill>
            <a:srgbClr val="007DB6"/>
          </a:solidFill>
          <a:ln w="12700">
            <a:solidFill>
              <a:srgbClr val="009CDE"/>
            </a:solidFill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02" name="Shape Tab">
            <a:extLst>
              <a:ext uri="{FF2B5EF4-FFF2-40B4-BE49-F238E27FC236}">
                <a16:creationId xmlns:a16="http://schemas.microsoft.com/office/drawing/2014/main" id="{3DE42DCC-A2FD-E9A5-8CA2-A5E3E169EA85}"/>
              </a:ext>
            </a:extLst>
          </p:cNvPr>
          <p:cNvSpPr/>
          <p:nvPr/>
        </p:nvSpPr>
        <p:spPr>
          <a:xfrm>
            <a:off x="0" y="558800"/>
            <a:ext cx="1549400" cy="63500"/>
          </a:xfrm>
          <a:prstGeom prst="rect">
            <a:avLst/>
          </a:prstGeom>
          <a:solidFill>
            <a:srgbClr val="FCB415"/>
          </a:solidFill>
          <a:ln w="12700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F0E46F16-68D6-6A84-6974-BDBD7BABF8DB}"/>
              </a:ext>
            </a:extLst>
          </p:cNvPr>
          <p:cNvSpPr/>
          <p:nvPr/>
        </p:nvSpPr>
        <p:spPr>
          <a:xfrm>
            <a:off x="1714500" y="165100"/>
            <a:ext cx="10058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kern="0" spc="120" noProof="0" dirty="0">
                <a:solidFill>
                  <a:srgbClr val="009CDE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Stylized facts</a:t>
            </a:r>
            <a:endParaRPr lang="en-US" sz="1600" spc="120" noProof="0" dirty="0">
              <a:solidFill>
                <a:srgbClr val="009CD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FDFE4EE-8C2D-D322-4535-916E0158F875}"/>
              </a:ext>
            </a:extLst>
          </p:cNvPr>
          <p:cNvSpPr/>
          <p:nvPr/>
        </p:nvSpPr>
        <p:spPr>
          <a:xfrm>
            <a:off x="419100" y="38100"/>
            <a:ext cx="104267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noProof="0" dirty="0">
                <a:solidFill>
                  <a:srgbClr val="FFFFFF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Do countries use earmarking in fundamentally different ways?</a:t>
            </a:r>
            <a:endParaRPr lang="en-US" sz="2400" b="1" noProof="0" dirty="0">
              <a:solidFill>
                <a:srgbClr val="FFFF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BA47FBED-5263-F211-9ECF-15D191E97FE7}"/>
              </a:ext>
            </a:extLst>
          </p:cNvPr>
          <p:cNvSpPr/>
          <p:nvPr/>
        </p:nvSpPr>
        <p:spPr>
          <a:xfrm>
            <a:off x="279400" y="6578600"/>
            <a:ext cx="8229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noProof="0" dirty="0">
                <a:solidFill>
                  <a:srgbClr val="FFFFFF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International Monetary Fund   |   African Department</a:t>
            </a:r>
            <a:endParaRPr lang="en-US" sz="1000" noProof="0" dirty="0">
              <a:solidFill>
                <a:srgbClr val="FFFF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EDE48684-432B-E0F0-7AD6-6162CE3B7A7D}"/>
              </a:ext>
            </a:extLst>
          </p:cNvPr>
          <p:cNvSpPr/>
          <p:nvPr/>
        </p:nvSpPr>
        <p:spPr>
          <a:xfrm>
            <a:off x="11671300" y="6565900"/>
            <a:ext cx="330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noProof="0">
                <a:solidFill>
                  <a:srgbClr val="FFFFFF"/>
                </a:solidFill>
                <a:latin typeface="Segoe UI"/>
                <a:ea typeface="Segoe UI" pitchFamily="34" charset="-122"/>
                <a:cs typeface="Segoe UI"/>
              </a:rPr>
              <a:t>23</a:t>
            </a:r>
            <a:endParaRPr lang="en-US" sz="1200" noProof="0" dirty="0">
              <a:solidFill>
                <a:srgbClr val="FFFFFF"/>
              </a:solidFill>
              <a:latin typeface="Segoe UI"/>
              <a:cs typeface="Segoe UI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7F4A0094-9CE7-3983-3A26-F8A71CB8E1D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840"/>
          <a:stretch>
            <a:fillRect/>
          </a:stretch>
        </p:blipFill>
        <p:spPr>
          <a:xfrm>
            <a:off x="1714500" y="1299666"/>
            <a:ext cx="8509000" cy="441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4254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3AEF6-09B6-66A2-71A6-B223FFCD7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Footer band">
            <a:extLst>
              <a:ext uri="{FF2B5EF4-FFF2-40B4-BE49-F238E27FC236}">
                <a16:creationId xmlns:a16="http://schemas.microsoft.com/office/drawing/2014/main" id="{5735F0E7-0539-64B7-F3F6-F07F727A9626}"/>
              </a:ext>
            </a:extLst>
          </p:cNvPr>
          <p:cNvSpPr/>
          <p:nvPr/>
        </p:nvSpPr>
        <p:spPr>
          <a:xfrm>
            <a:off x="0" y="6578600"/>
            <a:ext cx="12192000" cy="279400"/>
          </a:xfrm>
          <a:prstGeom prst="rect">
            <a:avLst/>
          </a:prstGeom>
          <a:solidFill>
            <a:srgbClr val="003262"/>
          </a:solidFill>
          <a:ln>
            <a:noFill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00" name="Shape Band">
            <a:extLst>
              <a:ext uri="{FF2B5EF4-FFF2-40B4-BE49-F238E27FC236}">
                <a16:creationId xmlns:a16="http://schemas.microsoft.com/office/drawing/2014/main" id="{BB3D9CE2-DC55-6B3C-4D65-10E9A278DA5A}"/>
              </a:ext>
            </a:extLst>
          </p:cNvPr>
          <p:cNvSpPr/>
          <p:nvPr/>
        </p:nvSpPr>
        <p:spPr>
          <a:xfrm>
            <a:off x="0" y="0"/>
            <a:ext cx="12192000" cy="558800"/>
          </a:xfrm>
          <a:prstGeom prst="rect">
            <a:avLst/>
          </a:prstGeom>
          <a:solidFill>
            <a:srgbClr val="003262"/>
          </a:solidFill>
          <a:ln w="12700">
            <a:solidFill>
              <a:srgbClr val="004C97"/>
            </a:solidFill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01" name="Shape Rule">
            <a:extLst>
              <a:ext uri="{FF2B5EF4-FFF2-40B4-BE49-F238E27FC236}">
                <a16:creationId xmlns:a16="http://schemas.microsoft.com/office/drawing/2014/main" id="{FAC6B0A8-D1AD-74C8-988C-3344DDBF1EA9}"/>
              </a:ext>
            </a:extLst>
          </p:cNvPr>
          <p:cNvSpPr/>
          <p:nvPr/>
        </p:nvSpPr>
        <p:spPr>
          <a:xfrm>
            <a:off x="0" y="558800"/>
            <a:ext cx="12192000" cy="63500"/>
          </a:xfrm>
          <a:prstGeom prst="rect">
            <a:avLst/>
          </a:prstGeom>
          <a:solidFill>
            <a:srgbClr val="007DB6"/>
          </a:solidFill>
          <a:ln w="12700">
            <a:solidFill>
              <a:srgbClr val="009CDE"/>
            </a:solidFill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02" name="Shape Tab">
            <a:extLst>
              <a:ext uri="{FF2B5EF4-FFF2-40B4-BE49-F238E27FC236}">
                <a16:creationId xmlns:a16="http://schemas.microsoft.com/office/drawing/2014/main" id="{63B94658-BFF1-994E-6A8E-2E28B8DCF579}"/>
              </a:ext>
            </a:extLst>
          </p:cNvPr>
          <p:cNvSpPr/>
          <p:nvPr/>
        </p:nvSpPr>
        <p:spPr>
          <a:xfrm>
            <a:off x="0" y="558800"/>
            <a:ext cx="1549400" cy="63500"/>
          </a:xfrm>
          <a:prstGeom prst="rect">
            <a:avLst/>
          </a:prstGeom>
          <a:solidFill>
            <a:srgbClr val="FCB415"/>
          </a:solidFill>
          <a:ln w="12700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CB059245-70BE-A310-ED76-FE26AA3C1B4A}"/>
              </a:ext>
            </a:extLst>
          </p:cNvPr>
          <p:cNvSpPr/>
          <p:nvPr/>
        </p:nvSpPr>
        <p:spPr>
          <a:xfrm>
            <a:off x="1714500" y="165100"/>
            <a:ext cx="10058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kern="0" spc="120" noProof="0" dirty="0">
                <a:solidFill>
                  <a:srgbClr val="009CDE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Stylized facts</a:t>
            </a:r>
            <a:endParaRPr lang="en-US" sz="1600" spc="120" noProof="0" dirty="0">
              <a:solidFill>
                <a:srgbClr val="009CD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47E7C6A-47F4-B327-466B-4EBB2F8AED95}"/>
              </a:ext>
            </a:extLst>
          </p:cNvPr>
          <p:cNvSpPr/>
          <p:nvPr/>
        </p:nvSpPr>
        <p:spPr>
          <a:xfrm>
            <a:off x="419100" y="38100"/>
            <a:ext cx="104267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noProof="0" dirty="0">
                <a:solidFill>
                  <a:srgbClr val="FFFFFF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Do countries use earmarking in fundamentally different ways?</a:t>
            </a:r>
            <a:endParaRPr lang="en-US" sz="2400" b="1" noProof="0" dirty="0">
              <a:solidFill>
                <a:srgbClr val="FFFF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DE248D92-43C1-11BD-75A9-514F7EFB96C6}"/>
              </a:ext>
            </a:extLst>
          </p:cNvPr>
          <p:cNvSpPr/>
          <p:nvPr/>
        </p:nvSpPr>
        <p:spPr>
          <a:xfrm>
            <a:off x="279400" y="6578600"/>
            <a:ext cx="8229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noProof="0" dirty="0">
                <a:solidFill>
                  <a:srgbClr val="FFFFFF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International Monetary Fund   |   African Department</a:t>
            </a:r>
            <a:endParaRPr lang="en-US" sz="1000" noProof="0" dirty="0">
              <a:solidFill>
                <a:srgbClr val="FFFF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1ED0C92A-9C24-BF84-AC15-CCE272D46239}"/>
              </a:ext>
            </a:extLst>
          </p:cNvPr>
          <p:cNvSpPr/>
          <p:nvPr/>
        </p:nvSpPr>
        <p:spPr>
          <a:xfrm>
            <a:off x="11671300" y="6565900"/>
            <a:ext cx="330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noProof="0">
                <a:solidFill>
                  <a:srgbClr val="FFFFFF"/>
                </a:solidFill>
                <a:latin typeface="Segoe UI"/>
                <a:ea typeface="Segoe UI" pitchFamily="34" charset="-122"/>
                <a:cs typeface="Segoe UI"/>
              </a:rPr>
              <a:t>24</a:t>
            </a:r>
            <a:endParaRPr lang="en-US" sz="1200" noProof="0" dirty="0">
              <a:solidFill>
                <a:srgbClr val="FFFFFF"/>
              </a:solidFill>
              <a:latin typeface="Segoe UI"/>
              <a:cs typeface="Segoe UI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3D7B419-B336-7E2C-E376-AC6245B8E3F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9172"/>
          <a:stretch>
            <a:fillRect/>
          </a:stretch>
        </p:blipFill>
        <p:spPr>
          <a:xfrm>
            <a:off x="1841500" y="1075635"/>
            <a:ext cx="8509000" cy="4347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6540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389CC7-F7F5-6848-CF9D-4291A8D76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Footer band">
            <a:extLst>
              <a:ext uri="{FF2B5EF4-FFF2-40B4-BE49-F238E27FC236}">
                <a16:creationId xmlns:a16="http://schemas.microsoft.com/office/drawing/2014/main" id="{AE6F779E-D04D-C89C-AB8F-E0CF0F89F8F0}"/>
              </a:ext>
            </a:extLst>
          </p:cNvPr>
          <p:cNvSpPr/>
          <p:nvPr/>
        </p:nvSpPr>
        <p:spPr>
          <a:xfrm>
            <a:off x="0" y="6578600"/>
            <a:ext cx="12192000" cy="279400"/>
          </a:xfrm>
          <a:prstGeom prst="rect">
            <a:avLst/>
          </a:prstGeom>
          <a:solidFill>
            <a:srgbClr val="003262"/>
          </a:solidFill>
          <a:ln>
            <a:noFill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00" name="Shape Band">
            <a:extLst>
              <a:ext uri="{FF2B5EF4-FFF2-40B4-BE49-F238E27FC236}">
                <a16:creationId xmlns:a16="http://schemas.microsoft.com/office/drawing/2014/main" id="{6BA4CC94-5685-51B4-3485-E77085ACD6DC}"/>
              </a:ext>
            </a:extLst>
          </p:cNvPr>
          <p:cNvSpPr/>
          <p:nvPr/>
        </p:nvSpPr>
        <p:spPr>
          <a:xfrm>
            <a:off x="0" y="0"/>
            <a:ext cx="12192000" cy="558800"/>
          </a:xfrm>
          <a:prstGeom prst="rect">
            <a:avLst/>
          </a:prstGeom>
          <a:solidFill>
            <a:srgbClr val="003262"/>
          </a:solidFill>
          <a:ln w="12700">
            <a:solidFill>
              <a:srgbClr val="004C97"/>
            </a:solidFill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01" name="Shape Rule">
            <a:extLst>
              <a:ext uri="{FF2B5EF4-FFF2-40B4-BE49-F238E27FC236}">
                <a16:creationId xmlns:a16="http://schemas.microsoft.com/office/drawing/2014/main" id="{C4F10C51-39BA-CFD3-2DF6-F8A23FB06599}"/>
              </a:ext>
            </a:extLst>
          </p:cNvPr>
          <p:cNvSpPr/>
          <p:nvPr/>
        </p:nvSpPr>
        <p:spPr>
          <a:xfrm>
            <a:off x="0" y="558800"/>
            <a:ext cx="12192000" cy="63500"/>
          </a:xfrm>
          <a:prstGeom prst="rect">
            <a:avLst/>
          </a:prstGeom>
          <a:solidFill>
            <a:srgbClr val="007DB6"/>
          </a:solidFill>
          <a:ln w="12700">
            <a:solidFill>
              <a:srgbClr val="009CDE"/>
            </a:solidFill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02" name="Shape Tab">
            <a:extLst>
              <a:ext uri="{FF2B5EF4-FFF2-40B4-BE49-F238E27FC236}">
                <a16:creationId xmlns:a16="http://schemas.microsoft.com/office/drawing/2014/main" id="{F1BE2C02-40DC-4F5D-0BCD-A240EB14F8D4}"/>
              </a:ext>
            </a:extLst>
          </p:cNvPr>
          <p:cNvSpPr/>
          <p:nvPr/>
        </p:nvSpPr>
        <p:spPr>
          <a:xfrm>
            <a:off x="0" y="558800"/>
            <a:ext cx="1549400" cy="63500"/>
          </a:xfrm>
          <a:prstGeom prst="rect">
            <a:avLst/>
          </a:prstGeom>
          <a:solidFill>
            <a:srgbClr val="FCB415"/>
          </a:solidFill>
          <a:ln w="12700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B0C991F4-2436-76E3-5DD9-A9BB9C105572}"/>
              </a:ext>
            </a:extLst>
          </p:cNvPr>
          <p:cNvSpPr/>
          <p:nvPr/>
        </p:nvSpPr>
        <p:spPr>
          <a:xfrm>
            <a:off x="1714500" y="165100"/>
            <a:ext cx="10058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kern="0" spc="120" noProof="0" dirty="0">
                <a:solidFill>
                  <a:srgbClr val="009CDE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Stylized facts</a:t>
            </a:r>
            <a:endParaRPr lang="en-US" sz="1600" spc="120" noProof="0" dirty="0">
              <a:solidFill>
                <a:srgbClr val="009CD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0D9BB54-4010-E5B5-BB79-50666321937D}"/>
              </a:ext>
            </a:extLst>
          </p:cNvPr>
          <p:cNvSpPr/>
          <p:nvPr/>
        </p:nvSpPr>
        <p:spPr>
          <a:xfrm>
            <a:off x="419100" y="38100"/>
            <a:ext cx="104267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noProof="0" dirty="0">
                <a:solidFill>
                  <a:srgbClr val="FFFFFF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Do countries use earmarking in fundamentally different ways?</a:t>
            </a:r>
            <a:endParaRPr lang="en-US" sz="2400" b="1" noProof="0" dirty="0">
              <a:solidFill>
                <a:srgbClr val="FFFF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0BB45D0E-1268-CD07-788F-3CB8005CBF5C}"/>
              </a:ext>
            </a:extLst>
          </p:cNvPr>
          <p:cNvSpPr/>
          <p:nvPr/>
        </p:nvSpPr>
        <p:spPr>
          <a:xfrm>
            <a:off x="279400" y="6578600"/>
            <a:ext cx="8229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noProof="0" dirty="0">
                <a:solidFill>
                  <a:srgbClr val="FFFFFF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International Monetary Fund   |   African Department</a:t>
            </a:r>
            <a:endParaRPr lang="en-US" sz="1000" noProof="0" dirty="0">
              <a:solidFill>
                <a:srgbClr val="FFFF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01B9810E-0F72-64B6-5048-C822B375264D}"/>
              </a:ext>
            </a:extLst>
          </p:cNvPr>
          <p:cNvSpPr/>
          <p:nvPr/>
        </p:nvSpPr>
        <p:spPr>
          <a:xfrm>
            <a:off x="11671300" y="6565900"/>
            <a:ext cx="330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noProof="0">
                <a:solidFill>
                  <a:srgbClr val="FFFFFF"/>
                </a:solidFill>
                <a:latin typeface="Segoe UI"/>
                <a:ea typeface="Segoe UI" pitchFamily="34" charset="-122"/>
                <a:cs typeface="Segoe UI"/>
              </a:rPr>
              <a:t>25</a:t>
            </a:r>
            <a:endParaRPr lang="en-US" sz="1200" noProof="0" dirty="0">
              <a:solidFill>
                <a:srgbClr val="FFFFFF"/>
              </a:solidFill>
              <a:latin typeface="Segoe UI"/>
              <a:cs typeface="Segoe UI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09A369A-3C34-7844-63DF-576DDF59ED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503"/>
          <a:stretch>
            <a:fillRect/>
          </a:stretch>
        </p:blipFill>
        <p:spPr>
          <a:xfrm>
            <a:off x="2090316" y="1310861"/>
            <a:ext cx="8011368" cy="4489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5759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796AD-2A66-EBA7-F0EF-3E04D72E7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Footer band">
            <a:extLst>
              <a:ext uri="{FF2B5EF4-FFF2-40B4-BE49-F238E27FC236}">
                <a16:creationId xmlns:a16="http://schemas.microsoft.com/office/drawing/2014/main" id="{33D9D6D3-05D8-51E8-AE86-3E3863F86D91}"/>
              </a:ext>
            </a:extLst>
          </p:cNvPr>
          <p:cNvSpPr/>
          <p:nvPr/>
        </p:nvSpPr>
        <p:spPr>
          <a:xfrm>
            <a:off x="0" y="6578600"/>
            <a:ext cx="12192000" cy="279400"/>
          </a:xfrm>
          <a:prstGeom prst="rect">
            <a:avLst/>
          </a:prstGeom>
          <a:solidFill>
            <a:srgbClr val="003262"/>
          </a:solidFill>
          <a:ln>
            <a:noFill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00" name="Shape Band">
            <a:extLst>
              <a:ext uri="{FF2B5EF4-FFF2-40B4-BE49-F238E27FC236}">
                <a16:creationId xmlns:a16="http://schemas.microsoft.com/office/drawing/2014/main" id="{8CCD59D9-EE91-3EE1-7F90-96C68F7DE73B}"/>
              </a:ext>
            </a:extLst>
          </p:cNvPr>
          <p:cNvSpPr/>
          <p:nvPr/>
        </p:nvSpPr>
        <p:spPr>
          <a:xfrm>
            <a:off x="0" y="0"/>
            <a:ext cx="12192000" cy="558800"/>
          </a:xfrm>
          <a:prstGeom prst="rect">
            <a:avLst/>
          </a:prstGeom>
          <a:solidFill>
            <a:srgbClr val="003262"/>
          </a:solidFill>
          <a:ln w="12700">
            <a:solidFill>
              <a:srgbClr val="004C97"/>
            </a:solidFill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01" name="Shape Rule">
            <a:extLst>
              <a:ext uri="{FF2B5EF4-FFF2-40B4-BE49-F238E27FC236}">
                <a16:creationId xmlns:a16="http://schemas.microsoft.com/office/drawing/2014/main" id="{85871240-506E-5486-3967-8A8BA05F5175}"/>
              </a:ext>
            </a:extLst>
          </p:cNvPr>
          <p:cNvSpPr/>
          <p:nvPr/>
        </p:nvSpPr>
        <p:spPr>
          <a:xfrm>
            <a:off x="0" y="558800"/>
            <a:ext cx="12192000" cy="63500"/>
          </a:xfrm>
          <a:prstGeom prst="rect">
            <a:avLst/>
          </a:prstGeom>
          <a:solidFill>
            <a:srgbClr val="007DB6"/>
          </a:solidFill>
          <a:ln w="12700">
            <a:solidFill>
              <a:srgbClr val="009CDE"/>
            </a:solidFill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02" name="Shape Tab">
            <a:extLst>
              <a:ext uri="{FF2B5EF4-FFF2-40B4-BE49-F238E27FC236}">
                <a16:creationId xmlns:a16="http://schemas.microsoft.com/office/drawing/2014/main" id="{4B648465-6A6A-1FD4-7EE4-1D4F2D992F85}"/>
              </a:ext>
            </a:extLst>
          </p:cNvPr>
          <p:cNvSpPr/>
          <p:nvPr/>
        </p:nvSpPr>
        <p:spPr>
          <a:xfrm>
            <a:off x="0" y="558800"/>
            <a:ext cx="1549400" cy="63500"/>
          </a:xfrm>
          <a:prstGeom prst="rect">
            <a:avLst/>
          </a:prstGeom>
          <a:solidFill>
            <a:srgbClr val="FCB415"/>
          </a:solidFill>
          <a:ln w="12700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129BDF8B-7B13-066A-8BC6-6756EB42B93C}"/>
              </a:ext>
            </a:extLst>
          </p:cNvPr>
          <p:cNvSpPr/>
          <p:nvPr/>
        </p:nvSpPr>
        <p:spPr>
          <a:xfrm>
            <a:off x="1714500" y="165100"/>
            <a:ext cx="10058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kern="0" spc="120" noProof="0" dirty="0">
                <a:solidFill>
                  <a:srgbClr val="009CDE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Stylized facts</a:t>
            </a:r>
            <a:endParaRPr lang="en-US" sz="1600" spc="120" noProof="0" dirty="0">
              <a:solidFill>
                <a:srgbClr val="009CD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517C8A5-3944-A0FA-CE86-DE04A994364D}"/>
              </a:ext>
            </a:extLst>
          </p:cNvPr>
          <p:cNvSpPr/>
          <p:nvPr/>
        </p:nvSpPr>
        <p:spPr>
          <a:xfrm>
            <a:off x="419100" y="38100"/>
            <a:ext cx="104267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noProof="0" dirty="0">
                <a:solidFill>
                  <a:srgbClr val="FFFFFF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Do countries use earmarking in fundamentally different ways?</a:t>
            </a:r>
            <a:endParaRPr lang="en-US" sz="2400" b="1" noProof="0" dirty="0">
              <a:solidFill>
                <a:srgbClr val="FFFF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960F9579-186B-670B-6B78-B4ED713A7056}"/>
              </a:ext>
            </a:extLst>
          </p:cNvPr>
          <p:cNvSpPr/>
          <p:nvPr/>
        </p:nvSpPr>
        <p:spPr>
          <a:xfrm>
            <a:off x="279400" y="6578600"/>
            <a:ext cx="8229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noProof="0" dirty="0">
                <a:solidFill>
                  <a:srgbClr val="FFFFFF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International Monetary Fund   |   African Department</a:t>
            </a:r>
            <a:endParaRPr lang="en-US" sz="1000" noProof="0" dirty="0">
              <a:solidFill>
                <a:srgbClr val="FFFF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8BCCBC29-64FF-BD02-81D8-7667ED430F60}"/>
              </a:ext>
            </a:extLst>
          </p:cNvPr>
          <p:cNvSpPr/>
          <p:nvPr/>
        </p:nvSpPr>
        <p:spPr>
          <a:xfrm>
            <a:off x="11671300" y="6565900"/>
            <a:ext cx="330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noProof="0">
                <a:solidFill>
                  <a:srgbClr val="FFFFFF"/>
                </a:solidFill>
                <a:latin typeface="Segoe UI"/>
                <a:ea typeface="Segoe UI" pitchFamily="34" charset="-122"/>
                <a:cs typeface="Segoe UI"/>
              </a:rPr>
              <a:t>26</a:t>
            </a:r>
            <a:endParaRPr lang="en-US" sz="1200" noProof="0" dirty="0">
              <a:solidFill>
                <a:srgbClr val="FFFFFF"/>
              </a:solidFill>
              <a:latin typeface="Segoe UI"/>
              <a:cs typeface="Segoe UI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0E321CC-48CB-D7C2-1D1E-A19AA1709D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5874" y="855645"/>
            <a:ext cx="9239926" cy="5659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8301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679142-420E-7739-5537-657862C98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Footer band">
            <a:extLst>
              <a:ext uri="{FF2B5EF4-FFF2-40B4-BE49-F238E27FC236}">
                <a16:creationId xmlns:a16="http://schemas.microsoft.com/office/drawing/2014/main" id="{807C58B2-99CB-357C-82B7-0C0B6C8A9128}"/>
              </a:ext>
            </a:extLst>
          </p:cNvPr>
          <p:cNvSpPr/>
          <p:nvPr/>
        </p:nvSpPr>
        <p:spPr>
          <a:xfrm>
            <a:off x="0" y="6578600"/>
            <a:ext cx="12192000" cy="279400"/>
          </a:xfrm>
          <a:prstGeom prst="rect">
            <a:avLst/>
          </a:prstGeom>
          <a:solidFill>
            <a:srgbClr val="003262"/>
          </a:solidFill>
          <a:ln>
            <a:noFill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00" name="Shape Band">
            <a:extLst>
              <a:ext uri="{FF2B5EF4-FFF2-40B4-BE49-F238E27FC236}">
                <a16:creationId xmlns:a16="http://schemas.microsoft.com/office/drawing/2014/main" id="{26EBC65D-EB37-6770-8FAC-7F4CF5DCD0BC}"/>
              </a:ext>
            </a:extLst>
          </p:cNvPr>
          <p:cNvSpPr/>
          <p:nvPr/>
        </p:nvSpPr>
        <p:spPr>
          <a:xfrm>
            <a:off x="0" y="0"/>
            <a:ext cx="12192000" cy="558800"/>
          </a:xfrm>
          <a:prstGeom prst="rect">
            <a:avLst/>
          </a:prstGeom>
          <a:solidFill>
            <a:srgbClr val="003262"/>
          </a:solidFill>
          <a:ln w="12700">
            <a:solidFill>
              <a:srgbClr val="004C97"/>
            </a:solidFill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01" name="Shape Rule">
            <a:extLst>
              <a:ext uri="{FF2B5EF4-FFF2-40B4-BE49-F238E27FC236}">
                <a16:creationId xmlns:a16="http://schemas.microsoft.com/office/drawing/2014/main" id="{9736B9B0-88CC-9E64-9961-BA504BBC09A6}"/>
              </a:ext>
            </a:extLst>
          </p:cNvPr>
          <p:cNvSpPr/>
          <p:nvPr/>
        </p:nvSpPr>
        <p:spPr>
          <a:xfrm>
            <a:off x="0" y="558800"/>
            <a:ext cx="12192000" cy="63500"/>
          </a:xfrm>
          <a:prstGeom prst="rect">
            <a:avLst/>
          </a:prstGeom>
          <a:solidFill>
            <a:srgbClr val="007DB6"/>
          </a:solidFill>
          <a:ln w="12700">
            <a:solidFill>
              <a:srgbClr val="009CDE"/>
            </a:solidFill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02" name="Shape Tab">
            <a:extLst>
              <a:ext uri="{FF2B5EF4-FFF2-40B4-BE49-F238E27FC236}">
                <a16:creationId xmlns:a16="http://schemas.microsoft.com/office/drawing/2014/main" id="{FF8B1B6D-2464-321C-3905-2BCE2B2822EF}"/>
              </a:ext>
            </a:extLst>
          </p:cNvPr>
          <p:cNvSpPr/>
          <p:nvPr/>
        </p:nvSpPr>
        <p:spPr>
          <a:xfrm>
            <a:off x="0" y="558800"/>
            <a:ext cx="1549400" cy="63500"/>
          </a:xfrm>
          <a:prstGeom prst="rect">
            <a:avLst/>
          </a:prstGeom>
          <a:solidFill>
            <a:srgbClr val="FCB415"/>
          </a:solidFill>
          <a:ln w="12700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666C5F58-3EC4-C472-9AD3-58BF307AA1BA}"/>
              </a:ext>
            </a:extLst>
          </p:cNvPr>
          <p:cNvSpPr/>
          <p:nvPr/>
        </p:nvSpPr>
        <p:spPr>
          <a:xfrm>
            <a:off x="1714500" y="165100"/>
            <a:ext cx="10058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kern="0" spc="120" noProof="0" dirty="0">
                <a:solidFill>
                  <a:srgbClr val="009CDE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Stylized facts</a:t>
            </a:r>
            <a:endParaRPr lang="en-US" sz="1600" spc="120" noProof="0" dirty="0">
              <a:solidFill>
                <a:srgbClr val="009CD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CEA872E-8A0D-0814-47AB-97B0689D5E8A}"/>
              </a:ext>
            </a:extLst>
          </p:cNvPr>
          <p:cNvSpPr/>
          <p:nvPr/>
        </p:nvSpPr>
        <p:spPr>
          <a:xfrm>
            <a:off x="419100" y="38100"/>
            <a:ext cx="104267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noProof="0" dirty="0">
                <a:solidFill>
                  <a:srgbClr val="FFFFFF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Do countries use earmarking in fundamentally different ways?</a:t>
            </a:r>
            <a:endParaRPr lang="en-US" sz="2400" b="1" noProof="0" dirty="0">
              <a:solidFill>
                <a:srgbClr val="FFFF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F0CC9EC9-A531-5201-9A0E-CD33A15476A2}"/>
              </a:ext>
            </a:extLst>
          </p:cNvPr>
          <p:cNvSpPr/>
          <p:nvPr/>
        </p:nvSpPr>
        <p:spPr>
          <a:xfrm>
            <a:off x="279400" y="6578600"/>
            <a:ext cx="8229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noProof="0" dirty="0">
                <a:solidFill>
                  <a:srgbClr val="FFFFFF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International Monetary Fund   |   African Department</a:t>
            </a:r>
            <a:endParaRPr lang="en-US" sz="1000" noProof="0" dirty="0">
              <a:solidFill>
                <a:srgbClr val="FFFF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08DDED73-F04C-4B98-B4BD-5C9B456FCE88}"/>
              </a:ext>
            </a:extLst>
          </p:cNvPr>
          <p:cNvSpPr/>
          <p:nvPr/>
        </p:nvSpPr>
        <p:spPr>
          <a:xfrm>
            <a:off x="11671300" y="6565900"/>
            <a:ext cx="330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noProof="0">
                <a:solidFill>
                  <a:srgbClr val="FFFFFF"/>
                </a:solidFill>
                <a:latin typeface="Segoe UI"/>
                <a:ea typeface="Segoe UI" pitchFamily="34" charset="-122"/>
                <a:cs typeface="Segoe UI"/>
              </a:rPr>
              <a:t>27</a:t>
            </a:r>
            <a:endParaRPr lang="en-US" sz="1200" noProof="0" dirty="0">
              <a:solidFill>
                <a:srgbClr val="FFFFFF"/>
              </a:solidFill>
              <a:latin typeface="Segoe UI"/>
              <a:cs typeface="Segoe UI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6E1CB0D-BC55-E5ED-2FAC-4DBB20E59F9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625"/>
          <a:stretch>
            <a:fillRect/>
          </a:stretch>
        </p:blipFill>
        <p:spPr>
          <a:xfrm>
            <a:off x="1021755" y="1092200"/>
            <a:ext cx="9221390" cy="4844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4211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9CC6A-024B-C457-7B1A-B0DAF74AF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Footer band">
            <a:extLst>
              <a:ext uri="{FF2B5EF4-FFF2-40B4-BE49-F238E27FC236}">
                <a16:creationId xmlns:a16="http://schemas.microsoft.com/office/drawing/2014/main" id="{636C8722-E1B6-A2A1-A5F5-DFDA809C4FB8}"/>
              </a:ext>
            </a:extLst>
          </p:cNvPr>
          <p:cNvSpPr/>
          <p:nvPr/>
        </p:nvSpPr>
        <p:spPr>
          <a:xfrm>
            <a:off x="0" y="6578600"/>
            <a:ext cx="12192000" cy="279400"/>
          </a:xfrm>
          <a:prstGeom prst="rect">
            <a:avLst/>
          </a:prstGeom>
          <a:solidFill>
            <a:srgbClr val="003262"/>
          </a:solidFill>
          <a:ln>
            <a:noFill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00" name="Shape Band">
            <a:extLst>
              <a:ext uri="{FF2B5EF4-FFF2-40B4-BE49-F238E27FC236}">
                <a16:creationId xmlns:a16="http://schemas.microsoft.com/office/drawing/2014/main" id="{6993DACC-3C2B-4CC8-D19F-7CC8F0E16767}"/>
              </a:ext>
            </a:extLst>
          </p:cNvPr>
          <p:cNvSpPr/>
          <p:nvPr/>
        </p:nvSpPr>
        <p:spPr>
          <a:xfrm>
            <a:off x="0" y="0"/>
            <a:ext cx="12192000" cy="558800"/>
          </a:xfrm>
          <a:prstGeom prst="rect">
            <a:avLst/>
          </a:prstGeom>
          <a:solidFill>
            <a:srgbClr val="003262"/>
          </a:solidFill>
          <a:ln w="12700">
            <a:solidFill>
              <a:srgbClr val="004C97"/>
            </a:solidFill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01" name="Shape Rule">
            <a:extLst>
              <a:ext uri="{FF2B5EF4-FFF2-40B4-BE49-F238E27FC236}">
                <a16:creationId xmlns:a16="http://schemas.microsoft.com/office/drawing/2014/main" id="{45DEA675-049C-B914-C0CF-D22E314796E1}"/>
              </a:ext>
            </a:extLst>
          </p:cNvPr>
          <p:cNvSpPr/>
          <p:nvPr/>
        </p:nvSpPr>
        <p:spPr>
          <a:xfrm>
            <a:off x="0" y="558800"/>
            <a:ext cx="12192000" cy="63500"/>
          </a:xfrm>
          <a:prstGeom prst="rect">
            <a:avLst/>
          </a:prstGeom>
          <a:solidFill>
            <a:srgbClr val="007DB6"/>
          </a:solidFill>
          <a:ln w="12700">
            <a:solidFill>
              <a:srgbClr val="009CDE"/>
            </a:solidFill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02" name="Shape Tab">
            <a:extLst>
              <a:ext uri="{FF2B5EF4-FFF2-40B4-BE49-F238E27FC236}">
                <a16:creationId xmlns:a16="http://schemas.microsoft.com/office/drawing/2014/main" id="{9E423C38-53E8-68EA-86B1-B3BF4D156F37}"/>
              </a:ext>
            </a:extLst>
          </p:cNvPr>
          <p:cNvSpPr/>
          <p:nvPr/>
        </p:nvSpPr>
        <p:spPr>
          <a:xfrm>
            <a:off x="0" y="558800"/>
            <a:ext cx="1549400" cy="63500"/>
          </a:xfrm>
          <a:prstGeom prst="rect">
            <a:avLst/>
          </a:prstGeom>
          <a:solidFill>
            <a:srgbClr val="FCB415"/>
          </a:solidFill>
          <a:ln w="12700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3BA48C9D-7E85-1DAE-709F-60ACD1E2D33E}"/>
              </a:ext>
            </a:extLst>
          </p:cNvPr>
          <p:cNvSpPr/>
          <p:nvPr/>
        </p:nvSpPr>
        <p:spPr>
          <a:xfrm>
            <a:off x="1714500" y="165100"/>
            <a:ext cx="10058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kern="0" spc="120" noProof="0" dirty="0">
                <a:solidFill>
                  <a:srgbClr val="009CDE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Stylized facts</a:t>
            </a:r>
            <a:endParaRPr lang="en-US" sz="1600" spc="120" noProof="0" dirty="0">
              <a:solidFill>
                <a:srgbClr val="009CD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768E4D8-0C7B-D50A-8FD0-4F24CAB422E8}"/>
              </a:ext>
            </a:extLst>
          </p:cNvPr>
          <p:cNvSpPr/>
          <p:nvPr/>
        </p:nvSpPr>
        <p:spPr>
          <a:xfrm>
            <a:off x="419100" y="38100"/>
            <a:ext cx="104267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noProof="0" dirty="0">
                <a:solidFill>
                  <a:srgbClr val="FFFFFF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Do countries use earmarking in fundamentally different ways?</a:t>
            </a:r>
            <a:endParaRPr lang="en-US" sz="2400" b="1" noProof="0" dirty="0">
              <a:solidFill>
                <a:srgbClr val="FFFF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0CD36A33-4EA6-F2C9-90AB-26CEF16E2B07}"/>
              </a:ext>
            </a:extLst>
          </p:cNvPr>
          <p:cNvSpPr/>
          <p:nvPr/>
        </p:nvSpPr>
        <p:spPr>
          <a:xfrm>
            <a:off x="279400" y="6578600"/>
            <a:ext cx="8229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noProof="0" dirty="0">
                <a:solidFill>
                  <a:srgbClr val="FFFFFF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International Monetary Fund   |   African Department</a:t>
            </a:r>
            <a:endParaRPr lang="en-US" sz="1000" noProof="0" dirty="0">
              <a:solidFill>
                <a:srgbClr val="FFFF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4AE99313-C786-6654-7EFF-28101819570E}"/>
              </a:ext>
            </a:extLst>
          </p:cNvPr>
          <p:cNvSpPr/>
          <p:nvPr/>
        </p:nvSpPr>
        <p:spPr>
          <a:xfrm>
            <a:off x="11671300" y="6565900"/>
            <a:ext cx="330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noProof="0">
                <a:solidFill>
                  <a:srgbClr val="FFFFFF"/>
                </a:solidFill>
                <a:latin typeface="Segoe UI"/>
                <a:ea typeface="Segoe UI" pitchFamily="34" charset="-122"/>
                <a:cs typeface="Segoe UI"/>
              </a:rPr>
              <a:t>28</a:t>
            </a:r>
            <a:endParaRPr lang="en-US" sz="1200" noProof="0" dirty="0">
              <a:solidFill>
                <a:srgbClr val="FFFFFF"/>
              </a:solidFill>
              <a:latin typeface="Segoe UI"/>
              <a:cs typeface="Segoe UI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65F856F-5EC9-1F05-C4CE-ABD7132A4D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233" t="-1461" r="233" b="8470"/>
          <a:stretch>
            <a:fillRect/>
          </a:stretch>
        </p:blipFill>
        <p:spPr>
          <a:xfrm>
            <a:off x="2021632" y="965111"/>
            <a:ext cx="8518031" cy="4851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8397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2B703-EB92-EDD4-4B10-ABD72F8B5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Footer band">
            <a:extLst>
              <a:ext uri="{FF2B5EF4-FFF2-40B4-BE49-F238E27FC236}">
                <a16:creationId xmlns:a16="http://schemas.microsoft.com/office/drawing/2014/main" id="{E966DF13-7CE3-5057-0416-6E7DE67F79DC}"/>
              </a:ext>
            </a:extLst>
          </p:cNvPr>
          <p:cNvSpPr/>
          <p:nvPr/>
        </p:nvSpPr>
        <p:spPr>
          <a:xfrm>
            <a:off x="0" y="6578600"/>
            <a:ext cx="12192000" cy="279400"/>
          </a:xfrm>
          <a:prstGeom prst="rect">
            <a:avLst/>
          </a:prstGeom>
          <a:solidFill>
            <a:srgbClr val="003262"/>
          </a:solidFill>
          <a:ln>
            <a:noFill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00" name="Shape Band">
            <a:extLst>
              <a:ext uri="{FF2B5EF4-FFF2-40B4-BE49-F238E27FC236}">
                <a16:creationId xmlns:a16="http://schemas.microsoft.com/office/drawing/2014/main" id="{795CA937-F420-942C-818C-5D3214CFB922}"/>
              </a:ext>
            </a:extLst>
          </p:cNvPr>
          <p:cNvSpPr/>
          <p:nvPr/>
        </p:nvSpPr>
        <p:spPr>
          <a:xfrm>
            <a:off x="0" y="0"/>
            <a:ext cx="12192000" cy="558800"/>
          </a:xfrm>
          <a:prstGeom prst="rect">
            <a:avLst/>
          </a:prstGeom>
          <a:solidFill>
            <a:srgbClr val="003262"/>
          </a:solidFill>
          <a:ln w="12700">
            <a:solidFill>
              <a:srgbClr val="004C97"/>
            </a:solidFill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01" name="Shape Rule">
            <a:extLst>
              <a:ext uri="{FF2B5EF4-FFF2-40B4-BE49-F238E27FC236}">
                <a16:creationId xmlns:a16="http://schemas.microsoft.com/office/drawing/2014/main" id="{3A84443D-6C7F-D134-D5CE-B6909153211E}"/>
              </a:ext>
            </a:extLst>
          </p:cNvPr>
          <p:cNvSpPr/>
          <p:nvPr/>
        </p:nvSpPr>
        <p:spPr>
          <a:xfrm>
            <a:off x="0" y="558800"/>
            <a:ext cx="12192000" cy="63500"/>
          </a:xfrm>
          <a:prstGeom prst="rect">
            <a:avLst/>
          </a:prstGeom>
          <a:solidFill>
            <a:srgbClr val="007DB6"/>
          </a:solidFill>
          <a:ln w="12700">
            <a:solidFill>
              <a:srgbClr val="009CDE"/>
            </a:solidFill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02" name="Shape Tab">
            <a:extLst>
              <a:ext uri="{FF2B5EF4-FFF2-40B4-BE49-F238E27FC236}">
                <a16:creationId xmlns:a16="http://schemas.microsoft.com/office/drawing/2014/main" id="{4349D46D-CBC8-08FB-AB47-27FBB5B69157}"/>
              </a:ext>
            </a:extLst>
          </p:cNvPr>
          <p:cNvSpPr/>
          <p:nvPr/>
        </p:nvSpPr>
        <p:spPr>
          <a:xfrm>
            <a:off x="0" y="558800"/>
            <a:ext cx="1549400" cy="63500"/>
          </a:xfrm>
          <a:prstGeom prst="rect">
            <a:avLst/>
          </a:prstGeom>
          <a:solidFill>
            <a:srgbClr val="FCB415"/>
          </a:solidFill>
          <a:ln w="12700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286B3957-9DF9-12DC-8AEC-6AA258A780C3}"/>
              </a:ext>
            </a:extLst>
          </p:cNvPr>
          <p:cNvSpPr/>
          <p:nvPr/>
        </p:nvSpPr>
        <p:spPr>
          <a:xfrm>
            <a:off x="1714500" y="165100"/>
            <a:ext cx="10058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kern="0" spc="120" noProof="0" dirty="0">
                <a:solidFill>
                  <a:srgbClr val="009CDE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Stylized facts</a:t>
            </a:r>
            <a:endParaRPr lang="en-US" sz="1600" spc="120" noProof="0" dirty="0">
              <a:solidFill>
                <a:srgbClr val="009CD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3608A61-5962-3E7C-C3C9-4FBA82116FBD}"/>
              </a:ext>
            </a:extLst>
          </p:cNvPr>
          <p:cNvSpPr/>
          <p:nvPr/>
        </p:nvSpPr>
        <p:spPr>
          <a:xfrm>
            <a:off x="419100" y="38100"/>
            <a:ext cx="104267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noProof="0" dirty="0">
                <a:solidFill>
                  <a:srgbClr val="FFFFFF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Do countries use earmarking in fundamentally different ways?</a:t>
            </a:r>
            <a:endParaRPr lang="en-US" sz="2400" b="1" noProof="0" dirty="0">
              <a:solidFill>
                <a:srgbClr val="FFFF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2DE9C42E-5DFF-D2A9-A525-683656759CF1}"/>
              </a:ext>
            </a:extLst>
          </p:cNvPr>
          <p:cNvSpPr/>
          <p:nvPr/>
        </p:nvSpPr>
        <p:spPr>
          <a:xfrm>
            <a:off x="279400" y="6578600"/>
            <a:ext cx="8229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noProof="0" dirty="0">
                <a:solidFill>
                  <a:srgbClr val="FFFFFF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International Monetary Fund   |   African Department</a:t>
            </a:r>
            <a:endParaRPr lang="en-US" sz="1000" noProof="0" dirty="0">
              <a:solidFill>
                <a:srgbClr val="FFFF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F73DC90C-CE19-4CD4-CA8C-8E555A3A8898}"/>
              </a:ext>
            </a:extLst>
          </p:cNvPr>
          <p:cNvSpPr/>
          <p:nvPr/>
        </p:nvSpPr>
        <p:spPr>
          <a:xfrm>
            <a:off x="11671300" y="6565900"/>
            <a:ext cx="330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noProof="0">
                <a:solidFill>
                  <a:srgbClr val="FFFFFF"/>
                </a:solidFill>
                <a:latin typeface="Segoe UI"/>
                <a:ea typeface="Segoe UI" pitchFamily="34" charset="-122"/>
                <a:cs typeface="Segoe UI"/>
              </a:rPr>
              <a:t>29</a:t>
            </a:r>
            <a:endParaRPr lang="en-US" sz="1200" noProof="0" dirty="0">
              <a:solidFill>
                <a:srgbClr val="FFFFFF"/>
              </a:solidFill>
              <a:latin typeface="Segoe UI"/>
              <a:cs typeface="Segoe UI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85DF56E-7D21-14D4-E8D8-C96BF90782F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308"/>
          <a:stretch>
            <a:fillRect/>
          </a:stretch>
        </p:blipFill>
        <p:spPr>
          <a:xfrm>
            <a:off x="1910035" y="1182103"/>
            <a:ext cx="8550225" cy="4854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1437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B3372-10DE-67D2-F896-F4D0730A6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Footer band">
            <a:extLst>
              <a:ext uri="{FF2B5EF4-FFF2-40B4-BE49-F238E27FC236}">
                <a16:creationId xmlns:a16="http://schemas.microsoft.com/office/drawing/2014/main" id="{6EE7A559-34DE-5BDE-E70D-FC9C4222BDD0}"/>
              </a:ext>
            </a:extLst>
          </p:cNvPr>
          <p:cNvSpPr/>
          <p:nvPr/>
        </p:nvSpPr>
        <p:spPr>
          <a:xfrm>
            <a:off x="0" y="6578600"/>
            <a:ext cx="12192000" cy="279400"/>
          </a:xfrm>
          <a:prstGeom prst="rect">
            <a:avLst/>
          </a:prstGeom>
          <a:solidFill>
            <a:srgbClr val="003262"/>
          </a:solidFill>
          <a:ln>
            <a:noFill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00" name="Shape Band">
            <a:extLst>
              <a:ext uri="{FF2B5EF4-FFF2-40B4-BE49-F238E27FC236}">
                <a16:creationId xmlns:a16="http://schemas.microsoft.com/office/drawing/2014/main" id="{14685789-73C5-395D-B29C-0535CB18A4B9}"/>
              </a:ext>
            </a:extLst>
          </p:cNvPr>
          <p:cNvSpPr/>
          <p:nvPr/>
        </p:nvSpPr>
        <p:spPr>
          <a:xfrm>
            <a:off x="0" y="0"/>
            <a:ext cx="12192000" cy="558800"/>
          </a:xfrm>
          <a:prstGeom prst="rect">
            <a:avLst/>
          </a:prstGeom>
          <a:solidFill>
            <a:srgbClr val="003262"/>
          </a:solidFill>
          <a:ln w="12700">
            <a:solidFill>
              <a:srgbClr val="004C97"/>
            </a:solidFill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01" name="Shape Rule">
            <a:extLst>
              <a:ext uri="{FF2B5EF4-FFF2-40B4-BE49-F238E27FC236}">
                <a16:creationId xmlns:a16="http://schemas.microsoft.com/office/drawing/2014/main" id="{DE74C746-692E-A798-83E9-E4AD73BD3881}"/>
              </a:ext>
            </a:extLst>
          </p:cNvPr>
          <p:cNvSpPr/>
          <p:nvPr/>
        </p:nvSpPr>
        <p:spPr>
          <a:xfrm>
            <a:off x="0" y="558800"/>
            <a:ext cx="12192000" cy="63500"/>
          </a:xfrm>
          <a:prstGeom prst="rect">
            <a:avLst/>
          </a:prstGeom>
          <a:solidFill>
            <a:srgbClr val="007DB6"/>
          </a:solidFill>
          <a:ln w="12700">
            <a:solidFill>
              <a:srgbClr val="009CDE"/>
            </a:solidFill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02" name="Shape Tab">
            <a:extLst>
              <a:ext uri="{FF2B5EF4-FFF2-40B4-BE49-F238E27FC236}">
                <a16:creationId xmlns:a16="http://schemas.microsoft.com/office/drawing/2014/main" id="{CEEFC6DC-909B-B9CE-9136-21E669F88880}"/>
              </a:ext>
            </a:extLst>
          </p:cNvPr>
          <p:cNvSpPr/>
          <p:nvPr/>
        </p:nvSpPr>
        <p:spPr>
          <a:xfrm>
            <a:off x="0" y="558800"/>
            <a:ext cx="1549400" cy="63500"/>
          </a:xfrm>
          <a:prstGeom prst="rect">
            <a:avLst/>
          </a:prstGeom>
          <a:solidFill>
            <a:srgbClr val="FCB415"/>
          </a:solidFill>
          <a:ln w="12700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6A4B07F9-E005-0BB6-E631-E6ED41BC32FC}"/>
              </a:ext>
            </a:extLst>
          </p:cNvPr>
          <p:cNvSpPr/>
          <p:nvPr/>
        </p:nvSpPr>
        <p:spPr>
          <a:xfrm>
            <a:off x="1714500" y="165100"/>
            <a:ext cx="10058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kern="0" spc="120" noProof="0" dirty="0">
                <a:solidFill>
                  <a:srgbClr val="009CDE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Stylized facts</a:t>
            </a:r>
            <a:endParaRPr lang="en-US" sz="1600" spc="120" noProof="0" dirty="0">
              <a:solidFill>
                <a:srgbClr val="009CD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49994BD-5ACE-1688-5502-91C373F1AC34}"/>
              </a:ext>
            </a:extLst>
          </p:cNvPr>
          <p:cNvSpPr/>
          <p:nvPr/>
        </p:nvSpPr>
        <p:spPr>
          <a:xfrm>
            <a:off x="419100" y="38100"/>
            <a:ext cx="104267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noProof="0" dirty="0">
                <a:solidFill>
                  <a:srgbClr val="FFFFFF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Do countries use earmarking in fundamentally different ways?</a:t>
            </a:r>
            <a:endParaRPr lang="en-US" sz="2400" b="1" noProof="0" dirty="0">
              <a:solidFill>
                <a:srgbClr val="FFFF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3AE4BA2B-57DB-6310-345C-CF8D216C7B0F}"/>
              </a:ext>
            </a:extLst>
          </p:cNvPr>
          <p:cNvSpPr/>
          <p:nvPr/>
        </p:nvSpPr>
        <p:spPr>
          <a:xfrm>
            <a:off x="279400" y="6578600"/>
            <a:ext cx="8229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noProof="0" dirty="0">
                <a:solidFill>
                  <a:srgbClr val="FFFFFF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International Monetary Fund   |   African Department</a:t>
            </a:r>
            <a:endParaRPr lang="en-US" sz="1000" noProof="0" dirty="0">
              <a:solidFill>
                <a:srgbClr val="FFFF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D3070B2C-BA97-1066-8E55-B9878B2255FA}"/>
              </a:ext>
            </a:extLst>
          </p:cNvPr>
          <p:cNvSpPr/>
          <p:nvPr/>
        </p:nvSpPr>
        <p:spPr>
          <a:xfrm>
            <a:off x="11671300" y="6565900"/>
            <a:ext cx="330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noProof="0">
                <a:solidFill>
                  <a:srgbClr val="FFFFFF"/>
                </a:solidFill>
                <a:latin typeface="Segoe UI"/>
                <a:ea typeface="Segoe UI" pitchFamily="34" charset="-122"/>
                <a:cs typeface="Segoe UI"/>
              </a:rPr>
              <a:t>30</a:t>
            </a:r>
            <a:endParaRPr lang="en-US" sz="1200" noProof="0" dirty="0">
              <a:solidFill>
                <a:srgbClr val="FFFFFF"/>
              </a:solidFill>
              <a:latin typeface="Segoe UI"/>
              <a:cs typeface="Segoe UI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521FFE8-5DCE-0B74-F467-AABC1640C4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247"/>
          <a:stretch>
            <a:fillRect/>
          </a:stretch>
        </p:blipFill>
        <p:spPr>
          <a:xfrm>
            <a:off x="2584842" y="836691"/>
            <a:ext cx="7022316" cy="5184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4087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B72C65-EC22-E612-30E4-2AAB920ED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Footer band">
            <a:extLst>
              <a:ext uri="{FF2B5EF4-FFF2-40B4-BE49-F238E27FC236}">
                <a16:creationId xmlns:a16="http://schemas.microsoft.com/office/drawing/2014/main" id="{2A987821-5EB0-8C1C-1E88-4324782E637B}"/>
              </a:ext>
            </a:extLst>
          </p:cNvPr>
          <p:cNvSpPr/>
          <p:nvPr/>
        </p:nvSpPr>
        <p:spPr>
          <a:xfrm>
            <a:off x="0" y="6578600"/>
            <a:ext cx="12192000" cy="279400"/>
          </a:xfrm>
          <a:prstGeom prst="rect">
            <a:avLst/>
          </a:prstGeom>
          <a:solidFill>
            <a:srgbClr val="003262"/>
          </a:solidFill>
          <a:ln>
            <a:noFill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00" name="Shape Band">
            <a:extLst>
              <a:ext uri="{FF2B5EF4-FFF2-40B4-BE49-F238E27FC236}">
                <a16:creationId xmlns:a16="http://schemas.microsoft.com/office/drawing/2014/main" id="{DABEFBC5-5DAA-AA98-6CA2-37243F19FC50}"/>
              </a:ext>
            </a:extLst>
          </p:cNvPr>
          <p:cNvSpPr/>
          <p:nvPr/>
        </p:nvSpPr>
        <p:spPr>
          <a:xfrm>
            <a:off x="0" y="0"/>
            <a:ext cx="12192000" cy="558800"/>
          </a:xfrm>
          <a:prstGeom prst="rect">
            <a:avLst/>
          </a:prstGeom>
          <a:solidFill>
            <a:srgbClr val="003262"/>
          </a:solidFill>
          <a:ln w="12700">
            <a:solidFill>
              <a:srgbClr val="004C97"/>
            </a:solidFill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01" name="Shape Rule">
            <a:extLst>
              <a:ext uri="{FF2B5EF4-FFF2-40B4-BE49-F238E27FC236}">
                <a16:creationId xmlns:a16="http://schemas.microsoft.com/office/drawing/2014/main" id="{AC9C1776-565E-AC1C-97CB-8E8522897F22}"/>
              </a:ext>
            </a:extLst>
          </p:cNvPr>
          <p:cNvSpPr/>
          <p:nvPr/>
        </p:nvSpPr>
        <p:spPr>
          <a:xfrm>
            <a:off x="0" y="558800"/>
            <a:ext cx="12192000" cy="63500"/>
          </a:xfrm>
          <a:prstGeom prst="rect">
            <a:avLst/>
          </a:prstGeom>
          <a:solidFill>
            <a:srgbClr val="007DB6"/>
          </a:solidFill>
          <a:ln w="12700">
            <a:solidFill>
              <a:srgbClr val="009CDE"/>
            </a:solidFill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02" name="Shape Tab">
            <a:extLst>
              <a:ext uri="{FF2B5EF4-FFF2-40B4-BE49-F238E27FC236}">
                <a16:creationId xmlns:a16="http://schemas.microsoft.com/office/drawing/2014/main" id="{3387279D-E079-2E92-15FD-37A722E1A764}"/>
              </a:ext>
            </a:extLst>
          </p:cNvPr>
          <p:cNvSpPr/>
          <p:nvPr/>
        </p:nvSpPr>
        <p:spPr>
          <a:xfrm>
            <a:off x="0" y="558800"/>
            <a:ext cx="1549400" cy="63500"/>
          </a:xfrm>
          <a:prstGeom prst="rect">
            <a:avLst/>
          </a:prstGeom>
          <a:solidFill>
            <a:srgbClr val="FCB415"/>
          </a:solidFill>
          <a:ln w="12700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DA096479-5E67-6699-1A27-0E461D59EB27}"/>
              </a:ext>
            </a:extLst>
          </p:cNvPr>
          <p:cNvSpPr/>
          <p:nvPr/>
        </p:nvSpPr>
        <p:spPr>
          <a:xfrm>
            <a:off x="1714500" y="165100"/>
            <a:ext cx="10058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kern="0" spc="120" noProof="0" dirty="0">
                <a:solidFill>
                  <a:srgbClr val="009CDE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Stylized facts</a:t>
            </a:r>
            <a:endParaRPr lang="en-US" sz="1600" spc="120" noProof="0" dirty="0">
              <a:solidFill>
                <a:srgbClr val="009CD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DCE15FE-4C6E-17A6-BDA3-05DB09C1D572}"/>
              </a:ext>
            </a:extLst>
          </p:cNvPr>
          <p:cNvSpPr/>
          <p:nvPr/>
        </p:nvSpPr>
        <p:spPr>
          <a:xfrm>
            <a:off x="419100" y="38100"/>
            <a:ext cx="104267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noProof="0" dirty="0">
                <a:solidFill>
                  <a:srgbClr val="FFFFFF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Do countries use earmarking in fundamentally different ways?</a:t>
            </a:r>
            <a:endParaRPr lang="en-US" sz="2400" b="1" noProof="0" dirty="0">
              <a:solidFill>
                <a:srgbClr val="FFFF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E630DB6E-B031-5A45-0A95-991C1DDCF936}"/>
              </a:ext>
            </a:extLst>
          </p:cNvPr>
          <p:cNvSpPr/>
          <p:nvPr/>
        </p:nvSpPr>
        <p:spPr>
          <a:xfrm>
            <a:off x="279400" y="6578600"/>
            <a:ext cx="8229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noProof="0" dirty="0">
                <a:solidFill>
                  <a:srgbClr val="FFFFFF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International Monetary Fund   |   African Department</a:t>
            </a:r>
            <a:endParaRPr lang="en-US" sz="1000" noProof="0" dirty="0">
              <a:solidFill>
                <a:srgbClr val="FFFF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8E4C75BB-317E-6086-91FC-607EDD3E0926}"/>
              </a:ext>
            </a:extLst>
          </p:cNvPr>
          <p:cNvSpPr/>
          <p:nvPr/>
        </p:nvSpPr>
        <p:spPr>
          <a:xfrm>
            <a:off x="11671300" y="6565900"/>
            <a:ext cx="330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noProof="0">
                <a:solidFill>
                  <a:srgbClr val="FFFFFF"/>
                </a:solidFill>
                <a:latin typeface="Segoe UI"/>
                <a:ea typeface="Segoe UI" pitchFamily="34" charset="-122"/>
                <a:cs typeface="Segoe UI"/>
              </a:rPr>
              <a:t>31</a:t>
            </a:r>
            <a:endParaRPr lang="en-US" sz="1200" noProof="0" dirty="0">
              <a:solidFill>
                <a:srgbClr val="FFFFFF"/>
              </a:solidFill>
              <a:latin typeface="Segoe UI"/>
              <a:cs typeface="Segoe UI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C7E4C32-1200-C90E-F84C-09CFBABE4B7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463"/>
          <a:stretch>
            <a:fillRect/>
          </a:stretch>
        </p:blipFill>
        <p:spPr>
          <a:xfrm>
            <a:off x="1449003" y="1118393"/>
            <a:ext cx="9293994" cy="478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4803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740E7-6CF7-6D78-8525-0FB860750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Footer band">
            <a:extLst>
              <a:ext uri="{FF2B5EF4-FFF2-40B4-BE49-F238E27FC236}">
                <a16:creationId xmlns:a16="http://schemas.microsoft.com/office/drawing/2014/main" id="{D75B8514-F142-8D52-E8B9-DE43E61AA8BE}"/>
              </a:ext>
            </a:extLst>
          </p:cNvPr>
          <p:cNvSpPr/>
          <p:nvPr/>
        </p:nvSpPr>
        <p:spPr>
          <a:xfrm>
            <a:off x="0" y="6578600"/>
            <a:ext cx="12192000" cy="279400"/>
          </a:xfrm>
          <a:prstGeom prst="rect">
            <a:avLst/>
          </a:prstGeom>
          <a:solidFill>
            <a:srgbClr val="003262"/>
          </a:solidFill>
          <a:ln>
            <a:noFill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00" name="Shape Band">
            <a:extLst>
              <a:ext uri="{FF2B5EF4-FFF2-40B4-BE49-F238E27FC236}">
                <a16:creationId xmlns:a16="http://schemas.microsoft.com/office/drawing/2014/main" id="{14EB8883-58C4-6583-CBB7-FF414455D3E8}"/>
              </a:ext>
            </a:extLst>
          </p:cNvPr>
          <p:cNvSpPr/>
          <p:nvPr/>
        </p:nvSpPr>
        <p:spPr>
          <a:xfrm>
            <a:off x="0" y="0"/>
            <a:ext cx="12192000" cy="558800"/>
          </a:xfrm>
          <a:prstGeom prst="rect">
            <a:avLst/>
          </a:prstGeom>
          <a:solidFill>
            <a:srgbClr val="003262"/>
          </a:solidFill>
          <a:ln w="12700">
            <a:solidFill>
              <a:srgbClr val="004C97"/>
            </a:solidFill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01" name="Shape Rule">
            <a:extLst>
              <a:ext uri="{FF2B5EF4-FFF2-40B4-BE49-F238E27FC236}">
                <a16:creationId xmlns:a16="http://schemas.microsoft.com/office/drawing/2014/main" id="{0C623048-F034-75DC-3291-E737EB43F594}"/>
              </a:ext>
            </a:extLst>
          </p:cNvPr>
          <p:cNvSpPr/>
          <p:nvPr/>
        </p:nvSpPr>
        <p:spPr>
          <a:xfrm>
            <a:off x="0" y="558800"/>
            <a:ext cx="12192000" cy="63500"/>
          </a:xfrm>
          <a:prstGeom prst="rect">
            <a:avLst/>
          </a:prstGeom>
          <a:solidFill>
            <a:srgbClr val="007DB6"/>
          </a:solidFill>
          <a:ln w="12700">
            <a:solidFill>
              <a:srgbClr val="009CDE"/>
            </a:solidFill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02" name="Shape Tab">
            <a:extLst>
              <a:ext uri="{FF2B5EF4-FFF2-40B4-BE49-F238E27FC236}">
                <a16:creationId xmlns:a16="http://schemas.microsoft.com/office/drawing/2014/main" id="{5237E1DE-4F3B-A69A-AFFE-FF55A561CE7E}"/>
              </a:ext>
            </a:extLst>
          </p:cNvPr>
          <p:cNvSpPr/>
          <p:nvPr/>
        </p:nvSpPr>
        <p:spPr>
          <a:xfrm>
            <a:off x="0" y="558800"/>
            <a:ext cx="1549400" cy="63500"/>
          </a:xfrm>
          <a:prstGeom prst="rect">
            <a:avLst/>
          </a:prstGeom>
          <a:solidFill>
            <a:srgbClr val="FCB415"/>
          </a:solidFill>
          <a:ln w="12700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16BBF13C-BB94-4F5E-B118-AF1D390F352C}"/>
              </a:ext>
            </a:extLst>
          </p:cNvPr>
          <p:cNvSpPr/>
          <p:nvPr/>
        </p:nvSpPr>
        <p:spPr>
          <a:xfrm>
            <a:off x="1714500" y="165100"/>
            <a:ext cx="10058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kern="0" spc="120" noProof="0" dirty="0">
                <a:solidFill>
                  <a:srgbClr val="009CDE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Stylized facts</a:t>
            </a:r>
            <a:endParaRPr lang="en-US" sz="1600" spc="120" noProof="0" dirty="0">
              <a:solidFill>
                <a:srgbClr val="009CD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90B42F3-A759-E51F-28EF-CE5A80305CF2}"/>
              </a:ext>
            </a:extLst>
          </p:cNvPr>
          <p:cNvSpPr/>
          <p:nvPr/>
        </p:nvSpPr>
        <p:spPr>
          <a:xfrm>
            <a:off x="419100" y="38100"/>
            <a:ext cx="104267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noProof="0" dirty="0">
                <a:solidFill>
                  <a:srgbClr val="FFFFFF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Do countries use earmarking in fundamentally different ways?</a:t>
            </a:r>
            <a:endParaRPr lang="en-US" sz="2400" b="1" noProof="0" dirty="0">
              <a:solidFill>
                <a:srgbClr val="FFFF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A3EE8347-859D-3F4A-9026-E25002AAF28D}"/>
              </a:ext>
            </a:extLst>
          </p:cNvPr>
          <p:cNvSpPr/>
          <p:nvPr/>
        </p:nvSpPr>
        <p:spPr>
          <a:xfrm>
            <a:off x="279400" y="6578600"/>
            <a:ext cx="8229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noProof="0" dirty="0">
                <a:solidFill>
                  <a:srgbClr val="FFFFFF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International Monetary Fund   |   African Department</a:t>
            </a:r>
            <a:endParaRPr lang="en-US" sz="1000" noProof="0" dirty="0">
              <a:solidFill>
                <a:srgbClr val="FFFF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057518BB-C078-A002-098C-E77CA31F221F}"/>
              </a:ext>
            </a:extLst>
          </p:cNvPr>
          <p:cNvSpPr/>
          <p:nvPr/>
        </p:nvSpPr>
        <p:spPr>
          <a:xfrm>
            <a:off x="11671300" y="6565900"/>
            <a:ext cx="330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noProof="0">
                <a:solidFill>
                  <a:srgbClr val="FFFFFF"/>
                </a:solidFill>
                <a:latin typeface="Segoe UI"/>
                <a:ea typeface="Segoe UI" pitchFamily="34" charset="-122"/>
                <a:cs typeface="Segoe UI"/>
              </a:rPr>
              <a:t>32</a:t>
            </a:r>
            <a:endParaRPr lang="en-US" sz="1200" noProof="0" dirty="0">
              <a:solidFill>
                <a:srgbClr val="FFFFFF"/>
              </a:solidFill>
              <a:latin typeface="Segoe UI"/>
              <a:cs typeface="Segoe UI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269059F4-0E3F-3940-27AA-BB8E6ED3749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542"/>
          <a:stretch>
            <a:fillRect/>
          </a:stretch>
        </p:blipFill>
        <p:spPr>
          <a:xfrm>
            <a:off x="1474517" y="916056"/>
            <a:ext cx="9600309" cy="5299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9114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D081D-F4F5-D509-5343-B56279655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Footer band">
            <a:extLst>
              <a:ext uri="{FF2B5EF4-FFF2-40B4-BE49-F238E27FC236}">
                <a16:creationId xmlns:a16="http://schemas.microsoft.com/office/drawing/2014/main" id="{D838B866-27FF-B8AC-D627-154F84D39156}"/>
              </a:ext>
            </a:extLst>
          </p:cNvPr>
          <p:cNvSpPr/>
          <p:nvPr/>
        </p:nvSpPr>
        <p:spPr>
          <a:xfrm>
            <a:off x="0" y="6578600"/>
            <a:ext cx="12192000" cy="279400"/>
          </a:xfrm>
          <a:prstGeom prst="rect">
            <a:avLst/>
          </a:prstGeom>
          <a:solidFill>
            <a:srgbClr val="003262"/>
          </a:solidFill>
          <a:ln>
            <a:noFill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00" name="Shape Band">
            <a:extLst>
              <a:ext uri="{FF2B5EF4-FFF2-40B4-BE49-F238E27FC236}">
                <a16:creationId xmlns:a16="http://schemas.microsoft.com/office/drawing/2014/main" id="{5D3E5951-8A26-FC5E-08EF-6B8F12A3350B}"/>
              </a:ext>
            </a:extLst>
          </p:cNvPr>
          <p:cNvSpPr/>
          <p:nvPr/>
        </p:nvSpPr>
        <p:spPr>
          <a:xfrm>
            <a:off x="0" y="0"/>
            <a:ext cx="12192000" cy="558800"/>
          </a:xfrm>
          <a:prstGeom prst="rect">
            <a:avLst/>
          </a:prstGeom>
          <a:solidFill>
            <a:srgbClr val="003262"/>
          </a:solidFill>
          <a:ln w="12700">
            <a:solidFill>
              <a:srgbClr val="004C97"/>
            </a:solidFill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01" name="Shape Rule">
            <a:extLst>
              <a:ext uri="{FF2B5EF4-FFF2-40B4-BE49-F238E27FC236}">
                <a16:creationId xmlns:a16="http://schemas.microsoft.com/office/drawing/2014/main" id="{F751DC67-13A8-E0BA-4D45-EED95B98BC41}"/>
              </a:ext>
            </a:extLst>
          </p:cNvPr>
          <p:cNvSpPr/>
          <p:nvPr/>
        </p:nvSpPr>
        <p:spPr>
          <a:xfrm>
            <a:off x="0" y="558800"/>
            <a:ext cx="12192000" cy="63500"/>
          </a:xfrm>
          <a:prstGeom prst="rect">
            <a:avLst/>
          </a:prstGeom>
          <a:solidFill>
            <a:srgbClr val="007DB6"/>
          </a:solidFill>
          <a:ln w="12700">
            <a:solidFill>
              <a:srgbClr val="009CDE"/>
            </a:solidFill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02" name="Shape Tab">
            <a:extLst>
              <a:ext uri="{FF2B5EF4-FFF2-40B4-BE49-F238E27FC236}">
                <a16:creationId xmlns:a16="http://schemas.microsoft.com/office/drawing/2014/main" id="{90E05D57-8BBB-3073-92C8-1600E0A91F94}"/>
              </a:ext>
            </a:extLst>
          </p:cNvPr>
          <p:cNvSpPr/>
          <p:nvPr/>
        </p:nvSpPr>
        <p:spPr>
          <a:xfrm>
            <a:off x="0" y="558800"/>
            <a:ext cx="1549400" cy="63500"/>
          </a:xfrm>
          <a:prstGeom prst="rect">
            <a:avLst/>
          </a:prstGeom>
          <a:solidFill>
            <a:srgbClr val="FCB415"/>
          </a:solidFill>
          <a:ln w="12700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7F357B2B-0BB9-BAE7-927B-D9384B954638}"/>
              </a:ext>
            </a:extLst>
          </p:cNvPr>
          <p:cNvSpPr/>
          <p:nvPr/>
        </p:nvSpPr>
        <p:spPr>
          <a:xfrm>
            <a:off x="1714500" y="165100"/>
            <a:ext cx="10058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spc="120" noProof="0" dirty="0">
                <a:solidFill>
                  <a:srgbClr val="009CD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Conclusion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005D71F-1580-6BE1-84EB-3EDCC971FEBC}"/>
              </a:ext>
            </a:extLst>
          </p:cNvPr>
          <p:cNvSpPr/>
          <p:nvPr/>
        </p:nvSpPr>
        <p:spPr>
          <a:xfrm>
            <a:off x="419100" y="38100"/>
            <a:ext cx="104267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noProof="0" dirty="0">
                <a:solidFill>
                  <a:srgbClr val="FFFFFF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Do countries use earmarking in fundamentally different ways?</a:t>
            </a:r>
            <a:endParaRPr lang="en-US" sz="2400" b="1" noProof="0" dirty="0">
              <a:solidFill>
                <a:srgbClr val="FFFF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164C26E2-C5D8-0C93-2A1E-7C6B429302B6}"/>
              </a:ext>
            </a:extLst>
          </p:cNvPr>
          <p:cNvSpPr/>
          <p:nvPr/>
        </p:nvSpPr>
        <p:spPr>
          <a:xfrm>
            <a:off x="279400" y="6578600"/>
            <a:ext cx="8229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noProof="0" dirty="0">
                <a:solidFill>
                  <a:srgbClr val="FFFFFF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International Monetary Fund   |   African Department</a:t>
            </a:r>
            <a:endParaRPr lang="en-US" sz="1000" noProof="0" dirty="0">
              <a:solidFill>
                <a:srgbClr val="FFFF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FE3DB097-FBD5-655F-8729-46D1C7354214}"/>
              </a:ext>
            </a:extLst>
          </p:cNvPr>
          <p:cNvSpPr/>
          <p:nvPr/>
        </p:nvSpPr>
        <p:spPr>
          <a:xfrm>
            <a:off x="11671300" y="6565900"/>
            <a:ext cx="330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noProof="0">
                <a:solidFill>
                  <a:srgbClr val="FFFFFF"/>
                </a:solidFill>
                <a:latin typeface="Segoe UI"/>
                <a:ea typeface="Segoe UI" pitchFamily="34" charset="-122"/>
                <a:cs typeface="Segoe UI"/>
              </a:rPr>
              <a:t>33</a:t>
            </a:r>
            <a:endParaRPr lang="en-US" sz="1200" noProof="0" dirty="0">
              <a:solidFill>
                <a:srgbClr val="FFFFFF"/>
              </a:solidFill>
              <a:latin typeface="Segoe UI"/>
              <a:cs typeface="Segoe UI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323CD8BC-7BA7-C129-42F8-37E323A266A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887"/>
          <a:stretch>
            <a:fillRect/>
          </a:stretch>
        </p:blipFill>
        <p:spPr>
          <a:xfrm>
            <a:off x="1310524" y="926547"/>
            <a:ext cx="9570952" cy="520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33696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CDAD0-48B7-55E1-7B7F-8762F228D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Footer band">
            <a:extLst>
              <a:ext uri="{FF2B5EF4-FFF2-40B4-BE49-F238E27FC236}">
                <a16:creationId xmlns:a16="http://schemas.microsoft.com/office/drawing/2014/main" id="{5C86F7DE-FACB-6638-79E1-ADF3423FC90C}"/>
              </a:ext>
            </a:extLst>
          </p:cNvPr>
          <p:cNvSpPr/>
          <p:nvPr/>
        </p:nvSpPr>
        <p:spPr>
          <a:xfrm>
            <a:off x="0" y="6578600"/>
            <a:ext cx="12192000" cy="279400"/>
          </a:xfrm>
          <a:prstGeom prst="rect">
            <a:avLst/>
          </a:prstGeom>
          <a:solidFill>
            <a:srgbClr val="003262"/>
          </a:solidFill>
          <a:ln>
            <a:noFill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00" name="Shape Band">
            <a:extLst>
              <a:ext uri="{FF2B5EF4-FFF2-40B4-BE49-F238E27FC236}">
                <a16:creationId xmlns:a16="http://schemas.microsoft.com/office/drawing/2014/main" id="{33A7E4E3-EB3D-F549-C199-EAB9A442FC67}"/>
              </a:ext>
            </a:extLst>
          </p:cNvPr>
          <p:cNvSpPr/>
          <p:nvPr/>
        </p:nvSpPr>
        <p:spPr>
          <a:xfrm>
            <a:off x="0" y="0"/>
            <a:ext cx="12192000" cy="558800"/>
          </a:xfrm>
          <a:prstGeom prst="rect">
            <a:avLst/>
          </a:prstGeom>
          <a:solidFill>
            <a:srgbClr val="003262"/>
          </a:solidFill>
          <a:ln w="12700">
            <a:solidFill>
              <a:srgbClr val="004C97"/>
            </a:solidFill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01" name="Shape Rule">
            <a:extLst>
              <a:ext uri="{FF2B5EF4-FFF2-40B4-BE49-F238E27FC236}">
                <a16:creationId xmlns:a16="http://schemas.microsoft.com/office/drawing/2014/main" id="{DC5ACAF0-B813-5951-A46C-435F404E9952}"/>
              </a:ext>
            </a:extLst>
          </p:cNvPr>
          <p:cNvSpPr/>
          <p:nvPr/>
        </p:nvSpPr>
        <p:spPr>
          <a:xfrm>
            <a:off x="0" y="558800"/>
            <a:ext cx="12192000" cy="63500"/>
          </a:xfrm>
          <a:prstGeom prst="rect">
            <a:avLst/>
          </a:prstGeom>
          <a:solidFill>
            <a:srgbClr val="007DB6"/>
          </a:solidFill>
          <a:ln w="12700">
            <a:solidFill>
              <a:srgbClr val="009CDE"/>
            </a:solidFill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02" name="Shape Tab">
            <a:extLst>
              <a:ext uri="{FF2B5EF4-FFF2-40B4-BE49-F238E27FC236}">
                <a16:creationId xmlns:a16="http://schemas.microsoft.com/office/drawing/2014/main" id="{BAE5A12E-FE9F-093C-AC73-C5414BBE7C84}"/>
              </a:ext>
            </a:extLst>
          </p:cNvPr>
          <p:cNvSpPr/>
          <p:nvPr/>
        </p:nvSpPr>
        <p:spPr>
          <a:xfrm>
            <a:off x="0" y="558800"/>
            <a:ext cx="1549400" cy="63500"/>
          </a:xfrm>
          <a:prstGeom prst="rect">
            <a:avLst/>
          </a:prstGeom>
          <a:solidFill>
            <a:srgbClr val="FCB415"/>
          </a:solidFill>
          <a:ln w="12700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B996D8E5-8FC7-1428-C764-79EC11433AFF}"/>
              </a:ext>
            </a:extLst>
          </p:cNvPr>
          <p:cNvSpPr/>
          <p:nvPr/>
        </p:nvSpPr>
        <p:spPr>
          <a:xfrm>
            <a:off x="1714500" y="165100"/>
            <a:ext cx="10058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spc="120" noProof="0" dirty="0">
                <a:solidFill>
                  <a:srgbClr val="009CD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Conclusion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C1376C4-815A-A4D4-D8AA-0BD837678541}"/>
              </a:ext>
            </a:extLst>
          </p:cNvPr>
          <p:cNvSpPr/>
          <p:nvPr/>
        </p:nvSpPr>
        <p:spPr>
          <a:xfrm>
            <a:off x="419100" y="38100"/>
            <a:ext cx="104267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noProof="0" dirty="0">
                <a:solidFill>
                  <a:srgbClr val="FFFFFF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Do countries use earmarking in fundamentally different ways?</a:t>
            </a:r>
            <a:endParaRPr lang="en-US" sz="2400" b="1" noProof="0" dirty="0">
              <a:solidFill>
                <a:srgbClr val="FFFF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C3BEC3F5-4117-19A3-7AD0-17FDF199188E}"/>
              </a:ext>
            </a:extLst>
          </p:cNvPr>
          <p:cNvSpPr/>
          <p:nvPr/>
        </p:nvSpPr>
        <p:spPr>
          <a:xfrm>
            <a:off x="279400" y="6578600"/>
            <a:ext cx="8229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noProof="0" dirty="0">
                <a:solidFill>
                  <a:srgbClr val="FFFFFF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International Monetary Fund   |   African Department</a:t>
            </a:r>
            <a:endParaRPr lang="en-US" sz="1000" noProof="0" dirty="0">
              <a:solidFill>
                <a:srgbClr val="FFFF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2ACEFEB2-E8AA-45CA-664C-E07BDDF71083}"/>
              </a:ext>
            </a:extLst>
          </p:cNvPr>
          <p:cNvSpPr/>
          <p:nvPr/>
        </p:nvSpPr>
        <p:spPr>
          <a:xfrm>
            <a:off x="11671300" y="6565900"/>
            <a:ext cx="330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noProof="0">
                <a:solidFill>
                  <a:srgbClr val="FFFFFF"/>
                </a:solidFill>
                <a:latin typeface="Segoe UI"/>
                <a:ea typeface="Segoe UI" pitchFamily="34" charset="-122"/>
                <a:cs typeface="Segoe UI"/>
              </a:rPr>
              <a:t>34</a:t>
            </a:r>
            <a:endParaRPr lang="en-US" sz="1200" noProof="0" dirty="0">
              <a:solidFill>
                <a:srgbClr val="FFFFFF"/>
              </a:solidFill>
              <a:latin typeface="Segoe UI"/>
              <a:cs typeface="Segoe UI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48F4C693-E051-C696-03C8-472F2927116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947"/>
          <a:stretch>
            <a:fillRect/>
          </a:stretch>
        </p:blipFill>
        <p:spPr>
          <a:xfrm>
            <a:off x="1938067" y="1181100"/>
            <a:ext cx="8315865" cy="4570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24700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ABBAD-97A3-8CE3-C6AE-64751E13E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Footer band">
            <a:extLst>
              <a:ext uri="{FF2B5EF4-FFF2-40B4-BE49-F238E27FC236}">
                <a16:creationId xmlns:a16="http://schemas.microsoft.com/office/drawing/2014/main" id="{567A7431-B4EE-630B-9F34-82F1F996115A}"/>
              </a:ext>
            </a:extLst>
          </p:cNvPr>
          <p:cNvSpPr/>
          <p:nvPr/>
        </p:nvSpPr>
        <p:spPr>
          <a:xfrm>
            <a:off x="0" y="6578600"/>
            <a:ext cx="12192000" cy="279400"/>
          </a:xfrm>
          <a:prstGeom prst="rect">
            <a:avLst/>
          </a:prstGeom>
          <a:solidFill>
            <a:srgbClr val="003262"/>
          </a:solidFill>
          <a:ln>
            <a:noFill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00" name="Shape Band">
            <a:extLst>
              <a:ext uri="{FF2B5EF4-FFF2-40B4-BE49-F238E27FC236}">
                <a16:creationId xmlns:a16="http://schemas.microsoft.com/office/drawing/2014/main" id="{68985858-A9F8-195E-C162-CB5EDF478318}"/>
              </a:ext>
            </a:extLst>
          </p:cNvPr>
          <p:cNvSpPr/>
          <p:nvPr/>
        </p:nvSpPr>
        <p:spPr>
          <a:xfrm>
            <a:off x="0" y="0"/>
            <a:ext cx="12192000" cy="558800"/>
          </a:xfrm>
          <a:prstGeom prst="rect">
            <a:avLst/>
          </a:prstGeom>
          <a:solidFill>
            <a:srgbClr val="003262"/>
          </a:solidFill>
          <a:ln w="12700">
            <a:solidFill>
              <a:srgbClr val="004C97"/>
            </a:solidFill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01" name="Shape Rule">
            <a:extLst>
              <a:ext uri="{FF2B5EF4-FFF2-40B4-BE49-F238E27FC236}">
                <a16:creationId xmlns:a16="http://schemas.microsoft.com/office/drawing/2014/main" id="{D50552CB-1C0C-5E3A-FAB6-3A07603AA89B}"/>
              </a:ext>
            </a:extLst>
          </p:cNvPr>
          <p:cNvSpPr/>
          <p:nvPr/>
        </p:nvSpPr>
        <p:spPr>
          <a:xfrm>
            <a:off x="0" y="558800"/>
            <a:ext cx="12192000" cy="63500"/>
          </a:xfrm>
          <a:prstGeom prst="rect">
            <a:avLst/>
          </a:prstGeom>
          <a:solidFill>
            <a:srgbClr val="007DB6"/>
          </a:solidFill>
          <a:ln w="12700">
            <a:solidFill>
              <a:srgbClr val="009CDE"/>
            </a:solidFill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02" name="Shape Tab">
            <a:extLst>
              <a:ext uri="{FF2B5EF4-FFF2-40B4-BE49-F238E27FC236}">
                <a16:creationId xmlns:a16="http://schemas.microsoft.com/office/drawing/2014/main" id="{C04035B4-8A1B-2ADD-A493-2738DBB132E2}"/>
              </a:ext>
            </a:extLst>
          </p:cNvPr>
          <p:cNvSpPr/>
          <p:nvPr/>
        </p:nvSpPr>
        <p:spPr>
          <a:xfrm>
            <a:off x="0" y="558800"/>
            <a:ext cx="1549400" cy="63500"/>
          </a:xfrm>
          <a:prstGeom prst="rect">
            <a:avLst/>
          </a:prstGeom>
          <a:solidFill>
            <a:srgbClr val="FCB415"/>
          </a:solidFill>
          <a:ln w="12700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E0CD90FD-2341-81DD-1F44-88AC6B376567}"/>
              </a:ext>
            </a:extLst>
          </p:cNvPr>
          <p:cNvSpPr/>
          <p:nvPr/>
        </p:nvSpPr>
        <p:spPr>
          <a:xfrm>
            <a:off x="1714500" y="165100"/>
            <a:ext cx="10058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spc="120" noProof="0" dirty="0">
                <a:solidFill>
                  <a:srgbClr val="009CD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Conclusion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A1D3E3E-370C-486A-48E5-4545705C981A}"/>
              </a:ext>
            </a:extLst>
          </p:cNvPr>
          <p:cNvSpPr/>
          <p:nvPr/>
        </p:nvSpPr>
        <p:spPr>
          <a:xfrm>
            <a:off x="419100" y="38100"/>
            <a:ext cx="104267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noProof="0" dirty="0">
                <a:solidFill>
                  <a:srgbClr val="FFFFFF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Do countries use earmarking in fundamentally different ways?</a:t>
            </a:r>
            <a:endParaRPr lang="en-US" sz="2400" b="1" noProof="0" dirty="0">
              <a:solidFill>
                <a:srgbClr val="FFFF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2EA09956-248A-D414-4FC3-D6C8A4D42C7A}"/>
              </a:ext>
            </a:extLst>
          </p:cNvPr>
          <p:cNvSpPr/>
          <p:nvPr/>
        </p:nvSpPr>
        <p:spPr>
          <a:xfrm>
            <a:off x="279400" y="6578600"/>
            <a:ext cx="8229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noProof="0" dirty="0">
                <a:solidFill>
                  <a:srgbClr val="FFFFFF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International Monetary Fund   |   African Department</a:t>
            </a:r>
            <a:endParaRPr lang="en-US" sz="1000" noProof="0" dirty="0">
              <a:solidFill>
                <a:srgbClr val="FFFF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E19C7F77-9BEB-5A16-684B-3CF0410F8A7B}"/>
              </a:ext>
            </a:extLst>
          </p:cNvPr>
          <p:cNvSpPr/>
          <p:nvPr/>
        </p:nvSpPr>
        <p:spPr>
          <a:xfrm>
            <a:off x="11671300" y="6565900"/>
            <a:ext cx="330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noProof="0">
                <a:solidFill>
                  <a:srgbClr val="FFFFFF"/>
                </a:solidFill>
                <a:latin typeface="Segoe UI"/>
                <a:ea typeface="Segoe UI" pitchFamily="34" charset="-122"/>
                <a:cs typeface="Segoe UI"/>
              </a:rPr>
              <a:t>35</a:t>
            </a:r>
            <a:endParaRPr lang="en-US" sz="1200" noProof="0" dirty="0">
              <a:solidFill>
                <a:srgbClr val="FFFFFF"/>
              </a:solidFill>
              <a:latin typeface="Segoe UI"/>
              <a:cs typeface="Segoe UI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98104C6C-5DE3-DD47-1F1D-A868076401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161"/>
          <a:stretch>
            <a:fillRect/>
          </a:stretch>
        </p:blipFill>
        <p:spPr>
          <a:xfrm>
            <a:off x="1938067" y="1181100"/>
            <a:ext cx="8315865" cy="4510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34871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12A37-45D0-7696-2E8D-24D5DDE04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Footer band">
            <a:extLst>
              <a:ext uri="{FF2B5EF4-FFF2-40B4-BE49-F238E27FC236}">
                <a16:creationId xmlns:a16="http://schemas.microsoft.com/office/drawing/2014/main" id="{B629B4AF-701A-2C4C-C6D0-04762937476B}"/>
              </a:ext>
            </a:extLst>
          </p:cNvPr>
          <p:cNvSpPr/>
          <p:nvPr/>
        </p:nvSpPr>
        <p:spPr>
          <a:xfrm>
            <a:off x="0" y="6578600"/>
            <a:ext cx="12192000" cy="279400"/>
          </a:xfrm>
          <a:prstGeom prst="rect">
            <a:avLst/>
          </a:prstGeom>
          <a:solidFill>
            <a:srgbClr val="003262"/>
          </a:solidFill>
          <a:ln>
            <a:noFill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00" name="Shape Band">
            <a:extLst>
              <a:ext uri="{FF2B5EF4-FFF2-40B4-BE49-F238E27FC236}">
                <a16:creationId xmlns:a16="http://schemas.microsoft.com/office/drawing/2014/main" id="{2E90EFB6-8F13-5465-EE6D-BA27872FD27B}"/>
              </a:ext>
            </a:extLst>
          </p:cNvPr>
          <p:cNvSpPr/>
          <p:nvPr/>
        </p:nvSpPr>
        <p:spPr>
          <a:xfrm>
            <a:off x="0" y="0"/>
            <a:ext cx="12192000" cy="558800"/>
          </a:xfrm>
          <a:prstGeom prst="rect">
            <a:avLst/>
          </a:prstGeom>
          <a:solidFill>
            <a:srgbClr val="003262"/>
          </a:solidFill>
          <a:ln w="12700">
            <a:solidFill>
              <a:srgbClr val="004C97"/>
            </a:solidFill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01" name="Shape Rule">
            <a:extLst>
              <a:ext uri="{FF2B5EF4-FFF2-40B4-BE49-F238E27FC236}">
                <a16:creationId xmlns:a16="http://schemas.microsoft.com/office/drawing/2014/main" id="{CFCA738F-1225-7994-2069-B4A70ABFD6BF}"/>
              </a:ext>
            </a:extLst>
          </p:cNvPr>
          <p:cNvSpPr/>
          <p:nvPr/>
        </p:nvSpPr>
        <p:spPr>
          <a:xfrm>
            <a:off x="0" y="558800"/>
            <a:ext cx="12192000" cy="63500"/>
          </a:xfrm>
          <a:prstGeom prst="rect">
            <a:avLst/>
          </a:prstGeom>
          <a:solidFill>
            <a:srgbClr val="007DB6"/>
          </a:solidFill>
          <a:ln w="12700">
            <a:solidFill>
              <a:srgbClr val="009CDE"/>
            </a:solidFill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02" name="Shape Tab">
            <a:extLst>
              <a:ext uri="{FF2B5EF4-FFF2-40B4-BE49-F238E27FC236}">
                <a16:creationId xmlns:a16="http://schemas.microsoft.com/office/drawing/2014/main" id="{7A4064B5-C24A-1102-D82A-AD12783DF447}"/>
              </a:ext>
            </a:extLst>
          </p:cNvPr>
          <p:cNvSpPr/>
          <p:nvPr/>
        </p:nvSpPr>
        <p:spPr>
          <a:xfrm>
            <a:off x="0" y="558800"/>
            <a:ext cx="1549400" cy="63500"/>
          </a:xfrm>
          <a:prstGeom prst="rect">
            <a:avLst/>
          </a:prstGeom>
          <a:solidFill>
            <a:srgbClr val="FCB415"/>
          </a:solidFill>
          <a:ln w="12700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45E84878-2978-88CF-EB67-04CBC21F9C14}"/>
              </a:ext>
            </a:extLst>
          </p:cNvPr>
          <p:cNvSpPr/>
          <p:nvPr/>
        </p:nvSpPr>
        <p:spPr>
          <a:xfrm>
            <a:off x="1714500" y="165100"/>
            <a:ext cx="10058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spc="120" noProof="0" dirty="0">
                <a:solidFill>
                  <a:srgbClr val="009CD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Conclusion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C956FBA-905F-976B-521A-3F8C1DD5E441}"/>
              </a:ext>
            </a:extLst>
          </p:cNvPr>
          <p:cNvSpPr/>
          <p:nvPr/>
        </p:nvSpPr>
        <p:spPr>
          <a:xfrm>
            <a:off x="419100" y="38100"/>
            <a:ext cx="104267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noProof="0" dirty="0">
                <a:solidFill>
                  <a:srgbClr val="FFFFFF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Do countries use earmarking in fundamentally different ways?</a:t>
            </a:r>
            <a:endParaRPr lang="en-US" sz="2400" b="1" noProof="0" dirty="0">
              <a:solidFill>
                <a:srgbClr val="FFFF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81EE0B1A-47B5-F1AF-6EE1-D73DB7483CA6}"/>
              </a:ext>
            </a:extLst>
          </p:cNvPr>
          <p:cNvSpPr/>
          <p:nvPr/>
        </p:nvSpPr>
        <p:spPr>
          <a:xfrm>
            <a:off x="279400" y="6578600"/>
            <a:ext cx="8229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noProof="0" dirty="0">
                <a:solidFill>
                  <a:srgbClr val="FFFFFF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International Monetary Fund   |   African Department</a:t>
            </a:r>
            <a:endParaRPr lang="en-US" sz="1000" noProof="0" dirty="0">
              <a:solidFill>
                <a:srgbClr val="FFFF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FE77F89B-E7A3-EB32-9960-D344E3CF0C63}"/>
              </a:ext>
            </a:extLst>
          </p:cNvPr>
          <p:cNvSpPr/>
          <p:nvPr/>
        </p:nvSpPr>
        <p:spPr>
          <a:xfrm>
            <a:off x="11671300" y="6565900"/>
            <a:ext cx="330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noProof="0">
                <a:solidFill>
                  <a:srgbClr val="FFFFFF"/>
                </a:solidFill>
                <a:latin typeface="Segoe UI"/>
                <a:ea typeface="Segoe UI" pitchFamily="34" charset="-122"/>
                <a:cs typeface="Segoe UI"/>
              </a:rPr>
              <a:t>36</a:t>
            </a:r>
            <a:endParaRPr lang="en-US" sz="1200" noProof="0" dirty="0">
              <a:solidFill>
                <a:srgbClr val="FFFFFF"/>
              </a:solidFill>
              <a:latin typeface="Segoe UI"/>
              <a:cs typeface="Segoe UI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4D3B4306-CF99-54B7-8692-8C90D3E4479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161"/>
          <a:stretch>
            <a:fillRect/>
          </a:stretch>
        </p:blipFill>
        <p:spPr>
          <a:xfrm>
            <a:off x="1938067" y="1181100"/>
            <a:ext cx="8315865" cy="4510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13664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56D4E5-569B-1A3B-F483-A0AB51F5D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Footer band">
            <a:extLst>
              <a:ext uri="{FF2B5EF4-FFF2-40B4-BE49-F238E27FC236}">
                <a16:creationId xmlns:a16="http://schemas.microsoft.com/office/drawing/2014/main" id="{FD7761D7-6238-A6EB-A2B3-B1C4807927B4}"/>
              </a:ext>
            </a:extLst>
          </p:cNvPr>
          <p:cNvSpPr/>
          <p:nvPr/>
        </p:nvSpPr>
        <p:spPr>
          <a:xfrm>
            <a:off x="0" y="6578600"/>
            <a:ext cx="12192000" cy="279400"/>
          </a:xfrm>
          <a:prstGeom prst="rect">
            <a:avLst/>
          </a:prstGeom>
          <a:solidFill>
            <a:srgbClr val="003262"/>
          </a:solidFill>
          <a:ln>
            <a:noFill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00" name="Shape Band">
            <a:extLst>
              <a:ext uri="{FF2B5EF4-FFF2-40B4-BE49-F238E27FC236}">
                <a16:creationId xmlns:a16="http://schemas.microsoft.com/office/drawing/2014/main" id="{499C2477-4DDD-A46C-DBCE-4B93A5646E88}"/>
              </a:ext>
            </a:extLst>
          </p:cNvPr>
          <p:cNvSpPr/>
          <p:nvPr/>
        </p:nvSpPr>
        <p:spPr>
          <a:xfrm>
            <a:off x="0" y="0"/>
            <a:ext cx="12192000" cy="558800"/>
          </a:xfrm>
          <a:prstGeom prst="rect">
            <a:avLst/>
          </a:prstGeom>
          <a:solidFill>
            <a:srgbClr val="003262"/>
          </a:solidFill>
          <a:ln w="12700">
            <a:solidFill>
              <a:srgbClr val="004C97"/>
            </a:solidFill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01" name="Shape Rule">
            <a:extLst>
              <a:ext uri="{FF2B5EF4-FFF2-40B4-BE49-F238E27FC236}">
                <a16:creationId xmlns:a16="http://schemas.microsoft.com/office/drawing/2014/main" id="{50D0A16C-4738-1096-181F-706A98267D2B}"/>
              </a:ext>
            </a:extLst>
          </p:cNvPr>
          <p:cNvSpPr/>
          <p:nvPr/>
        </p:nvSpPr>
        <p:spPr>
          <a:xfrm>
            <a:off x="0" y="558800"/>
            <a:ext cx="12192000" cy="63500"/>
          </a:xfrm>
          <a:prstGeom prst="rect">
            <a:avLst/>
          </a:prstGeom>
          <a:solidFill>
            <a:srgbClr val="007DB6"/>
          </a:solidFill>
          <a:ln w="12700">
            <a:solidFill>
              <a:srgbClr val="009CDE"/>
            </a:solidFill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02" name="Shape Tab">
            <a:extLst>
              <a:ext uri="{FF2B5EF4-FFF2-40B4-BE49-F238E27FC236}">
                <a16:creationId xmlns:a16="http://schemas.microsoft.com/office/drawing/2014/main" id="{AF5A276C-0DB1-93B0-2F2D-E1BB1E685D5B}"/>
              </a:ext>
            </a:extLst>
          </p:cNvPr>
          <p:cNvSpPr/>
          <p:nvPr/>
        </p:nvSpPr>
        <p:spPr>
          <a:xfrm>
            <a:off x="0" y="558800"/>
            <a:ext cx="1549400" cy="63500"/>
          </a:xfrm>
          <a:prstGeom prst="rect">
            <a:avLst/>
          </a:prstGeom>
          <a:solidFill>
            <a:srgbClr val="FCB415"/>
          </a:solidFill>
          <a:ln w="12700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B0DAE7DD-F8A1-15D5-25F6-043B44F378A1}"/>
              </a:ext>
            </a:extLst>
          </p:cNvPr>
          <p:cNvSpPr/>
          <p:nvPr/>
        </p:nvSpPr>
        <p:spPr>
          <a:xfrm>
            <a:off x="1714500" y="165100"/>
            <a:ext cx="10058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spc="120" noProof="0" dirty="0">
                <a:solidFill>
                  <a:srgbClr val="009CD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Conclusion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1524A67-5276-32A1-71A3-9405B6325879}"/>
              </a:ext>
            </a:extLst>
          </p:cNvPr>
          <p:cNvSpPr/>
          <p:nvPr/>
        </p:nvSpPr>
        <p:spPr>
          <a:xfrm>
            <a:off x="419100" y="38100"/>
            <a:ext cx="104267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 new legal measurement layer for earmarking in Sub-Saharan Africa</a:t>
            </a: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A098885E-5DF9-0E27-32B0-C5DB07997400}"/>
              </a:ext>
            </a:extLst>
          </p:cNvPr>
          <p:cNvSpPr/>
          <p:nvPr/>
        </p:nvSpPr>
        <p:spPr>
          <a:xfrm>
            <a:off x="279400" y="6578600"/>
            <a:ext cx="8229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noProof="0" dirty="0">
                <a:solidFill>
                  <a:srgbClr val="FFFFFF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International Monetary Fund   |   African Department</a:t>
            </a:r>
            <a:endParaRPr lang="en-US" sz="1000" noProof="0" dirty="0">
              <a:solidFill>
                <a:srgbClr val="FFFF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A5E811A3-EF0A-91B3-B771-471B311DB13E}"/>
              </a:ext>
            </a:extLst>
          </p:cNvPr>
          <p:cNvSpPr/>
          <p:nvPr/>
        </p:nvSpPr>
        <p:spPr>
          <a:xfrm>
            <a:off x="11671300" y="6565900"/>
            <a:ext cx="330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noProof="0">
                <a:solidFill>
                  <a:srgbClr val="FFFFFF"/>
                </a:solidFill>
                <a:latin typeface="Segoe UI"/>
                <a:ea typeface="Segoe UI" pitchFamily="34" charset="-122"/>
                <a:cs typeface="Segoe UI"/>
              </a:rPr>
              <a:t>37</a:t>
            </a:r>
            <a:endParaRPr lang="en-US" sz="1200" noProof="0" dirty="0">
              <a:solidFill>
                <a:srgbClr val="FFFFFF"/>
              </a:solidFill>
              <a:latin typeface="Segoe UI"/>
              <a:cs typeface="Segoe UI"/>
            </a:endParaRPr>
          </a:p>
        </p:txBody>
      </p:sp>
      <p:sp>
        <p:nvSpPr>
          <p:cNvPr id="3000" name="Concl 3000"/>
          <p:cNvSpPr/>
          <p:nvPr/>
        </p:nvSpPr>
        <p:spPr>
          <a:xfrm>
            <a:off x="419100" y="762000"/>
            <a:ext cx="11353800" cy="736600"/>
          </a:xfrm>
          <a:prstGeom prst="rect">
            <a:avLst/>
          </a:prstGeom>
          <a:noFill/>
          <a:ln>
            <a:noFill/>
          </a:ln>
        </p:spPr>
        <p:txBody>
          <a:bodyPr wrap="square" lIns="254000" tIns="127000" rIns="254000" bIns="76200" anchor="t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 project establishes where statutory earmarking exists and how it is designed. The next step is to determine whether these legal commitments translate into revenue and spending outcomes.</a:t>
            </a:r>
          </a:p>
        </p:txBody>
      </p:sp>
      <p:sp>
        <p:nvSpPr>
          <p:cNvPr id="3001" name="Concl 3001"/>
          <p:cNvSpPr/>
          <p:nvPr/>
        </p:nvSpPr>
        <p:spPr>
          <a:xfrm>
            <a:off x="419100" y="1651000"/>
            <a:ext cx="5562600" cy="2286000"/>
          </a:xfrm>
          <a:prstGeom prst="rect">
            <a:avLst/>
          </a:prstGeom>
          <a:solidFill>
            <a:srgbClr val="F4F7FA"/>
          </a:solidFill>
          <a:ln w="9525">
            <a:solidFill>
              <a:srgbClr val="D3DEE7"/>
            </a:solidFill>
          </a:ln>
        </p:spPr>
        <p:txBody>
          <a:bodyPr wrap="square" lIns="330200" tIns="177800" rIns="203200" bIns="101600" anchor="t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500" b="1" spc="40" dirty="0">
                <a:solidFill>
                  <a:srgbClr val="00326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CONTRIBUTION</a:t>
            </a:r>
          </a:p>
          <a:p>
            <a:pPr marL="171450" indent="-171450">
              <a:lnSpc>
                <a:spcPct val="95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4313D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New </a:t>
            </a:r>
            <a:r>
              <a:rPr lang="en-US" sz="1400" b="1" dirty="0">
                <a:solidFill>
                  <a:srgbClr val="24313D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 jure inventory of statutory revenue assignments across 19 SSA countries</a:t>
            </a:r>
          </a:p>
          <a:p>
            <a:pPr marL="171450" indent="-171450">
              <a:lnSpc>
                <a:spcPct val="95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4313D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Comparable distinction between </a:t>
            </a:r>
            <a:r>
              <a:rPr lang="en-US" sz="1400" b="1" dirty="0">
                <a:solidFill>
                  <a:srgbClr val="24313D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unrestricted assignments, partial earmarks and exclusive earmarks</a:t>
            </a:r>
          </a:p>
          <a:p>
            <a:pPr marL="171450" indent="-171450">
              <a:lnSpc>
                <a:spcPct val="95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4313D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Auditable methodology linking </a:t>
            </a:r>
            <a:r>
              <a:rPr lang="en-US" sz="1400" b="1" dirty="0">
                <a:solidFill>
                  <a:srgbClr val="24313D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revenue instruments to statutory destinations to legal evidence</a:t>
            </a:r>
          </a:p>
        </p:txBody>
      </p:sp>
      <p:sp>
        <p:nvSpPr>
          <p:cNvPr id="3002" name="Concl 3002"/>
          <p:cNvSpPr/>
          <p:nvPr/>
        </p:nvSpPr>
        <p:spPr>
          <a:xfrm>
            <a:off x="419100" y="1651000"/>
            <a:ext cx="63500" cy="2286000"/>
          </a:xfrm>
          <a:prstGeom prst="rect">
            <a:avLst/>
          </a:prstGeom>
          <a:solidFill>
            <a:srgbClr val="007DB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03" name="Concl 3003"/>
          <p:cNvSpPr/>
          <p:nvPr/>
        </p:nvSpPr>
        <p:spPr>
          <a:xfrm>
            <a:off x="6210300" y="1651000"/>
            <a:ext cx="5562600" cy="2286000"/>
          </a:xfrm>
          <a:prstGeom prst="rect">
            <a:avLst/>
          </a:prstGeom>
          <a:solidFill>
            <a:srgbClr val="F4F7FA"/>
          </a:solidFill>
          <a:ln w="9525">
            <a:solidFill>
              <a:srgbClr val="D3DEE7"/>
            </a:solidFill>
          </a:ln>
        </p:spPr>
        <p:txBody>
          <a:bodyPr wrap="square" lIns="330200" tIns="177800" rIns="203200" bIns="101600" anchor="t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500" b="1" spc="40" dirty="0">
                <a:solidFill>
                  <a:srgbClr val="00326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WHAT THE NEW DATA SHOW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400" b="1" i="1" dirty="0">
                <a:solidFill>
                  <a:srgbClr val="00326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19 countries · 209 partial / exclusive earmarks</a:t>
            </a:r>
          </a:p>
          <a:p>
            <a:pPr marL="171450" indent="-171450">
              <a:lnSpc>
                <a:spcPct val="95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4313D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Earmarking prevalence varies substantially across countries</a:t>
            </a:r>
          </a:p>
          <a:p>
            <a:pPr marL="171450" indent="-171450">
              <a:lnSpc>
                <a:spcPct val="95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4313D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Both </a:t>
            </a:r>
            <a:r>
              <a:rPr lang="en-US" sz="1400" b="1" dirty="0">
                <a:solidFill>
                  <a:srgbClr val="24313D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partial and exclusive</a:t>
            </a:r>
            <a:r>
              <a:rPr lang="en-US" sz="1400" dirty="0">
                <a:solidFill>
                  <a:srgbClr val="24313D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designs are common</a:t>
            </a:r>
          </a:p>
          <a:p>
            <a:pPr marL="171450" indent="-171450">
              <a:lnSpc>
                <a:spcPct val="95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4313D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Transport is the largest beneficiary sector</a:t>
            </a:r>
          </a:p>
        </p:txBody>
      </p:sp>
      <p:sp>
        <p:nvSpPr>
          <p:cNvPr id="3004" name="Concl 3004"/>
          <p:cNvSpPr/>
          <p:nvPr/>
        </p:nvSpPr>
        <p:spPr>
          <a:xfrm>
            <a:off x="6210300" y="1651000"/>
            <a:ext cx="63500" cy="2286000"/>
          </a:xfrm>
          <a:prstGeom prst="rect">
            <a:avLst/>
          </a:prstGeom>
          <a:solidFill>
            <a:srgbClr val="FCB41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05" name="Concl 3005"/>
          <p:cNvSpPr/>
          <p:nvPr/>
        </p:nvSpPr>
        <p:spPr>
          <a:xfrm>
            <a:off x="419100" y="4089400"/>
            <a:ext cx="5562600" cy="2235200"/>
          </a:xfrm>
          <a:prstGeom prst="rect">
            <a:avLst/>
          </a:prstGeom>
          <a:solidFill>
            <a:srgbClr val="F4F7FA"/>
          </a:solidFill>
          <a:ln w="9525">
            <a:solidFill>
              <a:srgbClr val="D3DEE7"/>
            </a:solidFill>
          </a:ln>
        </p:spPr>
        <p:txBody>
          <a:bodyPr wrap="square" lIns="330200" tIns="177800" rIns="203200" bIns="101600" anchor="t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500" b="1" spc="40" dirty="0">
                <a:solidFill>
                  <a:srgbClr val="00326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LIMITS</a:t>
            </a:r>
          </a:p>
          <a:p>
            <a:pPr marL="171450" indent="-171450">
              <a:lnSpc>
                <a:spcPct val="95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24313D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 jure, not de facto: </a:t>
            </a:r>
            <a:r>
              <a:rPr lang="en-US" sz="1400" dirty="0">
                <a:solidFill>
                  <a:srgbClr val="24313D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 data on actual collection, transfer or execution</a:t>
            </a:r>
          </a:p>
          <a:p>
            <a:pPr marL="171450" indent="-171450">
              <a:lnSpc>
                <a:spcPct val="95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24313D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Count-based: </a:t>
            </a:r>
            <a:r>
              <a:rPr lang="en-US" sz="1400" dirty="0">
                <a:solidFill>
                  <a:srgbClr val="24313D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measures instruments, not the share of revenue earmarked</a:t>
            </a:r>
          </a:p>
          <a:p>
            <a:pPr marL="171450" indent="-171450">
              <a:lnSpc>
                <a:spcPct val="95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24313D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Current-law snapshot: </a:t>
            </a:r>
            <a:r>
              <a:rPr lang="en-US" sz="1400" dirty="0">
                <a:solidFill>
                  <a:srgbClr val="24313D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 reform history or causal identification</a:t>
            </a:r>
          </a:p>
          <a:p>
            <a:pPr marL="171450" indent="-171450">
              <a:lnSpc>
                <a:spcPct val="95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4313D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Coverage depends on the legal texts available per country</a:t>
            </a:r>
          </a:p>
        </p:txBody>
      </p:sp>
      <p:sp>
        <p:nvSpPr>
          <p:cNvPr id="3006" name="Concl 3006"/>
          <p:cNvSpPr/>
          <p:nvPr/>
        </p:nvSpPr>
        <p:spPr>
          <a:xfrm>
            <a:off x="419100" y="4089400"/>
            <a:ext cx="63500" cy="2235200"/>
          </a:xfrm>
          <a:prstGeom prst="rect">
            <a:avLst/>
          </a:prstGeom>
          <a:solidFill>
            <a:srgbClr val="00326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07" name="Concl 3007"/>
          <p:cNvSpPr/>
          <p:nvPr/>
        </p:nvSpPr>
        <p:spPr>
          <a:xfrm>
            <a:off x="6210300" y="4089400"/>
            <a:ext cx="5562600" cy="2235200"/>
          </a:xfrm>
          <a:prstGeom prst="rect">
            <a:avLst/>
          </a:prstGeom>
          <a:solidFill>
            <a:srgbClr val="F4F7FA"/>
          </a:solidFill>
          <a:ln w="9525">
            <a:solidFill>
              <a:srgbClr val="D3DEE7"/>
            </a:solidFill>
          </a:ln>
        </p:spPr>
        <p:txBody>
          <a:bodyPr wrap="square" lIns="330200" tIns="177800" rIns="203200" bIns="101600" anchor="t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500" b="1" spc="40" dirty="0">
                <a:solidFill>
                  <a:srgbClr val="00326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NEXT STEPS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400" b="1" i="1" dirty="0">
                <a:solidFill>
                  <a:srgbClr val="00326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Legal design → execution → additionality → outcomes</a:t>
            </a:r>
          </a:p>
          <a:p>
            <a:pPr marL="171450" indent="-171450">
              <a:lnSpc>
                <a:spcPct val="95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4313D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Match legal earmarks to </a:t>
            </a:r>
            <a:r>
              <a:rPr lang="en-US" sz="1400" b="1" dirty="0">
                <a:solidFill>
                  <a:srgbClr val="24313D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revenue collections and budget execution</a:t>
            </a:r>
          </a:p>
          <a:p>
            <a:pPr marL="171450" indent="-171450">
              <a:lnSpc>
                <a:spcPct val="95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4313D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Build historical legal panels around </a:t>
            </a:r>
            <a:r>
              <a:rPr lang="en-US" sz="1400" b="1" dirty="0">
                <a:solidFill>
                  <a:srgbClr val="24313D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creation, reform and repeal</a:t>
            </a:r>
          </a:p>
          <a:p>
            <a:pPr marL="171450" indent="-171450">
              <a:lnSpc>
                <a:spcPct val="95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4313D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Extend coverage where legal sources are fragmented</a:t>
            </a:r>
          </a:p>
        </p:txBody>
      </p:sp>
      <p:sp>
        <p:nvSpPr>
          <p:cNvPr id="3008" name="Concl 3008"/>
          <p:cNvSpPr/>
          <p:nvPr/>
        </p:nvSpPr>
        <p:spPr>
          <a:xfrm>
            <a:off x="6210300" y="4089400"/>
            <a:ext cx="63500" cy="2235200"/>
          </a:xfrm>
          <a:prstGeom prst="rect">
            <a:avLst/>
          </a:prstGeom>
          <a:solidFill>
            <a:srgbClr val="009CD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82196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2A11F65-5A7C-E290-76F4-D6C6F9621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Footer band">
            <a:extLst>
              <a:ext uri="{FF2B5EF4-FFF2-40B4-BE49-F238E27FC236}">
                <a16:creationId xmlns:a16="http://schemas.microsoft.com/office/drawing/2014/main" id="{B51FAAD6-871C-FCFF-76F2-226E2E3F0AAC}"/>
              </a:ext>
            </a:extLst>
          </p:cNvPr>
          <p:cNvSpPr/>
          <p:nvPr/>
        </p:nvSpPr>
        <p:spPr>
          <a:xfrm>
            <a:off x="0" y="6578600"/>
            <a:ext cx="12192000" cy="279400"/>
          </a:xfrm>
          <a:prstGeom prst="rect">
            <a:avLst/>
          </a:prstGeom>
          <a:solidFill>
            <a:srgbClr val="003262"/>
          </a:solidFill>
          <a:ln>
            <a:noFill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00" name="Shape Band">
            <a:extLst>
              <a:ext uri="{FF2B5EF4-FFF2-40B4-BE49-F238E27FC236}">
                <a16:creationId xmlns:a16="http://schemas.microsoft.com/office/drawing/2014/main" id="{ACD96C48-D189-4314-7800-1421E257B487}"/>
              </a:ext>
            </a:extLst>
          </p:cNvPr>
          <p:cNvSpPr/>
          <p:nvPr/>
        </p:nvSpPr>
        <p:spPr>
          <a:xfrm>
            <a:off x="0" y="0"/>
            <a:ext cx="12192000" cy="558800"/>
          </a:xfrm>
          <a:prstGeom prst="rect">
            <a:avLst/>
          </a:prstGeom>
          <a:solidFill>
            <a:srgbClr val="003262"/>
          </a:solidFill>
          <a:ln w="12700">
            <a:solidFill>
              <a:srgbClr val="004C97"/>
            </a:solidFill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01" name="Shape Rule">
            <a:extLst>
              <a:ext uri="{FF2B5EF4-FFF2-40B4-BE49-F238E27FC236}">
                <a16:creationId xmlns:a16="http://schemas.microsoft.com/office/drawing/2014/main" id="{BE797B47-2461-28F0-4664-0E159019E0AC}"/>
              </a:ext>
            </a:extLst>
          </p:cNvPr>
          <p:cNvSpPr/>
          <p:nvPr/>
        </p:nvSpPr>
        <p:spPr>
          <a:xfrm>
            <a:off x="0" y="558800"/>
            <a:ext cx="12192000" cy="63500"/>
          </a:xfrm>
          <a:prstGeom prst="rect">
            <a:avLst/>
          </a:prstGeom>
          <a:solidFill>
            <a:srgbClr val="007DB6"/>
          </a:solidFill>
          <a:ln w="12700">
            <a:solidFill>
              <a:srgbClr val="009CDE"/>
            </a:solidFill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02" name="Shape Tab">
            <a:extLst>
              <a:ext uri="{FF2B5EF4-FFF2-40B4-BE49-F238E27FC236}">
                <a16:creationId xmlns:a16="http://schemas.microsoft.com/office/drawing/2014/main" id="{6B119DC7-41DE-CC27-F4BB-D6C6493D0835}"/>
              </a:ext>
            </a:extLst>
          </p:cNvPr>
          <p:cNvSpPr/>
          <p:nvPr/>
        </p:nvSpPr>
        <p:spPr>
          <a:xfrm>
            <a:off x="0" y="558800"/>
            <a:ext cx="1549400" cy="63500"/>
          </a:xfrm>
          <a:prstGeom prst="rect">
            <a:avLst/>
          </a:prstGeom>
          <a:solidFill>
            <a:srgbClr val="FCB415"/>
          </a:solidFill>
          <a:ln w="12700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E3B97D25-3520-CC59-8039-39C06E3B4701}"/>
              </a:ext>
            </a:extLst>
          </p:cNvPr>
          <p:cNvSpPr/>
          <p:nvPr/>
        </p:nvSpPr>
        <p:spPr>
          <a:xfrm>
            <a:off x="1714500" y="165100"/>
            <a:ext cx="10058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spc="120" noProof="0" dirty="0">
                <a:solidFill>
                  <a:srgbClr val="009CD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Stylized facts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8171A11-4C12-9251-A19A-7B5F361085A1}"/>
              </a:ext>
            </a:extLst>
          </p:cNvPr>
          <p:cNvSpPr/>
          <p:nvPr/>
        </p:nvSpPr>
        <p:spPr>
          <a:xfrm>
            <a:off x="419100" y="38100"/>
            <a:ext cx="104267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noProof="0" dirty="0">
                <a:solidFill>
                  <a:srgbClr val="FFFFFF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All extracted revenue instruments and years of documents used</a:t>
            </a:r>
            <a:endParaRPr lang="en-US" sz="2400" b="1" noProof="0" dirty="0">
              <a:solidFill>
                <a:srgbClr val="FFFF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FED2BBDC-0783-8523-1973-259DE40A52A2}"/>
              </a:ext>
            </a:extLst>
          </p:cNvPr>
          <p:cNvSpPr/>
          <p:nvPr/>
        </p:nvSpPr>
        <p:spPr>
          <a:xfrm>
            <a:off x="279400" y="6578600"/>
            <a:ext cx="8229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noProof="0" dirty="0">
                <a:solidFill>
                  <a:srgbClr val="FFFFFF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International Monetary Fund   |   African Department</a:t>
            </a:r>
            <a:endParaRPr lang="en-US" sz="1000" noProof="0" dirty="0">
              <a:solidFill>
                <a:srgbClr val="FFFF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5EDFA3D5-87F1-8B85-6832-17AAF3B5A0C9}"/>
              </a:ext>
            </a:extLst>
          </p:cNvPr>
          <p:cNvSpPr/>
          <p:nvPr/>
        </p:nvSpPr>
        <p:spPr>
          <a:xfrm>
            <a:off x="11671300" y="6565900"/>
            <a:ext cx="330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noProof="0">
                <a:solidFill>
                  <a:srgbClr val="FFFFFF"/>
                </a:solidFill>
                <a:latin typeface="Segoe UI"/>
                <a:ea typeface="Segoe UI" pitchFamily="34" charset="-122"/>
                <a:cs typeface="Segoe UI"/>
              </a:rPr>
              <a:t>38</a:t>
            </a:r>
            <a:endParaRPr lang="en-US" sz="1200" noProof="0" dirty="0">
              <a:solidFill>
                <a:srgbClr val="FFFFFF"/>
              </a:solidFill>
              <a:latin typeface="Segoe UI"/>
              <a:cs typeface="Segoe UI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D504964-0A27-4485-7BC9-BDAB873D92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1887" y="762000"/>
            <a:ext cx="7190409" cy="5392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86003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E5BF646-1A32-A893-2882-4673587C6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Footer band">
            <a:extLst>
              <a:ext uri="{FF2B5EF4-FFF2-40B4-BE49-F238E27FC236}">
                <a16:creationId xmlns:a16="http://schemas.microsoft.com/office/drawing/2014/main" id="{D008A553-D78E-B72E-8075-4BC32ACFB235}"/>
              </a:ext>
            </a:extLst>
          </p:cNvPr>
          <p:cNvSpPr/>
          <p:nvPr/>
        </p:nvSpPr>
        <p:spPr>
          <a:xfrm>
            <a:off x="0" y="6578600"/>
            <a:ext cx="12192000" cy="279400"/>
          </a:xfrm>
          <a:prstGeom prst="rect">
            <a:avLst/>
          </a:prstGeom>
          <a:solidFill>
            <a:srgbClr val="003262"/>
          </a:solidFill>
          <a:ln>
            <a:noFill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00" name="Shape Band">
            <a:extLst>
              <a:ext uri="{FF2B5EF4-FFF2-40B4-BE49-F238E27FC236}">
                <a16:creationId xmlns:a16="http://schemas.microsoft.com/office/drawing/2014/main" id="{B5E12576-53C7-D115-41FA-53DF29AED976}"/>
              </a:ext>
            </a:extLst>
          </p:cNvPr>
          <p:cNvSpPr/>
          <p:nvPr/>
        </p:nvSpPr>
        <p:spPr>
          <a:xfrm>
            <a:off x="0" y="0"/>
            <a:ext cx="12192000" cy="558800"/>
          </a:xfrm>
          <a:prstGeom prst="rect">
            <a:avLst/>
          </a:prstGeom>
          <a:solidFill>
            <a:srgbClr val="003262"/>
          </a:solidFill>
          <a:ln w="12700">
            <a:solidFill>
              <a:srgbClr val="004C97"/>
            </a:solidFill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01" name="Shape Rule">
            <a:extLst>
              <a:ext uri="{FF2B5EF4-FFF2-40B4-BE49-F238E27FC236}">
                <a16:creationId xmlns:a16="http://schemas.microsoft.com/office/drawing/2014/main" id="{A0DA8364-509C-4F42-2E26-86A1B8C71646}"/>
              </a:ext>
            </a:extLst>
          </p:cNvPr>
          <p:cNvSpPr/>
          <p:nvPr/>
        </p:nvSpPr>
        <p:spPr>
          <a:xfrm>
            <a:off x="0" y="558800"/>
            <a:ext cx="12192000" cy="63500"/>
          </a:xfrm>
          <a:prstGeom prst="rect">
            <a:avLst/>
          </a:prstGeom>
          <a:solidFill>
            <a:srgbClr val="007DB6"/>
          </a:solidFill>
          <a:ln w="12700">
            <a:solidFill>
              <a:srgbClr val="009CDE"/>
            </a:solidFill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02" name="Shape Tab">
            <a:extLst>
              <a:ext uri="{FF2B5EF4-FFF2-40B4-BE49-F238E27FC236}">
                <a16:creationId xmlns:a16="http://schemas.microsoft.com/office/drawing/2014/main" id="{012B5D0F-1130-AC16-2826-A43C3435F47D}"/>
              </a:ext>
            </a:extLst>
          </p:cNvPr>
          <p:cNvSpPr/>
          <p:nvPr/>
        </p:nvSpPr>
        <p:spPr>
          <a:xfrm>
            <a:off x="0" y="558800"/>
            <a:ext cx="1549400" cy="63500"/>
          </a:xfrm>
          <a:prstGeom prst="rect">
            <a:avLst/>
          </a:prstGeom>
          <a:solidFill>
            <a:srgbClr val="FCB415"/>
          </a:solidFill>
          <a:ln w="12700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en-US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61AA1E3A-194B-9302-EA36-832128D4944A}"/>
              </a:ext>
            </a:extLst>
          </p:cNvPr>
          <p:cNvSpPr/>
          <p:nvPr/>
        </p:nvSpPr>
        <p:spPr>
          <a:xfrm>
            <a:off x="1714500" y="165100"/>
            <a:ext cx="10058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kern="0" spc="120" noProof="0" dirty="0">
                <a:solidFill>
                  <a:srgbClr val="009CDE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Stylized facts</a:t>
            </a:r>
            <a:endParaRPr lang="en-US" sz="1600" spc="120" noProof="0" dirty="0">
              <a:solidFill>
                <a:srgbClr val="009CD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E9BEBA0-7A44-EC19-0679-F771112A6D02}"/>
              </a:ext>
            </a:extLst>
          </p:cNvPr>
          <p:cNvSpPr/>
          <p:nvPr/>
        </p:nvSpPr>
        <p:spPr>
          <a:xfrm>
            <a:off x="419100" y="38100"/>
            <a:ext cx="104267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noProof="0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Ghana Illustration – Budget rigidity</a:t>
            </a: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C5EF0C62-8275-766E-0044-1E07E17EF2C2}"/>
              </a:ext>
            </a:extLst>
          </p:cNvPr>
          <p:cNvSpPr/>
          <p:nvPr/>
        </p:nvSpPr>
        <p:spPr>
          <a:xfrm>
            <a:off x="279400" y="6578600"/>
            <a:ext cx="8229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noProof="0" dirty="0">
                <a:solidFill>
                  <a:srgbClr val="FFFFFF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International Monetary Fund   |   African Department</a:t>
            </a:r>
            <a:endParaRPr lang="en-US" sz="1000" noProof="0" dirty="0">
              <a:solidFill>
                <a:srgbClr val="FFFF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F4069F8E-653B-CFCE-0CEB-5972C0416F2F}"/>
              </a:ext>
            </a:extLst>
          </p:cNvPr>
          <p:cNvSpPr/>
          <p:nvPr/>
        </p:nvSpPr>
        <p:spPr>
          <a:xfrm>
            <a:off x="11671300" y="6565900"/>
            <a:ext cx="330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noProof="0">
                <a:solidFill>
                  <a:srgbClr val="FFFFFF"/>
                </a:solidFill>
                <a:latin typeface="Segoe UI"/>
                <a:ea typeface="Segoe UI" pitchFamily="34" charset="-122"/>
                <a:cs typeface="Segoe UI"/>
              </a:rPr>
              <a:t>39</a:t>
            </a:r>
            <a:endParaRPr lang="en-US" sz="1200" noProof="0" dirty="0">
              <a:solidFill>
                <a:srgbClr val="FFFFFF"/>
              </a:solidFill>
              <a:latin typeface="Segoe UI"/>
              <a:cs typeface="Segoe UI"/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AAD922E6-5919-601B-83A0-3D820709494C}"/>
              </a:ext>
            </a:extLst>
          </p:cNvPr>
          <p:cNvSpPr/>
          <p:nvPr/>
        </p:nvSpPr>
        <p:spPr>
          <a:xfrm>
            <a:off x="3355229" y="6114912"/>
            <a:ext cx="548154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00" i="1" noProof="0" dirty="0">
                <a:solidFill>
                  <a:schemeClr val="bg2">
                    <a:lumMod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Budget allocations to earmarked in Ghana </a:t>
            </a:r>
            <a:r>
              <a:rPr lang="en-US" sz="1200" i="1" dirty="0">
                <a:solidFill>
                  <a:schemeClr val="bg2">
                    <a:lumMod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</a:t>
            </a:r>
            <a:r>
              <a:rPr lang="en-US" sz="1200" i="1" noProof="0" dirty="0" err="1">
                <a:solidFill>
                  <a:schemeClr val="bg2">
                    <a:lumMod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idis</a:t>
            </a:r>
            <a:r>
              <a:rPr lang="en-US" sz="1200" i="1" noProof="0" dirty="0">
                <a:solidFill>
                  <a:schemeClr val="bg2">
                    <a:lumMod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2018 - 2026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56FE09F-45A8-2A61-993D-694A614942B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393" b="4103"/>
          <a:stretch>
            <a:fillRect/>
          </a:stretch>
        </p:blipFill>
        <p:spPr>
          <a:xfrm>
            <a:off x="1783044" y="901700"/>
            <a:ext cx="8625912" cy="501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82873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Shape Band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4C97"/>
          </a:solidFill>
          <a:ln w="12700">
            <a:solidFill>
              <a:srgbClr val="004C97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901" name="Shape Rule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009CDE"/>
          </a:solidFill>
          <a:ln w="12700">
            <a:solidFill>
              <a:srgbClr val="009CDE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902" name="Shape Tab"/>
          <p:cNvSpPr/>
          <p:nvPr/>
        </p:nvSpPr>
        <p:spPr>
          <a:xfrm>
            <a:off x="0" y="960120"/>
            <a:ext cx="1554480" cy="64008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" name="Text 0"/>
          <p:cNvSpPr/>
          <p:nvPr/>
        </p:nvSpPr>
        <p:spPr>
          <a:xfrm>
            <a:off x="777240" y="11887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kern="0" spc="120" noProof="0" dirty="0">
                <a:solidFill>
                  <a:srgbClr val="009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METHODOLOGY · 6</a:t>
            </a:r>
            <a:endParaRPr lang="en-US" sz="16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058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noProof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the counts can, and cannot, support</a:t>
            </a:r>
            <a:endParaRPr lang="en-US" sz="2600" noProof="0" dirty="0"/>
          </a:p>
        </p:txBody>
      </p:sp>
      <p:sp>
        <p:nvSpPr>
          <p:cNvPr id="4" name="Shape 2"/>
          <p:cNvSpPr/>
          <p:nvPr/>
        </p:nvSpPr>
        <p:spPr>
          <a:xfrm>
            <a:off x="511378" y="1159891"/>
            <a:ext cx="5395874" cy="3360420"/>
          </a:xfrm>
          <a:prstGeom prst="rect">
            <a:avLst/>
          </a:prstGeom>
          <a:solidFill>
            <a:srgbClr val="EAF3FB"/>
          </a:solidFill>
          <a:ln w="20320">
            <a:solidFill>
              <a:srgbClr val="009CDE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5" name="Text 3"/>
          <p:cNvSpPr/>
          <p:nvPr/>
        </p:nvSpPr>
        <p:spPr>
          <a:xfrm>
            <a:off x="722605" y="1313510"/>
            <a:ext cx="4973422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20" b="1" noProof="0" dirty="0">
                <a:solidFill>
                  <a:srgbClr val="004C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it supports</a:t>
            </a:r>
            <a:endParaRPr lang="en-US" sz="1520" noProof="0" dirty="0"/>
          </a:p>
        </p:txBody>
      </p:sp>
      <p:sp>
        <p:nvSpPr>
          <p:cNvPr id="6" name="Shape 4"/>
          <p:cNvSpPr/>
          <p:nvPr/>
        </p:nvSpPr>
        <p:spPr>
          <a:xfrm>
            <a:off x="722605" y="1755165"/>
            <a:ext cx="192024" cy="192024"/>
          </a:xfrm>
          <a:prstGeom prst="ellipse">
            <a:avLst/>
          </a:prstGeom>
          <a:solidFill>
            <a:srgbClr val="004C97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7" name="Text 5"/>
          <p:cNvSpPr/>
          <p:nvPr/>
        </p:nvSpPr>
        <p:spPr>
          <a:xfrm>
            <a:off x="722605" y="1740764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050" noProof="0" dirty="0"/>
          </a:p>
        </p:txBody>
      </p:sp>
      <p:sp>
        <p:nvSpPr>
          <p:cNvPr id="8" name="Text 6"/>
          <p:cNvSpPr/>
          <p:nvPr/>
        </p:nvSpPr>
        <p:spPr>
          <a:xfrm>
            <a:off x="1010641" y="1678356"/>
            <a:ext cx="4685386" cy="633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10" b="1" noProof="0" dirty="0">
                <a:solidFill>
                  <a:srgbClr val="1C1C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legal shape of the system: </a:t>
            </a:r>
            <a:r>
              <a:rPr lang="en-US" sz="1210" noProof="0" dirty="0">
                <a:solidFill>
                  <a:srgbClr val="6E72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which instruments exist and which are dedicated, in enacting law.</a:t>
            </a:r>
            <a:endParaRPr lang="en-US" sz="1210" noProof="0" dirty="0"/>
          </a:p>
        </p:txBody>
      </p:sp>
      <p:sp>
        <p:nvSpPr>
          <p:cNvPr id="9" name="Shape 7"/>
          <p:cNvSpPr/>
          <p:nvPr/>
        </p:nvSpPr>
        <p:spPr>
          <a:xfrm>
            <a:off x="722605" y="2427249"/>
            <a:ext cx="192024" cy="192024"/>
          </a:xfrm>
          <a:prstGeom prst="ellipse">
            <a:avLst/>
          </a:prstGeom>
          <a:solidFill>
            <a:srgbClr val="004C97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10" name="Text 8"/>
          <p:cNvSpPr/>
          <p:nvPr/>
        </p:nvSpPr>
        <p:spPr>
          <a:xfrm>
            <a:off x="722605" y="2412848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050" noProof="0" dirty="0"/>
          </a:p>
        </p:txBody>
      </p:sp>
      <p:sp>
        <p:nvSpPr>
          <p:cNvPr id="11" name="Text 9"/>
          <p:cNvSpPr/>
          <p:nvPr/>
        </p:nvSpPr>
        <p:spPr>
          <a:xfrm>
            <a:off x="1010641" y="2350440"/>
            <a:ext cx="4685386" cy="633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10" b="1" noProof="0" dirty="0">
                <a:solidFill>
                  <a:srgbClr val="1C1C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defensible prevalence ratio: </a:t>
            </a:r>
            <a:r>
              <a:rPr lang="en-US" sz="1210" noProof="0" dirty="0">
                <a:solidFill>
                  <a:srgbClr val="6E72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share of instruments carrying a strict earmark, each counted once.</a:t>
            </a:r>
            <a:endParaRPr lang="en-US" sz="1210" noProof="0" dirty="0"/>
          </a:p>
        </p:txBody>
      </p:sp>
      <p:sp>
        <p:nvSpPr>
          <p:cNvPr id="12" name="Shape 10"/>
          <p:cNvSpPr/>
          <p:nvPr/>
        </p:nvSpPr>
        <p:spPr>
          <a:xfrm>
            <a:off x="722605" y="3099333"/>
            <a:ext cx="192024" cy="192024"/>
          </a:xfrm>
          <a:prstGeom prst="ellipse">
            <a:avLst/>
          </a:prstGeom>
          <a:solidFill>
            <a:srgbClr val="004C97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13" name="Text 11"/>
          <p:cNvSpPr/>
          <p:nvPr/>
        </p:nvSpPr>
        <p:spPr>
          <a:xfrm>
            <a:off x="722605" y="3084932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050" noProof="0" dirty="0"/>
          </a:p>
        </p:txBody>
      </p:sp>
      <p:sp>
        <p:nvSpPr>
          <p:cNvPr id="14" name="Text 12"/>
          <p:cNvSpPr/>
          <p:nvPr/>
        </p:nvSpPr>
        <p:spPr>
          <a:xfrm>
            <a:off x="1010641" y="3022524"/>
            <a:ext cx="4685386" cy="633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10" b="1" noProof="0" dirty="0">
                <a:solidFill>
                  <a:srgbClr val="1C1C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Comparison under a declared definition: </a:t>
            </a:r>
            <a:r>
              <a:rPr lang="en-US" sz="1210" noProof="0" dirty="0">
                <a:solidFill>
                  <a:srgbClr val="6E72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alternatives tested on the same anchored records.</a:t>
            </a:r>
            <a:endParaRPr lang="en-US" sz="1210" noProof="0" dirty="0"/>
          </a:p>
        </p:txBody>
      </p:sp>
      <p:sp>
        <p:nvSpPr>
          <p:cNvPr id="15" name="Shape 13"/>
          <p:cNvSpPr/>
          <p:nvPr/>
        </p:nvSpPr>
        <p:spPr>
          <a:xfrm>
            <a:off x="722605" y="3771417"/>
            <a:ext cx="192024" cy="192024"/>
          </a:xfrm>
          <a:prstGeom prst="ellipse">
            <a:avLst/>
          </a:prstGeom>
          <a:solidFill>
            <a:srgbClr val="004C97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16" name="Text 14"/>
          <p:cNvSpPr/>
          <p:nvPr/>
        </p:nvSpPr>
        <p:spPr>
          <a:xfrm>
            <a:off x="722605" y="3757016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050" noProof="0" dirty="0"/>
          </a:p>
        </p:txBody>
      </p:sp>
      <p:sp>
        <p:nvSpPr>
          <p:cNvPr id="17" name="Text 15"/>
          <p:cNvSpPr/>
          <p:nvPr/>
        </p:nvSpPr>
        <p:spPr>
          <a:xfrm>
            <a:off x="1010641" y="3694608"/>
            <a:ext cx="4685386" cy="633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10" b="1" noProof="0" dirty="0">
                <a:solidFill>
                  <a:srgbClr val="1C1C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reproducible, audited snapshot: </a:t>
            </a:r>
            <a:r>
              <a:rPr lang="en-US" sz="1210" noProof="0" dirty="0">
                <a:solidFill>
                  <a:srgbClr val="6E72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figure traceable to a clause, a page and a coverage check.</a:t>
            </a:r>
            <a:endParaRPr lang="en-US" sz="1210" noProof="0" dirty="0"/>
          </a:p>
        </p:txBody>
      </p:sp>
      <p:sp>
        <p:nvSpPr>
          <p:cNvPr id="19" name="Text 17"/>
          <p:cNvSpPr/>
          <p:nvPr/>
        </p:nvSpPr>
        <p:spPr>
          <a:xfrm>
            <a:off x="6492926" y="1313510"/>
            <a:ext cx="4973422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20" b="1" noProof="0" dirty="0">
                <a:solidFill>
                  <a:srgbClr val="004C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it does not support</a:t>
            </a:r>
            <a:endParaRPr lang="en-US" sz="1520" noProof="0" dirty="0"/>
          </a:p>
        </p:txBody>
      </p:sp>
      <p:sp>
        <p:nvSpPr>
          <p:cNvPr id="20" name="Shape 18"/>
          <p:cNvSpPr/>
          <p:nvPr/>
        </p:nvSpPr>
        <p:spPr>
          <a:xfrm>
            <a:off x="6492926" y="1755165"/>
            <a:ext cx="192024" cy="1920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E727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1" name="Shape 19"/>
          <p:cNvSpPr/>
          <p:nvPr/>
        </p:nvSpPr>
        <p:spPr>
          <a:xfrm>
            <a:off x="6531331" y="1851177"/>
            <a:ext cx="115214" cy="0"/>
          </a:xfrm>
          <a:prstGeom prst="line">
            <a:avLst/>
          </a:prstGeom>
          <a:noFill/>
          <a:ln w="19050">
            <a:solidFill>
              <a:srgbClr val="6E727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2" name="Text 20"/>
          <p:cNvSpPr/>
          <p:nvPr/>
        </p:nvSpPr>
        <p:spPr>
          <a:xfrm>
            <a:off x="6780962" y="1678356"/>
            <a:ext cx="4685386" cy="633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10" b="1" noProof="0" dirty="0">
                <a:solidFill>
                  <a:srgbClr val="1C1C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execution: </a:t>
            </a:r>
            <a:r>
              <a:rPr lang="en-US" sz="1210" noProof="0" dirty="0">
                <a:solidFill>
                  <a:srgbClr val="6E72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 jure only, not money collected, transferred or spent.</a:t>
            </a:r>
            <a:endParaRPr lang="en-US" sz="1210" noProof="0" dirty="0"/>
          </a:p>
        </p:txBody>
      </p:sp>
      <p:sp>
        <p:nvSpPr>
          <p:cNvPr id="23" name="Shape 21"/>
          <p:cNvSpPr/>
          <p:nvPr/>
        </p:nvSpPr>
        <p:spPr>
          <a:xfrm>
            <a:off x="6492926" y="2427249"/>
            <a:ext cx="192024" cy="1920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E727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4" name="Shape 22"/>
          <p:cNvSpPr/>
          <p:nvPr/>
        </p:nvSpPr>
        <p:spPr>
          <a:xfrm>
            <a:off x="6531331" y="2523261"/>
            <a:ext cx="115214" cy="0"/>
          </a:xfrm>
          <a:prstGeom prst="line">
            <a:avLst/>
          </a:prstGeom>
          <a:noFill/>
          <a:ln w="19050">
            <a:solidFill>
              <a:srgbClr val="6E727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5" name="Text 23"/>
          <p:cNvSpPr/>
          <p:nvPr/>
        </p:nvSpPr>
        <p:spPr>
          <a:xfrm>
            <a:off x="6780962" y="2350440"/>
            <a:ext cx="4685386" cy="633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10" b="1" noProof="0" dirty="0">
                <a:solidFill>
                  <a:srgbClr val="1C1C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a share of revenue: </a:t>
            </a:r>
            <a:r>
              <a:rPr lang="en-US" sz="1210" noProof="0" dirty="0">
                <a:solidFill>
                  <a:srgbClr val="6E72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count of instruments, not the earmarked fraction of revenue.</a:t>
            </a:r>
            <a:endParaRPr lang="en-US" sz="1210" noProof="0" dirty="0"/>
          </a:p>
        </p:txBody>
      </p:sp>
      <p:sp>
        <p:nvSpPr>
          <p:cNvPr id="26" name="Shape 24"/>
          <p:cNvSpPr/>
          <p:nvPr/>
        </p:nvSpPr>
        <p:spPr>
          <a:xfrm>
            <a:off x="6492926" y="3099333"/>
            <a:ext cx="192024" cy="1920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E727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7" name="Shape 25"/>
          <p:cNvSpPr/>
          <p:nvPr/>
        </p:nvSpPr>
        <p:spPr>
          <a:xfrm>
            <a:off x="6531331" y="3195345"/>
            <a:ext cx="115214" cy="0"/>
          </a:xfrm>
          <a:prstGeom prst="line">
            <a:avLst/>
          </a:prstGeom>
          <a:noFill/>
          <a:ln w="19050">
            <a:solidFill>
              <a:srgbClr val="6E727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8" name="Text 26"/>
          <p:cNvSpPr/>
          <p:nvPr/>
        </p:nvSpPr>
        <p:spPr>
          <a:xfrm>
            <a:off x="6780962" y="3022524"/>
            <a:ext cx="4685386" cy="633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10" b="1" noProof="0" dirty="0">
                <a:solidFill>
                  <a:srgbClr val="1C1C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a time path: </a:t>
            </a:r>
            <a:r>
              <a:rPr lang="en-US" sz="1210" noProof="0" dirty="0">
                <a:solidFill>
                  <a:srgbClr val="6E72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current-law snapshot; reform paths need dated corpora.</a:t>
            </a:r>
            <a:endParaRPr lang="en-US" sz="1210" noProof="0" dirty="0"/>
          </a:p>
        </p:txBody>
      </p:sp>
      <p:sp>
        <p:nvSpPr>
          <p:cNvPr id="29" name="Shape 27"/>
          <p:cNvSpPr/>
          <p:nvPr/>
        </p:nvSpPr>
        <p:spPr>
          <a:xfrm>
            <a:off x="6492926" y="3771417"/>
            <a:ext cx="192024" cy="1920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E727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0" name="Shape 28"/>
          <p:cNvSpPr/>
          <p:nvPr/>
        </p:nvSpPr>
        <p:spPr>
          <a:xfrm>
            <a:off x="6531331" y="3867429"/>
            <a:ext cx="115214" cy="0"/>
          </a:xfrm>
          <a:prstGeom prst="line">
            <a:avLst/>
          </a:prstGeom>
          <a:noFill/>
          <a:ln w="19050">
            <a:solidFill>
              <a:srgbClr val="6E727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1" name="Text 29"/>
          <p:cNvSpPr/>
          <p:nvPr/>
        </p:nvSpPr>
        <p:spPr>
          <a:xfrm>
            <a:off x="6780962" y="3694608"/>
            <a:ext cx="4685386" cy="633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10" b="1" noProof="0" dirty="0">
                <a:solidFill>
                  <a:srgbClr val="1C1C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a zero where a text is missing: </a:t>
            </a:r>
            <a:r>
              <a:rPr lang="en-US" sz="1210" noProof="0" dirty="0">
                <a:solidFill>
                  <a:srgbClr val="6E72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missing subordinate legislation is unobserved, not absence.</a:t>
            </a:r>
            <a:endParaRPr lang="en-US" sz="1210" noProof="0" dirty="0"/>
          </a:p>
        </p:txBody>
      </p:sp>
      <p:sp>
        <p:nvSpPr>
          <p:cNvPr id="35" name="Text 33"/>
          <p:cNvSpPr/>
          <p:nvPr/>
        </p:nvSpPr>
        <p:spPr>
          <a:xfrm>
            <a:off x="77724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noProof="0" dirty="0">
                <a:solidFill>
                  <a:srgbClr val="6E72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International Monetary Fund   |   African Department</a:t>
            </a:r>
            <a:endParaRPr lang="en-US" sz="1000" noProof="0" dirty="0"/>
          </a:p>
        </p:txBody>
      </p:sp>
      <p:sp>
        <p:nvSpPr>
          <p:cNvPr id="36" name="Text 34"/>
          <p:cNvSpPr/>
          <p:nvPr/>
        </p:nvSpPr>
        <p:spPr>
          <a:xfrm>
            <a:off x="10881360" y="6382512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noProof="0">
                <a:solidFill>
                  <a:srgbClr val="FFFFFF"/>
                </a:solidFill>
                <a:latin typeface="Segoe UI"/>
                <a:ea typeface="Segoe UI" pitchFamily="34" charset="-122"/>
                <a:cs typeface="Segoe UI"/>
              </a:rPr>
              <a:t>40</a:t>
            </a:r>
            <a:endParaRPr lang="en-US" sz="1200" noProof="0" dirty="0">
              <a:solidFill>
                <a:srgbClr val="FFFFFF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403986324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/>
          <p:nvPr/>
        </p:nvSpPr>
        <p:spPr>
          <a:xfrm>
            <a:off x="0" y="0"/>
            <a:ext cx="12191695" cy="558698"/>
          </a:xfrm>
          <a:prstGeom prst="rect">
            <a:avLst/>
          </a:prstGeom>
          <a:solidFill>
            <a:srgbClr val="003262"/>
          </a:solidFill>
          <a:ln w="12700">
            <a:solidFill>
              <a:srgbClr val="004C97"/>
            </a:solidFill>
          </a:ln>
          <a:effectLst/>
        </p:spPr>
        <p:txBody>
          <a:bodyPr wrap="square" tIns="0" bIns="0" rtlCol="0" anchor="ctr"/>
          <a:lstStyle/>
          <a:p>
            <a:endParaRPr lang="en-US" noProof="0" dirty="0"/>
          </a:p>
        </p:txBody>
      </p:sp>
      <p:sp>
        <p:nvSpPr>
          <p:cNvPr id="3" name="Header rule"/>
          <p:cNvSpPr/>
          <p:nvPr/>
        </p:nvSpPr>
        <p:spPr>
          <a:xfrm>
            <a:off x="0" y="563270"/>
            <a:ext cx="12191695" cy="64008"/>
          </a:xfrm>
          <a:prstGeom prst="rect">
            <a:avLst/>
          </a:prstGeom>
          <a:solidFill>
            <a:srgbClr val="007DB6"/>
          </a:solidFill>
          <a:ln>
            <a:noFill/>
          </a:ln>
          <a:effectLst/>
        </p:spPr>
        <p:txBody>
          <a:bodyPr wrap="square" tIns="0" bIns="0" rtlCol="0" anchor="ctr"/>
          <a:lstStyle/>
          <a:p>
            <a:endParaRPr lang="en-US" noProof="0" dirty="0"/>
          </a:p>
        </p:txBody>
      </p:sp>
      <p:sp>
        <p:nvSpPr>
          <p:cNvPr id="4" name="Header rule tab"/>
          <p:cNvSpPr/>
          <p:nvPr/>
        </p:nvSpPr>
        <p:spPr>
          <a:xfrm>
            <a:off x="0" y="563270"/>
            <a:ext cx="1554480" cy="64008"/>
          </a:xfrm>
          <a:prstGeom prst="rect">
            <a:avLst/>
          </a:prstGeom>
          <a:solidFill>
            <a:srgbClr val="FCB415"/>
          </a:solidFill>
          <a:ln>
            <a:noFill/>
          </a:ln>
          <a:effectLst/>
        </p:spPr>
        <p:txBody>
          <a:bodyPr wrap="square" tIns="0" bIns="0" rtlCol="0" anchor="ctr"/>
          <a:lstStyle/>
          <a:p>
            <a:endParaRPr lang="en-US" noProof="0" dirty="0"/>
          </a:p>
        </p:txBody>
      </p:sp>
      <p:sp>
        <p:nvSpPr>
          <p:cNvPr id="5" name="Section label"/>
          <p:cNvSpPr txBox="1"/>
          <p:nvPr/>
        </p:nvSpPr>
        <p:spPr>
          <a:xfrm>
            <a:off x="1709014" y="160020"/>
            <a:ext cx="100584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ts val="2048"/>
              </a:lnSpc>
              <a:buNone/>
            </a:pPr>
            <a:r>
              <a:rPr lang="en-US" sz="1600" b="0" i="0" spc="120" noProof="0" dirty="0">
                <a:solidFill>
                  <a:srgbClr val="009CDE"/>
                </a:solidFill>
                <a:latin typeface="Segoe UI"/>
                <a:ea typeface="Segoe UI"/>
                <a:cs typeface="Segoe UI"/>
              </a:rPr>
              <a:t>Contribution &amp; method</a:t>
            </a:r>
          </a:p>
        </p:txBody>
      </p:sp>
      <p:sp>
        <p:nvSpPr>
          <p:cNvPr id="6" name="Slide title"/>
          <p:cNvSpPr txBox="1"/>
          <p:nvPr/>
        </p:nvSpPr>
        <p:spPr>
          <a:xfrm>
            <a:off x="424282" y="41148"/>
            <a:ext cx="10424160" cy="49377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ts val="3072"/>
              </a:lnSpc>
              <a:buNone/>
            </a:pPr>
            <a:r>
              <a:rPr lang="en-US" sz="2400" b="1" i="0" noProof="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What we measure — and what it yields</a:t>
            </a:r>
          </a:p>
        </p:txBody>
      </p:sp>
      <p:sp>
        <p:nvSpPr>
          <p:cNvPr id="7" name="Footer band"/>
          <p:cNvSpPr/>
          <p:nvPr/>
        </p:nvSpPr>
        <p:spPr>
          <a:xfrm>
            <a:off x="0" y="6573622"/>
            <a:ext cx="12191695" cy="274320"/>
          </a:xfrm>
          <a:prstGeom prst="rect">
            <a:avLst/>
          </a:prstGeom>
          <a:solidFill>
            <a:srgbClr val="003262"/>
          </a:solidFill>
          <a:ln w="12700">
            <a:solidFill>
              <a:srgbClr val="004C97"/>
            </a:solidFill>
          </a:ln>
          <a:effectLst/>
        </p:spPr>
        <p:txBody>
          <a:bodyPr wrap="square" tIns="0" bIns="0" rtlCol="0" anchor="ctr"/>
          <a:lstStyle/>
          <a:p>
            <a:endParaRPr lang="en-US" noProof="0" dirty="0"/>
          </a:p>
        </p:txBody>
      </p:sp>
      <p:sp>
        <p:nvSpPr>
          <p:cNvPr id="8" name="Footer"/>
          <p:cNvSpPr txBox="1"/>
          <p:nvPr/>
        </p:nvSpPr>
        <p:spPr>
          <a:xfrm>
            <a:off x="285293" y="6572707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ts val="1280"/>
              </a:lnSpc>
              <a:buNone/>
            </a:pPr>
            <a:r>
              <a:rPr lang="en-US" sz="1000" b="0" i="0" noProof="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International Monetary Fund   |   African Department</a:t>
            </a:r>
          </a:p>
        </p:txBody>
      </p:sp>
      <p:sp>
        <p:nvSpPr>
          <p:cNvPr id="9" name="Folio"/>
          <p:cNvSpPr txBox="1"/>
          <p:nvPr/>
        </p:nvSpPr>
        <p:spPr>
          <a:xfrm>
            <a:off x="11677802" y="6569964"/>
            <a:ext cx="325526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ts val="1280"/>
              </a:lnSpc>
              <a:buNone/>
            </a:pPr>
            <a:r>
              <a:rPr lang="en-US" sz="1200" i="0" noProof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41</a:t>
            </a:r>
            <a:endParaRPr lang="en-US" sz="1200" i="0" noProof="0" dirty="0">
              <a:solidFill>
                <a:srgbClr val="FFFFFF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404" name="Left label"/>
          <p:cNvSpPr txBox="1"/>
          <p:nvPr/>
        </p:nvSpPr>
        <p:spPr>
          <a:xfrm>
            <a:off x="419100" y="1812458"/>
            <a:ext cx="5626100" cy="3027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b="1" i="0" noProof="0" dirty="0">
                <a:solidFill>
                  <a:srgbClr val="007DB6"/>
                </a:solidFill>
                <a:latin typeface="Segoe UI"/>
                <a:cs typeface="Segoe UI"/>
              </a:rPr>
              <a:t>UNIT OF ANALYSIS</a:t>
            </a:r>
          </a:p>
        </p:txBody>
      </p:sp>
      <p:sp>
        <p:nvSpPr>
          <p:cNvPr id="405" name="Node 1"/>
          <p:cNvSpPr txBox="1"/>
          <p:nvPr/>
        </p:nvSpPr>
        <p:spPr>
          <a:xfrm>
            <a:off x="2709184" y="2291013"/>
            <a:ext cx="173990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txBody>
          <a:bodyPr wrap="square" lIns="101600" tIns="0" rIns="101600" bIns="0" anchor="ctr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i="0" noProof="0" dirty="0">
                <a:solidFill>
                  <a:srgbClr val="00326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Revenue instrument</a:t>
            </a:r>
          </a:p>
        </p:txBody>
      </p:sp>
      <p:sp>
        <p:nvSpPr>
          <p:cNvPr id="406" name="Node note 1"/>
          <p:cNvSpPr txBox="1"/>
          <p:nvPr/>
        </p:nvSpPr>
        <p:spPr>
          <a:xfrm>
            <a:off x="2671084" y="3014455"/>
            <a:ext cx="17399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b="0" i="0" noProof="0" dirty="0">
                <a:solidFill>
                  <a:srgbClr val="4A5560"/>
                </a:solidFill>
                <a:latin typeface="Segoe UI"/>
                <a:cs typeface="Segoe UI"/>
              </a:rPr>
              <a:t>one revenue source</a:t>
            </a:r>
          </a:p>
        </p:txBody>
      </p:sp>
      <p:sp>
        <p:nvSpPr>
          <p:cNvPr id="408" name="Node 2"/>
          <p:cNvSpPr txBox="1"/>
          <p:nvPr/>
        </p:nvSpPr>
        <p:spPr>
          <a:xfrm>
            <a:off x="4954415" y="2291013"/>
            <a:ext cx="173990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txBody>
          <a:bodyPr wrap="square" lIns="101600" tIns="0" rIns="101600" bIns="0" anchor="ctr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i="0" noProof="0" dirty="0">
                <a:solidFill>
                  <a:srgbClr val="00326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Enacting assignment</a:t>
            </a:r>
          </a:p>
        </p:txBody>
      </p:sp>
      <p:sp>
        <p:nvSpPr>
          <p:cNvPr id="409" name="Node note 2"/>
          <p:cNvSpPr txBox="1"/>
          <p:nvPr/>
        </p:nvSpPr>
        <p:spPr>
          <a:xfrm>
            <a:off x="4998314" y="3014455"/>
            <a:ext cx="17399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b="0" i="0" noProof="0" dirty="0">
                <a:solidFill>
                  <a:srgbClr val="4A5560"/>
                </a:solidFill>
                <a:latin typeface="Segoe UI"/>
                <a:cs typeface="Segoe UI"/>
              </a:rPr>
              <a:t>what the law says</a:t>
            </a:r>
          </a:p>
        </p:txBody>
      </p:sp>
      <p:sp>
        <p:nvSpPr>
          <p:cNvPr id="410" name="Arrow 2"/>
          <p:cNvSpPr txBox="1"/>
          <p:nvPr/>
        </p:nvSpPr>
        <p:spPr>
          <a:xfrm>
            <a:off x="4476248" y="2614266"/>
            <a:ext cx="451002" cy="45719"/>
          </a:xfrm>
          <a:prstGeom prst="rect">
            <a:avLst/>
          </a:prstGeom>
          <a:solidFill>
            <a:srgbClr val="007DB6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 noProof="0" dirty="0"/>
          </a:p>
        </p:txBody>
      </p:sp>
      <p:sp>
        <p:nvSpPr>
          <p:cNvPr id="411" name="Node 3"/>
          <p:cNvSpPr txBox="1"/>
          <p:nvPr/>
        </p:nvSpPr>
        <p:spPr>
          <a:xfrm>
            <a:off x="7199646" y="2320188"/>
            <a:ext cx="173990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txBody>
          <a:bodyPr wrap="square" lIns="101600" tIns="0" rIns="101600" bIns="0" anchor="ctr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i="0" noProof="0" dirty="0">
                <a:solidFill>
                  <a:srgbClr val="00326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Recipient / purpose</a:t>
            </a:r>
          </a:p>
        </p:txBody>
      </p:sp>
      <p:sp>
        <p:nvSpPr>
          <p:cNvPr id="412" name="Node note 3"/>
          <p:cNvSpPr txBox="1"/>
          <p:nvPr/>
        </p:nvSpPr>
        <p:spPr>
          <a:xfrm>
            <a:off x="7233514" y="3023811"/>
            <a:ext cx="17399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b="0" i="0" noProof="0" dirty="0">
                <a:solidFill>
                  <a:srgbClr val="4A5560"/>
                </a:solidFill>
                <a:latin typeface="Segoe UI"/>
                <a:cs typeface="Segoe UI"/>
              </a:rPr>
              <a:t>where proceeds go</a:t>
            </a:r>
          </a:p>
        </p:txBody>
      </p:sp>
      <p:sp>
        <p:nvSpPr>
          <p:cNvPr id="414" name="Right label"/>
          <p:cNvSpPr txBox="1"/>
          <p:nvPr/>
        </p:nvSpPr>
        <p:spPr>
          <a:xfrm>
            <a:off x="419100" y="3913749"/>
            <a:ext cx="5626100" cy="3027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b="1" i="0" noProof="0" dirty="0">
                <a:solidFill>
                  <a:srgbClr val="007DB6"/>
                </a:solidFill>
                <a:latin typeface="Segoe UI"/>
                <a:cs typeface="Segoe UI"/>
              </a:rPr>
              <a:t>LEGAL CORPUS ARCHITECTURE</a:t>
            </a:r>
          </a:p>
        </p:txBody>
      </p:sp>
      <p:sp>
        <p:nvSpPr>
          <p:cNvPr id="415" name="Corpus FR"/>
          <p:cNvSpPr txBox="1"/>
          <p:nvPr/>
        </p:nvSpPr>
        <p:spPr>
          <a:xfrm>
            <a:off x="420624" y="4164367"/>
            <a:ext cx="5497424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noFill/>
          </a:ln>
        </p:spPr>
        <p:txBody>
          <a:bodyPr wrap="square" lIns="177800" tIns="127000" rIns="17780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b="1" i="0" noProof="0" dirty="0">
                <a:solidFill>
                  <a:srgbClr val="FCB415"/>
                </a:solidFill>
                <a:latin typeface="Segoe UI"/>
                <a:cs typeface="Segoe UI"/>
              </a:rPr>
              <a:t>FRANCOPHONE</a:t>
            </a:r>
          </a:p>
          <a:p>
            <a:pPr algn="l">
              <a:lnSpc>
                <a:spcPct val="105000"/>
              </a:lnSpc>
              <a:spcBef>
                <a:spcPts val="300"/>
              </a:spcBef>
              <a:buNone/>
            </a:pPr>
            <a:r>
              <a:rPr lang="en-US" b="1" i="0" noProof="0" dirty="0">
                <a:solidFill>
                  <a:srgbClr val="003262"/>
                </a:solidFill>
                <a:latin typeface="Segoe UI"/>
                <a:cs typeface="Segoe UI"/>
              </a:rPr>
              <a:t>Consolidated tax code (CGI) at the core</a:t>
            </a:r>
          </a:p>
          <a:p>
            <a:pPr algn="l">
              <a:lnSpc>
                <a:spcPct val="108000"/>
              </a:lnSpc>
              <a:spcBef>
                <a:spcPts val="400"/>
              </a:spcBef>
              <a:buNone/>
            </a:pPr>
            <a:r>
              <a:rPr lang="en-US" b="0" i="0" noProof="0" dirty="0">
                <a:solidFill>
                  <a:srgbClr val="4A5560"/>
                </a:solidFill>
                <a:latin typeface="Segoe UI"/>
                <a:cs typeface="Segoe UI"/>
              </a:rPr>
              <a:t>Source instruments and most allocation provisions sit inside one large corpus.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  <a:buNone/>
            </a:pPr>
            <a:r>
              <a:rPr lang="en-US" b="0" i="1" noProof="0" dirty="0">
                <a:solidFill>
                  <a:srgbClr val="00679E"/>
                </a:solidFill>
                <a:latin typeface="Segoe UI"/>
                <a:cs typeface="Segoe UI"/>
              </a:rPr>
              <a:t>Deep within-document retrieval</a:t>
            </a:r>
          </a:p>
        </p:txBody>
      </p:sp>
      <p:sp>
        <p:nvSpPr>
          <p:cNvPr id="416" name="Corpus EN"/>
          <p:cNvSpPr txBox="1"/>
          <p:nvPr/>
        </p:nvSpPr>
        <p:spPr>
          <a:xfrm>
            <a:off x="6361524" y="4125417"/>
            <a:ext cx="5405890" cy="22881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noFill/>
          </a:ln>
        </p:spPr>
        <p:txBody>
          <a:bodyPr wrap="square" lIns="177800" tIns="127000" rIns="17780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b="1" i="0" noProof="0" dirty="0">
                <a:solidFill>
                  <a:srgbClr val="FCB415"/>
                </a:solidFill>
                <a:latin typeface="Segoe UI"/>
                <a:cs typeface="Segoe UI"/>
              </a:rPr>
              <a:t>ANGLOPHONE</a:t>
            </a:r>
          </a:p>
          <a:p>
            <a:pPr algn="l">
              <a:lnSpc>
                <a:spcPct val="105000"/>
              </a:lnSpc>
              <a:spcBef>
                <a:spcPts val="300"/>
              </a:spcBef>
              <a:buNone/>
            </a:pPr>
            <a:r>
              <a:rPr lang="en-US" b="1" i="0" noProof="0" dirty="0">
                <a:solidFill>
                  <a:srgbClr val="003262"/>
                </a:solidFill>
                <a:latin typeface="Segoe UI"/>
                <a:cs typeface="Segoe UI"/>
              </a:rPr>
              <a:t>Relevant law spread across several Acts</a:t>
            </a:r>
          </a:p>
          <a:p>
            <a:pPr algn="l">
              <a:lnSpc>
                <a:spcPct val="108000"/>
              </a:lnSpc>
              <a:spcBef>
                <a:spcPts val="400"/>
              </a:spcBef>
              <a:buNone/>
            </a:pPr>
            <a:r>
              <a:rPr lang="en-US" b="0" i="0" noProof="0" dirty="0">
                <a:solidFill>
                  <a:srgbClr val="4A5560"/>
                </a:solidFill>
                <a:latin typeface="Segoe UI"/>
                <a:cs typeface="Segoe UI"/>
              </a:rPr>
              <a:t>Tax · Levy · Fund · Finance Acts: charging provision and destination may sit in different documents.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  <a:buNone/>
            </a:pPr>
            <a:r>
              <a:rPr lang="en-US" b="0" i="1" noProof="0" dirty="0">
                <a:solidFill>
                  <a:srgbClr val="00679E"/>
                </a:solidFill>
                <a:latin typeface="Segoe UI"/>
                <a:cs typeface="Segoe UI"/>
              </a:rPr>
              <a:t>Cross-document reconstruction</a:t>
            </a:r>
          </a:p>
        </p:txBody>
      </p:sp>
      <p:sp>
        <p:nvSpPr>
          <p:cNvPr id="11" name="TextBox 36">
            <a:extLst>
              <a:ext uri="{FF2B5EF4-FFF2-40B4-BE49-F238E27FC236}">
                <a16:creationId xmlns:a16="http://schemas.microsoft.com/office/drawing/2014/main" id="{B60B11CC-E6E7-9E2B-3379-F7D74799408D}"/>
              </a:ext>
            </a:extLst>
          </p:cNvPr>
          <p:cNvSpPr txBox="1"/>
          <p:nvPr/>
        </p:nvSpPr>
        <p:spPr>
          <a:xfrm>
            <a:off x="420624" y="877824"/>
            <a:ext cx="1135380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560"/>
              </a:lnSpc>
            </a:pPr>
            <a:r>
              <a:rPr lang="en-US" sz="2000" b="0" i="0" noProof="0" dirty="0">
                <a:solidFill>
                  <a:srgbClr val="003262"/>
                </a:solidFill>
                <a:latin typeface="Segoe UI Semibold"/>
                <a:ea typeface="Segoe UI Semibold"/>
                <a:cs typeface="Segoe UI Semibold"/>
              </a:rPr>
              <a:t>We build database covering 19 countries, 435 assigned revenue instruments</a:t>
            </a:r>
          </a:p>
          <a:p>
            <a:pPr marL="800100" lvl="1" indent="-342900">
              <a:lnSpc>
                <a:spcPts val="2560"/>
              </a:lnSpc>
              <a:buFont typeface="Arial" panose="020B0604020202020204" pitchFamily="34" charset="0"/>
              <a:buChar char="→"/>
            </a:pPr>
            <a:r>
              <a:rPr lang="en-US" sz="2000" b="0" i="0" noProof="0" dirty="0">
                <a:solidFill>
                  <a:srgbClr val="003262"/>
                </a:solidFill>
                <a:latin typeface="Segoe UI Semibold"/>
                <a:ea typeface="Segoe UI Semibold"/>
                <a:cs typeface="Segoe UI Semibold"/>
              </a:rPr>
              <a:t>209 earmarked instruments and 433 allocation channels attached to them</a:t>
            </a:r>
          </a:p>
        </p:txBody>
      </p:sp>
      <p:sp>
        <p:nvSpPr>
          <p:cNvPr id="13" name="Arrow 2">
            <a:extLst>
              <a:ext uri="{FF2B5EF4-FFF2-40B4-BE49-F238E27FC236}">
                <a16:creationId xmlns:a16="http://schemas.microsoft.com/office/drawing/2014/main" id="{CF19B8B8-67C6-554B-FD52-9D18C8994C3C}"/>
              </a:ext>
            </a:extLst>
          </p:cNvPr>
          <p:cNvSpPr txBox="1"/>
          <p:nvPr/>
        </p:nvSpPr>
        <p:spPr>
          <a:xfrm>
            <a:off x="6721480" y="2648695"/>
            <a:ext cx="451002" cy="45719"/>
          </a:xfrm>
          <a:prstGeom prst="rect">
            <a:avLst/>
          </a:prstGeom>
          <a:solidFill>
            <a:srgbClr val="007DB6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0497417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6446F33-63BF-8D2B-E729-DCCFABCA1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>
            <a:extLst>
              <a:ext uri="{FF2B5EF4-FFF2-40B4-BE49-F238E27FC236}">
                <a16:creationId xmlns:a16="http://schemas.microsoft.com/office/drawing/2014/main" id="{E8A252BD-BA26-C9B9-782D-866D45E2B713}"/>
              </a:ext>
            </a:extLst>
          </p:cNvPr>
          <p:cNvSpPr/>
          <p:nvPr/>
        </p:nvSpPr>
        <p:spPr>
          <a:xfrm>
            <a:off x="0" y="0"/>
            <a:ext cx="12191695" cy="558698"/>
          </a:xfrm>
          <a:prstGeom prst="rect">
            <a:avLst/>
          </a:prstGeom>
          <a:solidFill>
            <a:srgbClr val="003262"/>
          </a:solidFill>
          <a:ln w="12700">
            <a:solidFill>
              <a:srgbClr val="004C97"/>
            </a:solidFill>
          </a:ln>
          <a:effectLst/>
        </p:spPr>
        <p:txBody>
          <a:bodyPr wrap="square" tIns="0" bIns="0" rtlCol="0" anchor="ctr"/>
          <a:lstStyle/>
          <a:p>
            <a:endParaRPr lang="en-US" noProof="0" dirty="0"/>
          </a:p>
        </p:txBody>
      </p:sp>
      <p:sp>
        <p:nvSpPr>
          <p:cNvPr id="3" name="Header rule">
            <a:extLst>
              <a:ext uri="{FF2B5EF4-FFF2-40B4-BE49-F238E27FC236}">
                <a16:creationId xmlns:a16="http://schemas.microsoft.com/office/drawing/2014/main" id="{C976D54A-FBA6-7FC4-B1C9-DB5254E820CF}"/>
              </a:ext>
            </a:extLst>
          </p:cNvPr>
          <p:cNvSpPr/>
          <p:nvPr/>
        </p:nvSpPr>
        <p:spPr>
          <a:xfrm>
            <a:off x="0" y="563270"/>
            <a:ext cx="12191695" cy="64008"/>
          </a:xfrm>
          <a:prstGeom prst="rect">
            <a:avLst/>
          </a:prstGeom>
          <a:solidFill>
            <a:srgbClr val="007DB6"/>
          </a:solidFill>
          <a:ln>
            <a:noFill/>
          </a:ln>
          <a:effectLst/>
        </p:spPr>
        <p:txBody>
          <a:bodyPr wrap="square" tIns="0" bIns="0" rtlCol="0" anchor="ctr"/>
          <a:lstStyle/>
          <a:p>
            <a:endParaRPr lang="en-US" noProof="0" dirty="0"/>
          </a:p>
        </p:txBody>
      </p:sp>
      <p:sp>
        <p:nvSpPr>
          <p:cNvPr id="4" name="Header rule tab">
            <a:extLst>
              <a:ext uri="{FF2B5EF4-FFF2-40B4-BE49-F238E27FC236}">
                <a16:creationId xmlns:a16="http://schemas.microsoft.com/office/drawing/2014/main" id="{3DB9504B-DCC8-45D2-676E-673B15A6609F}"/>
              </a:ext>
            </a:extLst>
          </p:cNvPr>
          <p:cNvSpPr/>
          <p:nvPr/>
        </p:nvSpPr>
        <p:spPr>
          <a:xfrm>
            <a:off x="0" y="563270"/>
            <a:ext cx="1554480" cy="64008"/>
          </a:xfrm>
          <a:prstGeom prst="rect">
            <a:avLst/>
          </a:prstGeom>
          <a:solidFill>
            <a:srgbClr val="FCB415"/>
          </a:solidFill>
          <a:ln>
            <a:noFill/>
          </a:ln>
          <a:effectLst/>
        </p:spPr>
        <p:txBody>
          <a:bodyPr wrap="square" tIns="0" bIns="0" rtlCol="0" anchor="ctr"/>
          <a:lstStyle/>
          <a:p>
            <a:endParaRPr lang="en-US" noProof="0" dirty="0"/>
          </a:p>
        </p:txBody>
      </p:sp>
      <p:sp>
        <p:nvSpPr>
          <p:cNvPr id="5" name="Section label">
            <a:extLst>
              <a:ext uri="{FF2B5EF4-FFF2-40B4-BE49-F238E27FC236}">
                <a16:creationId xmlns:a16="http://schemas.microsoft.com/office/drawing/2014/main" id="{3693639A-1BC9-F416-2330-BAE78534F9B8}"/>
              </a:ext>
            </a:extLst>
          </p:cNvPr>
          <p:cNvSpPr txBox="1"/>
          <p:nvPr/>
        </p:nvSpPr>
        <p:spPr>
          <a:xfrm>
            <a:off x="1709014" y="160020"/>
            <a:ext cx="100584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ts val="2048"/>
              </a:lnSpc>
              <a:buNone/>
            </a:pPr>
            <a:r>
              <a:rPr lang="en-US" sz="1600" b="0" i="0" spc="120" noProof="0" dirty="0">
                <a:solidFill>
                  <a:srgbClr val="009CDE"/>
                </a:solidFill>
                <a:latin typeface="Segoe UI"/>
                <a:ea typeface="Segoe UI"/>
                <a:cs typeface="Segoe UI"/>
              </a:rPr>
              <a:t>Motivation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CD285BE7-BA78-8845-0982-DCDAB75ED342}"/>
              </a:ext>
            </a:extLst>
          </p:cNvPr>
          <p:cNvSpPr txBox="1"/>
          <p:nvPr/>
        </p:nvSpPr>
        <p:spPr>
          <a:xfrm>
            <a:off x="424282" y="41148"/>
            <a:ext cx="10424160" cy="49377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ts val="3072"/>
              </a:lnSpc>
              <a:buNone/>
            </a:pPr>
            <a:r>
              <a:rPr lang="en-US" sz="2400" b="1" i="0" noProof="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Why constrain revenue when fiscal space is already tight?</a:t>
            </a:r>
          </a:p>
        </p:txBody>
      </p:sp>
      <p:sp>
        <p:nvSpPr>
          <p:cNvPr id="7" name="Footer band">
            <a:extLst>
              <a:ext uri="{FF2B5EF4-FFF2-40B4-BE49-F238E27FC236}">
                <a16:creationId xmlns:a16="http://schemas.microsoft.com/office/drawing/2014/main" id="{846A2A19-A6BC-D240-46B5-D939C66EC7C5}"/>
              </a:ext>
            </a:extLst>
          </p:cNvPr>
          <p:cNvSpPr/>
          <p:nvPr/>
        </p:nvSpPr>
        <p:spPr>
          <a:xfrm>
            <a:off x="0" y="6573622"/>
            <a:ext cx="12191695" cy="274320"/>
          </a:xfrm>
          <a:prstGeom prst="rect">
            <a:avLst/>
          </a:prstGeom>
          <a:solidFill>
            <a:srgbClr val="003262"/>
          </a:solidFill>
          <a:ln w="12700">
            <a:solidFill>
              <a:srgbClr val="004C97"/>
            </a:solidFill>
          </a:ln>
          <a:effectLst/>
        </p:spPr>
        <p:txBody>
          <a:bodyPr wrap="square" tIns="0" bIns="0" rtlCol="0" anchor="ctr"/>
          <a:lstStyle/>
          <a:p>
            <a:endParaRPr lang="en-US" noProof="0" dirty="0"/>
          </a:p>
        </p:txBody>
      </p:sp>
      <p:sp>
        <p:nvSpPr>
          <p:cNvPr id="8" name="Footer">
            <a:extLst>
              <a:ext uri="{FF2B5EF4-FFF2-40B4-BE49-F238E27FC236}">
                <a16:creationId xmlns:a16="http://schemas.microsoft.com/office/drawing/2014/main" id="{D1587B25-0EDF-123F-D118-2744E4A5EE8B}"/>
              </a:ext>
            </a:extLst>
          </p:cNvPr>
          <p:cNvSpPr txBox="1"/>
          <p:nvPr/>
        </p:nvSpPr>
        <p:spPr>
          <a:xfrm>
            <a:off x="285293" y="6572707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ts val="1280"/>
              </a:lnSpc>
              <a:buNone/>
            </a:pPr>
            <a:r>
              <a:rPr lang="en-US" sz="1000" b="0" i="0" noProof="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International Monetary Fund   |   African Department</a:t>
            </a:r>
          </a:p>
        </p:txBody>
      </p:sp>
      <p:sp>
        <p:nvSpPr>
          <p:cNvPr id="9" name="Folio">
            <a:extLst>
              <a:ext uri="{FF2B5EF4-FFF2-40B4-BE49-F238E27FC236}">
                <a16:creationId xmlns:a16="http://schemas.microsoft.com/office/drawing/2014/main" id="{4D5C291C-992B-0B25-BF8B-82EBAA1BDB93}"/>
              </a:ext>
            </a:extLst>
          </p:cNvPr>
          <p:cNvSpPr txBox="1"/>
          <p:nvPr/>
        </p:nvSpPr>
        <p:spPr>
          <a:xfrm>
            <a:off x="11677802" y="6569964"/>
            <a:ext cx="325526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ts val="1280"/>
              </a:lnSpc>
              <a:buNone/>
            </a:pPr>
            <a:r>
              <a:rPr lang="en-US" sz="1200" i="0" noProof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42</a:t>
            </a:r>
            <a:endParaRPr lang="en-US" sz="1200" i="0" noProof="0" dirty="0">
              <a:solidFill>
                <a:srgbClr val="FFFFFF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13" name="Definition">
            <a:extLst>
              <a:ext uri="{FF2B5EF4-FFF2-40B4-BE49-F238E27FC236}">
                <a16:creationId xmlns:a16="http://schemas.microsoft.com/office/drawing/2014/main" id="{7701C1FD-34E7-FF65-1476-7343EAD4163F}"/>
              </a:ext>
            </a:extLst>
          </p:cNvPr>
          <p:cNvSpPr txBox="1"/>
          <p:nvPr/>
        </p:nvSpPr>
        <p:spPr>
          <a:xfrm>
            <a:off x="424282" y="934026"/>
            <a:ext cx="11258702" cy="86163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2304"/>
              </a:lnSpc>
              <a:buNone/>
            </a:pPr>
            <a:endParaRPr lang="en-US" sz="1800" b="0" i="0" noProof="0" dirty="0">
              <a:solidFill>
                <a:srgbClr val="003262"/>
              </a:solidFill>
              <a:latin typeface="Segoe UI Semibold" panose="020B0702040204020203" pitchFamily="34" charset="0"/>
              <a:ea typeface="Segoe UI"/>
              <a:cs typeface="Segoe UI Semibold" panose="020B0702040204020203" pitchFamily="34" charset="0"/>
            </a:endParaRPr>
          </a:p>
        </p:txBody>
      </p:sp>
      <p:graphicFrame>
        <p:nvGraphicFramePr>
          <p:cNvPr id="35" name="Tableau 34">
            <a:extLst>
              <a:ext uri="{FF2B5EF4-FFF2-40B4-BE49-F238E27FC236}">
                <a16:creationId xmlns:a16="http://schemas.microsoft.com/office/drawing/2014/main" id="{24C94B75-8FD0-20CD-B857-4AB3A6C54C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3547319"/>
              </p:ext>
            </p:extLst>
          </p:nvPr>
        </p:nvGraphicFramePr>
        <p:xfrm>
          <a:off x="420624" y="1609376"/>
          <a:ext cx="1134679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8815">
                  <a:extLst>
                    <a:ext uri="{9D8B030D-6E8A-4147-A177-3AD203B41FA5}">
                      <a16:colId xmlns:a16="http://schemas.microsoft.com/office/drawing/2014/main" val="3415199544"/>
                    </a:ext>
                  </a:extLst>
                </a:gridCol>
                <a:gridCol w="2944580">
                  <a:extLst>
                    <a:ext uri="{9D8B030D-6E8A-4147-A177-3AD203B41FA5}">
                      <a16:colId xmlns:a16="http://schemas.microsoft.com/office/drawing/2014/main" val="2011583264"/>
                    </a:ext>
                  </a:extLst>
                </a:gridCol>
                <a:gridCol w="2728815">
                  <a:extLst>
                    <a:ext uri="{9D8B030D-6E8A-4147-A177-3AD203B41FA5}">
                      <a16:colId xmlns:a16="http://schemas.microsoft.com/office/drawing/2014/main" val="2381369406"/>
                    </a:ext>
                  </a:extLst>
                </a:gridCol>
                <a:gridCol w="2944580">
                  <a:extLst>
                    <a:ext uri="{9D8B030D-6E8A-4147-A177-3AD203B41FA5}">
                      <a16:colId xmlns:a16="http://schemas.microsoft.com/office/drawing/2014/main" val="1313640235"/>
                    </a:ext>
                  </a:extLst>
                </a:gridCol>
              </a:tblGrid>
              <a:tr h="283142">
                <a:tc>
                  <a:txBody>
                    <a:bodyPr/>
                    <a:lstStyle/>
                    <a:p>
                      <a:pPr algn="ctr"/>
                      <a:r>
                        <a:rPr lang="en-US" sz="1500" b="1" noProof="0" dirty="0">
                          <a:solidFill>
                            <a:srgbClr val="FFFFFF"/>
                          </a:solidFill>
                          <a:latin typeface="Segoe UI"/>
                        </a:rPr>
                        <a:t>Pros</a:t>
                      </a:r>
                    </a:p>
                  </a:txBody>
                  <a:tcPr anchor="ctr">
                    <a:solidFill>
                      <a:srgbClr val="00326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noProof="0" dirty="0">
                          <a:solidFill>
                            <a:srgbClr val="FFFFFF"/>
                          </a:solidFill>
                          <a:latin typeface="Segoe UI"/>
                        </a:rPr>
                        <a:t>SSA specificities</a:t>
                      </a:r>
                    </a:p>
                  </a:txBody>
                  <a:tcPr anchor="ctr">
                    <a:solidFill>
                      <a:srgbClr val="00326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noProof="0" dirty="0">
                          <a:solidFill>
                            <a:srgbClr val="FFFFFF"/>
                          </a:solidFill>
                          <a:latin typeface="Segoe UI"/>
                        </a:rPr>
                        <a:t>Cons</a:t>
                      </a:r>
                    </a:p>
                  </a:txBody>
                  <a:tcPr anchor="ctr">
                    <a:solidFill>
                      <a:srgbClr val="00326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noProof="0" dirty="0">
                          <a:solidFill>
                            <a:srgbClr val="FFFFFF"/>
                          </a:solidFill>
                          <a:latin typeface="Segoe UI"/>
                        </a:rPr>
                        <a:t>SSA specificities</a:t>
                      </a:r>
                    </a:p>
                  </a:txBody>
                  <a:tcPr anchor="ctr">
                    <a:solidFill>
                      <a:srgbClr val="0032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0551143"/>
                  </a:ext>
                </a:extLst>
              </a:tr>
              <a:tr h="485387">
                <a:tc>
                  <a:txBody>
                    <a:bodyPr/>
                    <a:lstStyle/>
                    <a:p>
                      <a:pPr algn="l"/>
                      <a:r>
                        <a:rPr lang="en-US" sz="1500" b="0" noProof="0" dirty="0">
                          <a:solidFill>
                            <a:srgbClr val="333F48"/>
                          </a:solidFill>
                          <a:latin typeface="Segoe UI"/>
                        </a:rPr>
                        <a:t>Increases taxpayer acceptance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0" noProof="0" dirty="0">
                          <a:solidFill>
                            <a:srgbClr val="00669B"/>
                          </a:solidFill>
                          <a:latin typeface="Segoe UI"/>
                        </a:rPr>
                        <a:t>Low acceptance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0" noProof="0" dirty="0">
                          <a:solidFill>
                            <a:srgbClr val="333F48"/>
                          </a:solidFill>
                          <a:latin typeface="Segoe UI"/>
                        </a:rPr>
                        <a:t>Limits budget flexibility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0" noProof="0" dirty="0">
                          <a:solidFill>
                            <a:srgbClr val="00669B"/>
                          </a:solidFill>
                          <a:latin typeface="Segoe UI"/>
                        </a:rPr>
                        <a:t>Weak PFM and budget execution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1261183"/>
                  </a:ext>
                </a:extLst>
              </a:tr>
              <a:tr h="485387">
                <a:tc>
                  <a:txBody>
                    <a:bodyPr/>
                    <a:lstStyle/>
                    <a:p>
                      <a:pPr algn="l"/>
                      <a:r>
                        <a:rPr lang="en-US" sz="1500" b="0" noProof="0" dirty="0">
                          <a:solidFill>
                            <a:srgbClr val="333F48"/>
                          </a:solidFill>
                          <a:latin typeface="Segoe UI"/>
                        </a:rPr>
                        <a:t>Enhances transparency and trust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0" noProof="0" dirty="0">
                          <a:solidFill>
                            <a:srgbClr val="00669B"/>
                          </a:solidFill>
                          <a:latin typeface="Segoe UI"/>
                        </a:rPr>
                        <a:t>Low transparency and trust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0" noProof="0" dirty="0">
                          <a:solidFill>
                            <a:srgbClr val="333F48"/>
                          </a:solidFill>
                          <a:latin typeface="Segoe UI"/>
                        </a:rPr>
                        <a:t>May cause inefficient allocations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0" noProof="0" dirty="0">
                          <a:solidFill>
                            <a:srgbClr val="00669B"/>
                          </a:solidFill>
                          <a:latin typeface="Segoe UI"/>
                        </a:rPr>
                        <a:t>Inefficient allocations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3032454"/>
                  </a:ext>
                </a:extLst>
              </a:tr>
              <a:tr h="485387">
                <a:tc>
                  <a:txBody>
                    <a:bodyPr/>
                    <a:lstStyle/>
                    <a:p>
                      <a:pPr algn="l"/>
                      <a:r>
                        <a:rPr lang="en-US" sz="1500" b="0" noProof="0" dirty="0">
                          <a:solidFill>
                            <a:srgbClr val="333F48"/>
                          </a:solidFill>
                          <a:latin typeface="Segoe UI"/>
                        </a:rPr>
                        <a:t>Guarantees funding for priorities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0" noProof="0" dirty="0">
                          <a:solidFill>
                            <a:srgbClr val="00669B"/>
                          </a:solidFill>
                          <a:latin typeface="Segoe UI"/>
                        </a:rPr>
                        <a:t>High level of leaks / corruption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0" noProof="0" dirty="0">
                          <a:solidFill>
                            <a:srgbClr val="333F48"/>
                          </a:solidFill>
                          <a:latin typeface="Segoe UI"/>
                        </a:rPr>
                        <a:t>Complicates fiscal and cash management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0" noProof="0" dirty="0">
                          <a:solidFill>
                            <a:srgbClr val="00669B"/>
                          </a:solidFill>
                          <a:latin typeface="Segoe UI"/>
                        </a:rPr>
                        <a:t>Tight fiscal and cash management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6130632"/>
                  </a:ext>
                </a:extLst>
              </a:tr>
              <a:tr h="485387">
                <a:tc>
                  <a:txBody>
                    <a:bodyPr/>
                    <a:lstStyle/>
                    <a:p>
                      <a:pPr algn="l"/>
                      <a:r>
                        <a:rPr lang="en-US" sz="1500" b="0" noProof="0" dirty="0">
                          <a:solidFill>
                            <a:srgbClr val="333F48"/>
                          </a:solidFill>
                          <a:latin typeface="Segoe UI"/>
                        </a:rPr>
                        <a:t>Encourages program efficiency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0" noProof="0" dirty="0">
                          <a:solidFill>
                            <a:srgbClr val="00669B"/>
                          </a:solidFill>
                          <a:latin typeface="Segoe UI"/>
                        </a:rPr>
                        <a:t>Inefficient programming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0" noProof="0" dirty="0">
                          <a:solidFill>
                            <a:srgbClr val="333F48"/>
                          </a:solidFill>
                          <a:latin typeface="Segoe UI"/>
                        </a:rPr>
                        <a:t>Risks underfunding if revenues fall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0" noProof="0" dirty="0">
                          <a:solidFill>
                            <a:srgbClr val="00669B"/>
                          </a:solidFill>
                          <a:latin typeface="Segoe UI"/>
                        </a:rPr>
                        <a:t>Budget often underfunded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9846194"/>
                  </a:ext>
                </a:extLst>
              </a:tr>
              <a:tr h="485387">
                <a:tc>
                  <a:txBody>
                    <a:bodyPr/>
                    <a:lstStyle/>
                    <a:p>
                      <a:pPr algn="l"/>
                      <a:r>
                        <a:rPr lang="en-US" sz="1500" b="0" noProof="0" dirty="0">
                          <a:solidFill>
                            <a:srgbClr val="333F48"/>
                          </a:solidFill>
                          <a:latin typeface="Segoe UI"/>
                        </a:rPr>
                        <a:t>Facilitates new tax implementation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0" noProof="0" dirty="0">
                          <a:solidFill>
                            <a:srgbClr val="00669B"/>
                          </a:solidFill>
                          <a:latin typeface="Segoe UI"/>
                        </a:rPr>
                        <a:t>Low tax base and compliance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0" noProof="0" dirty="0">
                          <a:solidFill>
                            <a:srgbClr val="333F48"/>
                          </a:solidFill>
                          <a:latin typeface="Segoe UI"/>
                        </a:rPr>
                        <a:t>May reduce democratic budget control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0" noProof="0" dirty="0">
                          <a:solidFill>
                            <a:srgbClr val="00669B"/>
                          </a:solidFill>
                          <a:latin typeface="Segoe UI"/>
                        </a:rPr>
                        <a:t>Lower level of democracy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06564"/>
                  </a:ext>
                </a:extLst>
              </a:tr>
            </a:tbl>
          </a:graphicData>
        </a:graphic>
      </p:graphicFrame>
      <p:sp>
        <p:nvSpPr>
          <p:cNvPr id="37" name="TextBox 36">
            <a:extLst>
              <a:ext uri="{FF2B5EF4-FFF2-40B4-BE49-F238E27FC236}">
                <a16:creationId xmlns:a16="http://schemas.microsoft.com/office/drawing/2014/main" id="{9416052D-7850-7A22-CF19-ED2BB5CEAFC3}"/>
              </a:ext>
            </a:extLst>
          </p:cNvPr>
          <p:cNvSpPr txBox="1"/>
          <p:nvPr/>
        </p:nvSpPr>
        <p:spPr>
          <a:xfrm>
            <a:off x="420624" y="877824"/>
            <a:ext cx="1134679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2304"/>
              </a:lnSpc>
              <a:buNone/>
            </a:pPr>
            <a:r>
              <a:rPr lang="en-US" sz="2000" noProof="0" dirty="0">
                <a:solidFill>
                  <a:srgbClr val="003262"/>
                </a:solidFill>
                <a:latin typeface="Segoe UI Semibold" panose="020B0702040204020203" pitchFamily="34" charset="0"/>
                <a:ea typeface="Segoe UI"/>
                <a:cs typeface="Segoe UI Semibold" panose="020B0702040204020203" pitchFamily="34" charset="0"/>
              </a:rPr>
              <a:t>The earmarking of taxes refers to the designation of fund, either from a single tax base or from a wider pool of revenue, to a particular end use. </a:t>
            </a:r>
          </a:p>
        </p:txBody>
      </p:sp>
    </p:spTree>
    <p:extLst>
      <p:ext uri="{BB962C8B-B14F-4D97-AF65-F5344CB8AC3E}">
        <p14:creationId xmlns:p14="http://schemas.microsoft.com/office/powerpoint/2010/main" val="33838225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9DFD6FF-5220-4415-A77A-6E572169CB89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a79b8a62-0f61-4523-9340-cce89170f3b7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1635</TotalTime>
  <Words>2780</Words>
  <Application>Microsoft Office PowerPoint</Application>
  <PresentationFormat>Grand écran</PresentationFormat>
  <Paragraphs>447</Paragraphs>
  <Slides>44</Slides>
  <Notes>32</Notes>
  <HiddenSlides>5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44</vt:i4>
      </vt:variant>
    </vt:vector>
  </HeadingPairs>
  <TitlesOfParts>
    <vt:vector size="48" baseType="lpstr">
      <vt:lpstr>Arial</vt:lpstr>
      <vt:lpstr>Segoe UI</vt:lpstr>
      <vt:lpstr>Segoe UI Semibold</vt:lpstr>
      <vt:lpstr>Office Theme</vt:lpstr>
      <vt:lpstr>On the Pros and Cons of Earmarking Taxes in Sub-Saharan Africa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IMF African Department</dc:creator>
  <cp:lastModifiedBy>Alexandra Amani</cp:lastModifiedBy>
  <cp:revision>13</cp:revision>
  <dcterms:created xsi:type="dcterms:W3CDTF">2026-08-24T18:55:31Z</dcterms:created>
  <dcterms:modified xsi:type="dcterms:W3CDTF">2026-08-26T15:28:46Z</dcterms:modified>
</cp:coreProperties>
</file>